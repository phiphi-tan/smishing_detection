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Figtree Black"/>
      <p:bold r:id="rId30"/>
      <p:boldItalic r:id="rId31"/>
    </p:embeddedFont>
    <p:embeddedFont>
      <p:font typeface="Hanken Grotesk"/>
      <p:regular r:id="rId32"/>
      <p:bold r:id="rId33"/>
      <p:italic r:id="rId34"/>
      <p:boldItalic r:id="rId35"/>
    </p:embeddedFont>
    <p:embeddedFont>
      <p:font typeface="Lato"/>
      <p:regular r:id="rId36"/>
      <p:bold r:id="rId37"/>
      <p:italic r:id="rId38"/>
      <p:boldItalic r:id="rId39"/>
    </p:embeddedFont>
    <p:embeddedFont>
      <p:font typeface="JetBrains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regular.fntdata"/><Relationship Id="rId20" Type="http://schemas.openxmlformats.org/officeDocument/2006/relationships/slide" Target="slides/slide15.xml"/><Relationship Id="rId42" Type="http://schemas.openxmlformats.org/officeDocument/2006/relationships/font" Target="fonts/JetBrainsMono-italic.fntdata"/><Relationship Id="rId41" Type="http://schemas.openxmlformats.org/officeDocument/2006/relationships/font" Target="fonts/JetBrainsMon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JetBrains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gtreeBlack-boldItalic.fntdata"/><Relationship Id="rId30" Type="http://schemas.openxmlformats.org/officeDocument/2006/relationships/font" Target="fonts/FigtreeBlack-bold.fntdata"/><Relationship Id="rId11" Type="http://schemas.openxmlformats.org/officeDocument/2006/relationships/slide" Target="slides/slide6.xml"/><Relationship Id="rId33" Type="http://schemas.openxmlformats.org/officeDocument/2006/relationships/font" Target="fonts/HankenGrotesk-bold.fntdata"/><Relationship Id="rId10" Type="http://schemas.openxmlformats.org/officeDocument/2006/relationships/slide" Target="slides/slide5.xml"/><Relationship Id="rId32" Type="http://schemas.openxmlformats.org/officeDocument/2006/relationships/font" Target="fonts/HankenGrotesk-regular.fntdata"/><Relationship Id="rId13" Type="http://schemas.openxmlformats.org/officeDocument/2006/relationships/slide" Target="slides/slide8.xml"/><Relationship Id="rId35" Type="http://schemas.openxmlformats.org/officeDocument/2006/relationships/font" Target="fonts/HankenGrotesk-boldItalic.fntdata"/><Relationship Id="rId12" Type="http://schemas.openxmlformats.org/officeDocument/2006/relationships/slide" Target="slides/slide7.xml"/><Relationship Id="rId34" Type="http://schemas.openxmlformats.org/officeDocument/2006/relationships/font" Target="fonts/HankenGrotesk-italic.fntdata"/><Relationship Id="rId15" Type="http://schemas.openxmlformats.org/officeDocument/2006/relationships/slide" Target="slides/slide10.xml"/><Relationship Id="rId37" Type="http://schemas.openxmlformats.org/officeDocument/2006/relationships/font" Target="fonts/Lato-bold.fntdata"/><Relationship Id="rId14" Type="http://schemas.openxmlformats.org/officeDocument/2006/relationships/slide" Target="slides/slide9.xml"/><Relationship Id="rId36" Type="http://schemas.openxmlformats.org/officeDocument/2006/relationships/font" Target="fonts/Lato-regular.fntdata"/><Relationship Id="rId17" Type="http://schemas.openxmlformats.org/officeDocument/2006/relationships/slide" Target="slides/slide12.xml"/><Relationship Id="rId39" Type="http://schemas.openxmlformats.org/officeDocument/2006/relationships/font" Target="fonts/Lato-boldItalic.fntdata"/><Relationship Id="rId16" Type="http://schemas.openxmlformats.org/officeDocument/2006/relationships/slide" Target="slides/slide11.xml"/><Relationship Id="rId38" Type="http://schemas.openxmlformats.org/officeDocument/2006/relationships/font" Target="fonts/La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cb47dd2f24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cb47dd2f24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b47dd2f24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cb47dd2f24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cb47dd2f24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cb47dd2f24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b47dd2f24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b47dd2f24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b47dd2f24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b47dd2f24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b47dd2f24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cb47dd2f24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cb47dd2f24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cb47dd2f24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cb47dd2f24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cb47dd2f24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b47dd2f24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cb47dd2f24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cb47dd2f24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cb47dd2f24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cb47dd2f24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cb47dd2f24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cb47dd2f24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cb47dd2f24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cb47dd2f24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cb47dd2f24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cb47dd2f24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cb47dd2f24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cb47dd2f24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cb47dd2f24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cb47dd2f24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cb47dd2f24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b47dd2f24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cb47dd2f24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cb47dd2f24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cb47dd2f24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cb47dd2f24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cb47dd2f24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cb47dd2f24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cb47dd2f24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cb47dd2f24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cb47dd2f24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cb47dd2f24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cb47dd2f24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b47dd2f24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cb47dd2f24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rot="10800000">
              <a:off x="727425" y="-49275"/>
              <a:ext cx="0" cy="585600"/>
            </a:xfrm>
            <a:prstGeom prst="straightConnector1">
              <a:avLst/>
            </a:prstGeom>
            <a:noFill/>
            <a:ln cap="flat" cmpd="sng" w="19050">
              <a:solidFill>
                <a:schemeClr val="dk1"/>
              </a:solidFill>
              <a:prstDash val="solid"/>
              <a:round/>
              <a:headEnd len="med" w="med" type="none"/>
              <a:tailEnd len="med" w="med" type="none"/>
            </a:ln>
          </p:spPr>
        </p:cxnSp>
        <p:cxnSp>
          <p:nvCxnSpPr>
            <p:cNvPr id="13" name="Google Shape;13;p2"/>
            <p:cNvCxnSpPr/>
            <p:nvPr/>
          </p:nvCxnSpPr>
          <p:spPr>
            <a:xfrm rot="10800000">
              <a:off x="8430775" y="4608450"/>
              <a:ext cx="0" cy="585600"/>
            </a:xfrm>
            <a:prstGeom prst="straightConnector1">
              <a:avLst/>
            </a:prstGeom>
            <a:noFill/>
            <a:ln cap="flat" cmpd="sng" w="19050">
              <a:solidFill>
                <a:schemeClr val="dk1"/>
              </a:solidFill>
              <a:prstDash val="solid"/>
              <a:round/>
              <a:headEnd len="med" w="med" type="none"/>
              <a:tailEnd len="med" w="med" type="none"/>
            </a:ln>
          </p:spPr>
        </p:cxnSp>
      </p:grpSp>
      <p:sp>
        <p:nvSpPr>
          <p:cNvPr id="14" name="Google Shape;14;p2"/>
          <p:cNvSpPr txBox="1"/>
          <p:nvPr>
            <p:ph type="ctrTitle"/>
          </p:nvPr>
        </p:nvSpPr>
        <p:spPr>
          <a:xfrm>
            <a:off x="1087125" y="1670213"/>
            <a:ext cx="5897400" cy="13926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1087125" y="2997488"/>
            <a:ext cx="58974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6433725" y="0"/>
            <a:ext cx="5143500" cy="5143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3"/>
          <p:cNvGrpSpPr/>
          <p:nvPr/>
        </p:nvGrpSpPr>
        <p:grpSpPr>
          <a:xfrm>
            <a:off x="713225" y="-62550"/>
            <a:ext cx="7717800" cy="5210100"/>
            <a:chOff x="713225" y="-62550"/>
            <a:chExt cx="7717800" cy="5210100"/>
          </a:xfrm>
        </p:grpSpPr>
        <p:sp>
          <p:nvSpPr>
            <p:cNvPr id="19" name="Google Shape;19;p3"/>
            <p:cNvSpPr/>
            <p:nvPr/>
          </p:nvSpPr>
          <p:spPr>
            <a:xfrm>
              <a:off x="713225" y="533550"/>
              <a:ext cx="77178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 name="Google Shape;20;p3"/>
            <p:cNvCxnSpPr/>
            <p:nvPr/>
          </p:nvCxnSpPr>
          <p:spPr>
            <a:xfrm rot="10800000">
              <a:off x="713225" y="-62550"/>
              <a:ext cx="0" cy="596100"/>
            </a:xfrm>
            <a:prstGeom prst="straightConnector1">
              <a:avLst/>
            </a:prstGeom>
            <a:noFill/>
            <a:ln cap="flat" cmpd="sng" w="19050">
              <a:solidFill>
                <a:schemeClr val="dk1"/>
              </a:solidFill>
              <a:prstDash val="solid"/>
              <a:round/>
              <a:headEnd len="med" w="med" type="none"/>
              <a:tailEnd len="med" w="med" type="none"/>
            </a:ln>
          </p:spPr>
        </p:cxnSp>
        <p:cxnSp>
          <p:nvCxnSpPr>
            <p:cNvPr id="21" name="Google Shape;21;p3"/>
            <p:cNvCxnSpPr/>
            <p:nvPr/>
          </p:nvCxnSpPr>
          <p:spPr>
            <a:xfrm>
              <a:off x="8430775" y="4608450"/>
              <a:ext cx="0" cy="539100"/>
            </a:xfrm>
            <a:prstGeom prst="straightConnector1">
              <a:avLst/>
            </a:prstGeom>
            <a:noFill/>
            <a:ln cap="flat" cmpd="sng" w="19050">
              <a:solidFill>
                <a:schemeClr val="dk1"/>
              </a:solidFill>
              <a:prstDash val="solid"/>
              <a:round/>
              <a:headEnd len="med" w="med" type="none"/>
              <a:tailEnd len="med" w="med" type="none"/>
            </a:ln>
          </p:spPr>
        </p:cxnSp>
      </p:grpSp>
      <p:sp>
        <p:nvSpPr>
          <p:cNvPr id="22" name="Google Shape;22;p3"/>
          <p:cNvSpPr txBox="1"/>
          <p:nvPr>
            <p:ph type="title"/>
          </p:nvPr>
        </p:nvSpPr>
        <p:spPr>
          <a:xfrm>
            <a:off x="1216475" y="1977150"/>
            <a:ext cx="50676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hasCustomPrompt="1" idx="2" type="title"/>
          </p:nvPr>
        </p:nvSpPr>
        <p:spPr>
          <a:xfrm>
            <a:off x="720000" y="533550"/>
            <a:ext cx="824400" cy="705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3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 name="Google Shape;24;p3"/>
          <p:cNvSpPr txBox="1"/>
          <p:nvPr>
            <p:ph idx="1" type="subTitle"/>
          </p:nvPr>
        </p:nvSpPr>
        <p:spPr>
          <a:xfrm>
            <a:off x="1216475" y="2730750"/>
            <a:ext cx="5067600" cy="43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 name="Google Shape;29;p4"/>
            <p:cNvCxnSpPr/>
            <p:nvPr/>
          </p:nvCxnSpPr>
          <p:spPr>
            <a:xfrm rot="10800000">
              <a:off x="-19050" y="2328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30" name="Google Shape;30;p4"/>
            <p:cNvCxnSpPr/>
            <p:nvPr/>
          </p:nvCxnSpPr>
          <p:spPr>
            <a:xfrm>
              <a:off x="8911200" y="4917300"/>
              <a:ext cx="0" cy="342900"/>
            </a:xfrm>
            <a:prstGeom prst="straightConnector1">
              <a:avLst/>
            </a:prstGeom>
            <a:noFill/>
            <a:ln cap="flat" cmpd="sng" w="19050">
              <a:solidFill>
                <a:schemeClr val="dk1"/>
              </a:solidFill>
              <a:prstDash val="solid"/>
              <a:round/>
              <a:headEnd len="med" w="med" type="none"/>
              <a:tailEnd len="med" w="med" type="none"/>
            </a:ln>
          </p:spPr>
        </p:cxnSp>
      </p:grpSp>
      <p:sp>
        <p:nvSpPr>
          <p:cNvPr id="31" name="Google Shape;3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 name="Google Shape;32;p4"/>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SzPts val="800"/>
              <a:buChar char="●"/>
              <a:defRPr>
                <a:latin typeface="Hanken Grotesk"/>
                <a:ea typeface="Hanken Grotesk"/>
                <a:cs typeface="Hanken Grotesk"/>
                <a:sym typeface="Hanken Grotesk"/>
              </a:defRPr>
            </a:lvl1pPr>
            <a:lvl2pPr indent="-304800" lvl="1" marL="914400" rtl="0">
              <a:spcBef>
                <a:spcPts val="0"/>
              </a:spcBef>
              <a:spcAft>
                <a:spcPts val="0"/>
              </a:spcAft>
              <a:buSzPts val="1200"/>
              <a:buChar char="○"/>
              <a:defRPr>
                <a:latin typeface="Hanken Grotesk"/>
                <a:ea typeface="Hanken Grotesk"/>
                <a:cs typeface="Hanken Grotesk"/>
                <a:sym typeface="Hanken Grotesk"/>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5"/>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5"/>
          <p:cNvGrpSpPr/>
          <p:nvPr/>
        </p:nvGrpSpPr>
        <p:grpSpPr>
          <a:xfrm>
            <a:off x="-77100" y="232800"/>
            <a:ext cx="8988300" cy="4964300"/>
            <a:chOff x="-77100" y="232800"/>
            <a:chExt cx="8988300" cy="4964300"/>
          </a:xfrm>
        </p:grpSpPr>
        <p:sp>
          <p:nvSpPr>
            <p:cNvPr id="36" name="Google Shape;36;p5"/>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 name="Google Shape;37;p5"/>
            <p:cNvCxnSpPr/>
            <p:nvPr/>
          </p:nvCxnSpPr>
          <p:spPr>
            <a:xfrm rot="10800000">
              <a:off x="-77100" y="232800"/>
              <a:ext cx="309300" cy="0"/>
            </a:xfrm>
            <a:prstGeom prst="straightConnector1">
              <a:avLst/>
            </a:prstGeom>
            <a:noFill/>
            <a:ln cap="flat" cmpd="sng" w="19050">
              <a:solidFill>
                <a:schemeClr val="dk1"/>
              </a:solidFill>
              <a:prstDash val="solid"/>
              <a:round/>
              <a:headEnd len="med" w="med" type="none"/>
              <a:tailEnd len="med" w="med" type="none"/>
            </a:ln>
          </p:spPr>
        </p:cxnSp>
        <p:cxnSp>
          <p:nvCxnSpPr>
            <p:cNvPr id="38" name="Google Shape;38;p5"/>
            <p:cNvCxnSpPr/>
            <p:nvPr/>
          </p:nvCxnSpPr>
          <p:spPr>
            <a:xfrm rot="10800000">
              <a:off x="8911200" y="4890500"/>
              <a:ext cx="0" cy="306600"/>
            </a:xfrm>
            <a:prstGeom prst="straightConnector1">
              <a:avLst/>
            </a:prstGeom>
            <a:noFill/>
            <a:ln cap="flat" cmpd="sng" w="19050">
              <a:solidFill>
                <a:schemeClr val="dk1"/>
              </a:solidFill>
              <a:prstDash val="solid"/>
              <a:round/>
              <a:headEnd len="med" w="med" type="none"/>
              <a:tailEnd len="med" w="med" type="none"/>
            </a:ln>
          </p:spPr>
        </p:cxnSp>
      </p:grpSp>
      <p:sp>
        <p:nvSpPr>
          <p:cNvPr id="39" name="Google Shape;3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 name="Google Shape;40;p5"/>
          <p:cNvSpPr txBox="1"/>
          <p:nvPr>
            <p:ph idx="1" type="subTitle"/>
          </p:nvPr>
        </p:nvSpPr>
        <p:spPr>
          <a:xfrm>
            <a:off x="4651268" y="1736553"/>
            <a:ext cx="3772800" cy="2736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rtl="0" algn="ctr">
              <a:lnSpc>
                <a:spcPct val="115000"/>
              </a:lnSpc>
              <a:spcBef>
                <a:spcPts val="0"/>
              </a:spcBef>
              <a:spcAft>
                <a:spcPts val="0"/>
              </a:spcAft>
              <a:buSzPts val="2800"/>
              <a:buChar char="○"/>
              <a:defRPr sz="2800"/>
            </a:lvl2pPr>
            <a:lvl3pPr lvl="2" rtl="0" algn="ctr">
              <a:lnSpc>
                <a:spcPct val="115000"/>
              </a:lnSpc>
              <a:spcBef>
                <a:spcPts val="0"/>
              </a:spcBef>
              <a:spcAft>
                <a:spcPts val="0"/>
              </a:spcAft>
              <a:buSzPts val="2800"/>
              <a:buChar char="■"/>
              <a:defRPr sz="2800"/>
            </a:lvl3pPr>
            <a:lvl4pPr lvl="3" rtl="0" algn="ctr">
              <a:lnSpc>
                <a:spcPct val="115000"/>
              </a:lnSpc>
              <a:spcBef>
                <a:spcPts val="0"/>
              </a:spcBef>
              <a:spcAft>
                <a:spcPts val="0"/>
              </a:spcAft>
              <a:buSzPts val="2800"/>
              <a:buChar char="●"/>
              <a:defRPr sz="2800"/>
            </a:lvl4pPr>
            <a:lvl5pPr lvl="4" rtl="0" algn="ctr">
              <a:lnSpc>
                <a:spcPct val="115000"/>
              </a:lnSpc>
              <a:spcBef>
                <a:spcPts val="0"/>
              </a:spcBef>
              <a:spcAft>
                <a:spcPts val="0"/>
              </a:spcAft>
              <a:buSzPts val="2800"/>
              <a:buChar char="○"/>
              <a:defRPr sz="2800"/>
            </a:lvl5pPr>
            <a:lvl6pPr lvl="5" rtl="0" algn="ctr">
              <a:lnSpc>
                <a:spcPct val="115000"/>
              </a:lnSpc>
              <a:spcBef>
                <a:spcPts val="0"/>
              </a:spcBef>
              <a:spcAft>
                <a:spcPts val="0"/>
              </a:spcAft>
              <a:buSzPts val="2800"/>
              <a:buChar char="■"/>
              <a:defRPr sz="2800"/>
            </a:lvl6pPr>
            <a:lvl7pPr lvl="6" rtl="0" algn="ctr">
              <a:lnSpc>
                <a:spcPct val="115000"/>
              </a:lnSpc>
              <a:spcBef>
                <a:spcPts val="0"/>
              </a:spcBef>
              <a:spcAft>
                <a:spcPts val="0"/>
              </a:spcAft>
              <a:buSzPts val="2800"/>
              <a:buChar char="●"/>
              <a:defRPr sz="2800"/>
            </a:lvl7pPr>
            <a:lvl8pPr lvl="7" rtl="0" algn="ctr">
              <a:lnSpc>
                <a:spcPct val="115000"/>
              </a:lnSpc>
              <a:spcBef>
                <a:spcPts val="0"/>
              </a:spcBef>
              <a:spcAft>
                <a:spcPts val="0"/>
              </a:spcAft>
              <a:buSzPts val="2800"/>
              <a:buChar char="○"/>
              <a:defRPr sz="2800"/>
            </a:lvl8pPr>
            <a:lvl9pPr lvl="8" rtl="0" algn="ctr">
              <a:lnSpc>
                <a:spcPct val="115000"/>
              </a:lnSpc>
              <a:spcBef>
                <a:spcPts val="0"/>
              </a:spcBef>
              <a:spcAft>
                <a:spcPts val="0"/>
              </a:spcAft>
              <a:buSzPts val="2800"/>
              <a:buChar char="■"/>
              <a:defRPr sz="2800"/>
            </a:lvl9pPr>
          </a:lstStyle>
          <a:p/>
        </p:txBody>
      </p:sp>
      <p:sp>
        <p:nvSpPr>
          <p:cNvPr id="41" name="Google Shape;41;p5"/>
          <p:cNvSpPr txBox="1"/>
          <p:nvPr>
            <p:ph idx="2" type="subTitle"/>
          </p:nvPr>
        </p:nvSpPr>
        <p:spPr>
          <a:xfrm>
            <a:off x="720000" y="1736553"/>
            <a:ext cx="3772800" cy="2736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Char char="○"/>
              <a:defRPr sz="2800"/>
            </a:lvl2pPr>
            <a:lvl3pPr lvl="2" rtl="0" algn="ctr">
              <a:lnSpc>
                <a:spcPct val="115000"/>
              </a:lnSpc>
              <a:spcBef>
                <a:spcPts val="0"/>
              </a:spcBef>
              <a:spcAft>
                <a:spcPts val="0"/>
              </a:spcAft>
              <a:buSzPts val="1400"/>
              <a:buChar char="■"/>
              <a:defRPr sz="2800"/>
            </a:lvl3pPr>
            <a:lvl4pPr lvl="3" rtl="0" algn="ctr">
              <a:lnSpc>
                <a:spcPct val="115000"/>
              </a:lnSpc>
              <a:spcBef>
                <a:spcPts val="0"/>
              </a:spcBef>
              <a:spcAft>
                <a:spcPts val="0"/>
              </a:spcAft>
              <a:buSzPts val="1400"/>
              <a:buChar char="●"/>
              <a:defRPr sz="2800"/>
            </a:lvl4pPr>
            <a:lvl5pPr lvl="4" rtl="0" algn="ctr">
              <a:lnSpc>
                <a:spcPct val="115000"/>
              </a:lnSpc>
              <a:spcBef>
                <a:spcPts val="0"/>
              </a:spcBef>
              <a:spcAft>
                <a:spcPts val="0"/>
              </a:spcAft>
              <a:buSzPts val="1400"/>
              <a:buChar char="○"/>
              <a:defRPr sz="2800"/>
            </a:lvl5pPr>
            <a:lvl6pPr lvl="5" rtl="0" algn="ctr">
              <a:lnSpc>
                <a:spcPct val="115000"/>
              </a:lnSpc>
              <a:spcBef>
                <a:spcPts val="0"/>
              </a:spcBef>
              <a:spcAft>
                <a:spcPts val="0"/>
              </a:spcAft>
              <a:buSzPts val="1400"/>
              <a:buChar char="■"/>
              <a:defRPr sz="2800"/>
            </a:lvl6pPr>
            <a:lvl7pPr lvl="6" rtl="0" algn="ctr">
              <a:lnSpc>
                <a:spcPct val="115000"/>
              </a:lnSpc>
              <a:spcBef>
                <a:spcPts val="0"/>
              </a:spcBef>
              <a:spcAft>
                <a:spcPts val="0"/>
              </a:spcAft>
              <a:buSzPts val="1400"/>
              <a:buChar char="●"/>
              <a:defRPr sz="2800"/>
            </a:lvl7pPr>
            <a:lvl8pPr lvl="7" rtl="0" algn="ctr">
              <a:lnSpc>
                <a:spcPct val="115000"/>
              </a:lnSpc>
              <a:spcBef>
                <a:spcPts val="0"/>
              </a:spcBef>
              <a:spcAft>
                <a:spcPts val="0"/>
              </a:spcAft>
              <a:buSzPts val="1400"/>
              <a:buChar char="○"/>
              <a:defRPr sz="2800"/>
            </a:lvl8pPr>
            <a:lvl9pPr lvl="8" rtl="0" algn="ctr">
              <a:lnSpc>
                <a:spcPct val="115000"/>
              </a:lnSpc>
              <a:spcBef>
                <a:spcPts val="0"/>
              </a:spcBef>
              <a:spcAft>
                <a:spcPts val="0"/>
              </a:spcAft>
              <a:buSzPts val="1400"/>
              <a:buChar char="■"/>
              <a:defRPr sz="2800"/>
            </a:lvl9pPr>
          </a:lstStyle>
          <a:p/>
        </p:txBody>
      </p:sp>
      <p:sp>
        <p:nvSpPr>
          <p:cNvPr id="42" name="Google Shape;42;p5"/>
          <p:cNvSpPr txBox="1"/>
          <p:nvPr>
            <p:ph idx="3" type="subTitle"/>
          </p:nvPr>
        </p:nvSpPr>
        <p:spPr>
          <a:xfrm>
            <a:off x="720000" y="1451250"/>
            <a:ext cx="3772800" cy="361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p:txBody>
      </p:sp>
      <p:sp>
        <p:nvSpPr>
          <p:cNvPr id="43" name="Google Shape;43;p5"/>
          <p:cNvSpPr txBox="1"/>
          <p:nvPr>
            <p:ph idx="4" type="subTitle"/>
          </p:nvPr>
        </p:nvSpPr>
        <p:spPr>
          <a:xfrm>
            <a:off x="4651268" y="1451250"/>
            <a:ext cx="3772800" cy="361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rtl="0">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rtl="0">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rtl="0">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rtl="0">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rtl="0">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rtl="0">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rtl="0">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6"/>
          <p:cNvGrpSpPr/>
          <p:nvPr/>
        </p:nvGrpSpPr>
        <p:grpSpPr>
          <a:xfrm>
            <a:off x="232200" y="-49400"/>
            <a:ext cx="8679000" cy="5250800"/>
            <a:chOff x="232200" y="-49400"/>
            <a:chExt cx="8679000" cy="5250800"/>
          </a:xfrm>
        </p:grpSpPr>
        <p:grpSp>
          <p:nvGrpSpPr>
            <p:cNvPr id="47" name="Google Shape;47;p6"/>
            <p:cNvGrpSpPr/>
            <p:nvPr/>
          </p:nvGrpSpPr>
          <p:grpSpPr>
            <a:xfrm>
              <a:off x="232200" y="-49400"/>
              <a:ext cx="8679000" cy="5250800"/>
              <a:chOff x="232200" y="-49400"/>
              <a:chExt cx="8679000" cy="5250800"/>
            </a:xfrm>
          </p:grpSpPr>
          <p:sp>
            <p:nvSpPr>
              <p:cNvPr id="48" name="Google Shape;48;p6"/>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 name="Google Shape;49;p6"/>
              <p:cNvCxnSpPr/>
              <p:nvPr/>
            </p:nvCxnSpPr>
            <p:spPr>
              <a:xfrm rot="10800000">
                <a:off x="8911200" y="-49400"/>
                <a:ext cx="0" cy="284100"/>
              </a:xfrm>
              <a:prstGeom prst="straightConnector1">
                <a:avLst/>
              </a:prstGeom>
              <a:noFill/>
              <a:ln cap="flat" cmpd="sng" w="19050">
                <a:solidFill>
                  <a:schemeClr val="dk1"/>
                </a:solidFill>
                <a:prstDash val="solid"/>
                <a:round/>
                <a:headEnd len="med" w="med" type="none"/>
                <a:tailEnd len="med" w="med" type="none"/>
              </a:ln>
            </p:spPr>
          </p:cxnSp>
          <p:cxnSp>
            <p:nvCxnSpPr>
              <p:cNvPr id="50" name="Google Shape;50;p6"/>
              <p:cNvCxnSpPr/>
              <p:nvPr/>
            </p:nvCxnSpPr>
            <p:spPr>
              <a:xfrm rot="10800000">
                <a:off x="232200" y="4917300"/>
                <a:ext cx="0" cy="284100"/>
              </a:xfrm>
              <a:prstGeom prst="straightConnector1">
                <a:avLst/>
              </a:prstGeom>
              <a:noFill/>
              <a:ln cap="flat" cmpd="sng" w="19050">
                <a:solidFill>
                  <a:schemeClr val="dk1"/>
                </a:solidFill>
                <a:prstDash val="solid"/>
                <a:round/>
                <a:headEnd len="med" w="med" type="none"/>
                <a:tailEnd len="med" w="med" type="none"/>
              </a:ln>
            </p:spPr>
          </p:cxnSp>
        </p:grpSp>
        <p:sp>
          <p:nvSpPr>
            <p:cNvPr id="51" name="Google Shape;51;p6"/>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7"/>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 name="Google Shape;55;p7"/>
          <p:cNvGrpSpPr/>
          <p:nvPr/>
        </p:nvGrpSpPr>
        <p:grpSpPr>
          <a:xfrm>
            <a:off x="-19050" y="-16000"/>
            <a:ext cx="8930250" cy="4933300"/>
            <a:chOff x="-19050" y="-16000"/>
            <a:chExt cx="8930250" cy="4933300"/>
          </a:xfrm>
        </p:grpSpPr>
        <p:sp>
          <p:nvSpPr>
            <p:cNvPr id="56" name="Google Shape;56;p7"/>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 name="Google Shape;57;p7"/>
            <p:cNvCxnSpPr/>
            <p:nvPr/>
          </p:nvCxnSpPr>
          <p:spPr>
            <a:xfrm rot="10800000">
              <a:off x="-19050" y="49173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58" name="Google Shape;58;p7"/>
            <p:cNvCxnSpPr/>
            <p:nvPr/>
          </p:nvCxnSpPr>
          <p:spPr>
            <a:xfrm rot="10800000">
              <a:off x="8911200" y="-16000"/>
              <a:ext cx="0" cy="258900"/>
            </a:xfrm>
            <a:prstGeom prst="straightConnector1">
              <a:avLst/>
            </a:prstGeom>
            <a:noFill/>
            <a:ln cap="flat" cmpd="sng" w="19050">
              <a:solidFill>
                <a:schemeClr val="dk1"/>
              </a:solidFill>
              <a:prstDash val="solid"/>
              <a:round/>
              <a:headEnd len="med" w="med" type="none"/>
              <a:tailEnd len="med" w="med" type="none"/>
            </a:ln>
          </p:spPr>
        </p:cxnSp>
      </p:grpSp>
      <p:sp>
        <p:nvSpPr>
          <p:cNvPr id="59" name="Google Shape;59;p7"/>
          <p:cNvSpPr txBox="1"/>
          <p:nvPr>
            <p:ph type="title"/>
          </p:nvPr>
        </p:nvSpPr>
        <p:spPr>
          <a:xfrm>
            <a:off x="720000" y="448050"/>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 name="Google Shape;60;p7"/>
          <p:cNvSpPr txBox="1"/>
          <p:nvPr>
            <p:ph idx="1" type="subTitle"/>
          </p:nvPr>
        </p:nvSpPr>
        <p:spPr>
          <a:xfrm>
            <a:off x="1733625" y="1361025"/>
            <a:ext cx="6580200" cy="2906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sz="1600">
                <a:latin typeface="Hanken Grotesk"/>
                <a:ea typeface="Hanken Grotesk"/>
                <a:cs typeface="Hanken Grotesk"/>
                <a:sym typeface="Hanken Grotesk"/>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cap="flat" cmpd="sng" w="19050">
              <a:solidFill>
                <a:schemeClr val="dk1"/>
              </a:solidFill>
              <a:prstDash val="solid"/>
              <a:round/>
              <a:headEnd len="med" w="med" type="none"/>
              <a:tailEnd len="med" w="med" type="none"/>
            </a:ln>
          </p:spPr>
        </p:cxnSp>
        <p:cxnSp>
          <p:nvCxnSpPr>
            <p:cNvPr id="66" name="Google Shape;66;p8"/>
            <p:cNvCxnSpPr/>
            <p:nvPr/>
          </p:nvCxnSpPr>
          <p:spPr>
            <a:xfrm rot="10800000">
              <a:off x="-25" y="4608575"/>
              <a:ext cx="740700" cy="0"/>
            </a:xfrm>
            <a:prstGeom prst="straightConnector1">
              <a:avLst/>
            </a:prstGeom>
            <a:noFill/>
            <a:ln cap="flat" cmpd="sng" w="19050">
              <a:solidFill>
                <a:schemeClr val="dk1"/>
              </a:solidFill>
              <a:prstDash val="solid"/>
              <a:round/>
              <a:headEnd len="med" w="med" type="none"/>
              <a:tailEnd len="med" w="med" type="none"/>
            </a:ln>
          </p:spPr>
        </p:cxnSp>
      </p:grpSp>
      <p:sp>
        <p:nvSpPr>
          <p:cNvPr id="67" name="Google Shape;67;p8"/>
          <p:cNvSpPr txBox="1"/>
          <p:nvPr>
            <p:ph type="title"/>
          </p:nvPr>
        </p:nvSpPr>
        <p:spPr>
          <a:xfrm>
            <a:off x="1644450" y="1733400"/>
            <a:ext cx="5855100" cy="7608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 name="Google Shape;72;p9"/>
            <p:cNvCxnSpPr/>
            <p:nvPr/>
          </p:nvCxnSpPr>
          <p:spPr>
            <a:xfrm rot="10800000">
              <a:off x="727425" y="-49275"/>
              <a:ext cx="0" cy="585600"/>
            </a:xfrm>
            <a:prstGeom prst="straightConnector1">
              <a:avLst/>
            </a:prstGeom>
            <a:noFill/>
            <a:ln cap="flat" cmpd="sng" w="19050">
              <a:solidFill>
                <a:schemeClr val="dk1"/>
              </a:solidFill>
              <a:prstDash val="solid"/>
              <a:round/>
              <a:headEnd len="med" w="med" type="none"/>
              <a:tailEnd len="med" w="med" type="none"/>
            </a:ln>
          </p:spPr>
        </p:cxnSp>
        <p:cxnSp>
          <p:nvCxnSpPr>
            <p:cNvPr id="73" name="Google Shape;73;p9"/>
            <p:cNvCxnSpPr/>
            <p:nvPr/>
          </p:nvCxnSpPr>
          <p:spPr>
            <a:xfrm rot="10800000">
              <a:off x="8430775" y="4608450"/>
              <a:ext cx="0" cy="585600"/>
            </a:xfrm>
            <a:prstGeom prst="straightConnector1">
              <a:avLst/>
            </a:prstGeom>
            <a:noFill/>
            <a:ln cap="flat" cmpd="sng" w="19050">
              <a:solidFill>
                <a:schemeClr val="dk1"/>
              </a:solidFill>
              <a:prstDash val="solid"/>
              <a:round/>
              <a:headEnd len="med" w="med" type="none"/>
              <a:tailEnd len="med" w="med" type="none"/>
            </a:ln>
          </p:spPr>
        </p:cxnSp>
      </p:grpSp>
      <p:sp>
        <p:nvSpPr>
          <p:cNvPr id="74" name="Google Shape;74;p9"/>
          <p:cNvSpPr txBox="1"/>
          <p:nvPr>
            <p:ph type="title"/>
          </p:nvPr>
        </p:nvSpPr>
        <p:spPr>
          <a:xfrm>
            <a:off x="3496850" y="1021763"/>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5" name="Google Shape;75;p9"/>
          <p:cNvSpPr txBox="1"/>
          <p:nvPr>
            <p:ph idx="1" type="subTitle"/>
          </p:nvPr>
        </p:nvSpPr>
        <p:spPr>
          <a:xfrm>
            <a:off x="3496850" y="3117038"/>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6" name="Shape 76"/>
        <p:cNvGrpSpPr/>
        <p:nvPr/>
      </p:nvGrpSpPr>
      <p:grpSpPr>
        <a:xfrm>
          <a:off x="0" y="0"/>
          <a:ext cx="0" cy="0"/>
          <a:chOff x="0" y="0"/>
          <a:chExt cx="0" cy="0"/>
        </a:xfrm>
      </p:grpSpPr>
      <p:sp>
        <p:nvSpPr>
          <p:cNvPr id="77" name="Google Shape;77;p10"/>
          <p:cNvSpPr/>
          <p:nvPr>
            <p:ph idx="2" type="pic"/>
          </p:nvPr>
        </p:nvSpPr>
        <p:spPr>
          <a:xfrm>
            <a:off x="0" y="0"/>
            <a:ext cx="9144000" cy="5143500"/>
          </a:xfrm>
          <a:prstGeom prst="rect">
            <a:avLst/>
          </a:prstGeom>
          <a:noFill/>
          <a:ln>
            <a:noFill/>
          </a:ln>
        </p:spPr>
      </p:sp>
      <p:sp>
        <p:nvSpPr>
          <p:cNvPr id="78" name="Google Shape;78;p10"/>
          <p:cNvSpPr txBox="1"/>
          <p:nvPr>
            <p:ph type="title"/>
          </p:nvPr>
        </p:nvSpPr>
        <p:spPr>
          <a:xfrm>
            <a:off x="720000" y="4045175"/>
            <a:ext cx="7710900" cy="563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15000"/>
              </a:lnSpc>
              <a:spcBef>
                <a:spcPts val="0"/>
              </a:spcBef>
              <a:spcAft>
                <a:spcPts val="0"/>
              </a:spcAft>
              <a:buSzPts val="28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9" name="Shape 79"/>
        <p:cNvGrpSpPr/>
        <p:nvPr/>
      </p:nvGrpSpPr>
      <p:grpSpPr>
        <a:xfrm>
          <a:off x="0" y="0"/>
          <a:ext cx="0" cy="0"/>
          <a:chOff x="0" y="0"/>
          <a:chExt cx="0" cy="0"/>
        </a:xfrm>
      </p:grpSpPr>
      <p:sp>
        <p:nvSpPr>
          <p:cNvPr id="80" name="Google Shape;80;p11"/>
          <p:cNvSpPr/>
          <p:nvPr/>
        </p:nvSpPr>
        <p:spPr>
          <a:xfrm>
            <a:off x="-3422975" y="0"/>
            <a:ext cx="5143500" cy="5143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 name="Google Shape;81;p11"/>
          <p:cNvGrpSpPr/>
          <p:nvPr/>
        </p:nvGrpSpPr>
        <p:grpSpPr>
          <a:xfrm>
            <a:off x="727425" y="-382650"/>
            <a:ext cx="7703400" cy="5907300"/>
            <a:chOff x="727425" y="-382650"/>
            <a:chExt cx="7703400" cy="5907300"/>
          </a:xfrm>
        </p:grpSpPr>
        <p:sp>
          <p:nvSpPr>
            <p:cNvPr id="82" name="Google Shape;82;p11"/>
            <p:cNvSpPr/>
            <p:nvPr/>
          </p:nvSpPr>
          <p:spPr>
            <a:xfrm>
              <a:off x="727425" y="533550"/>
              <a:ext cx="77034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1"/>
            <p:cNvCxnSpPr/>
            <p:nvPr/>
          </p:nvCxnSpPr>
          <p:spPr>
            <a:xfrm>
              <a:off x="727425" y="4608450"/>
              <a:ext cx="0" cy="916200"/>
            </a:xfrm>
            <a:prstGeom prst="straightConnector1">
              <a:avLst/>
            </a:prstGeom>
            <a:noFill/>
            <a:ln cap="flat" cmpd="sng" w="19050">
              <a:solidFill>
                <a:schemeClr val="dk1"/>
              </a:solidFill>
              <a:prstDash val="solid"/>
              <a:round/>
              <a:headEnd len="med" w="med" type="none"/>
              <a:tailEnd len="med" w="med" type="none"/>
            </a:ln>
          </p:spPr>
        </p:cxnSp>
        <p:cxnSp>
          <p:nvCxnSpPr>
            <p:cNvPr id="84" name="Google Shape;84;p11"/>
            <p:cNvCxnSpPr/>
            <p:nvPr/>
          </p:nvCxnSpPr>
          <p:spPr>
            <a:xfrm>
              <a:off x="8430775" y="-382650"/>
              <a:ext cx="0" cy="916200"/>
            </a:xfrm>
            <a:prstGeom prst="straightConnector1">
              <a:avLst/>
            </a:prstGeom>
            <a:noFill/>
            <a:ln cap="flat" cmpd="sng" w="19050">
              <a:solidFill>
                <a:schemeClr val="dk1"/>
              </a:solidFill>
              <a:prstDash val="solid"/>
              <a:round/>
              <a:headEnd len="med" w="med" type="none"/>
              <a:tailEnd len="med" w="med" type="none"/>
            </a:ln>
          </p:spPr>
        </p:cxnSp>
      </p:grpSp>
      <p:sp>
        <p:nvSpPr>
          <p:cNvPr id="85" name="Google Shape;85;p11"/>
          <p:cNvSpPr txBox="1"/>
          <p:nvPr>
            <p:ph hasCustomPrompt="1" type="title"/>
          </p:nvPr>
        </p:nvSpPr>
        <p:spPr>
          <a:xfrm>
            <a:off x="2603050" y="1856113"/>
            <a:ext cx="5827800" cy="1024500"/>
          </a:xfrm>
          <a:prstGeom prst="rect">
            <a:avLst/>
          </a:prstGeom>
          <a:solidFill>
            <a:schemeClr val="dk1"/>
          </a:solidFill>
        </p:spPr>
        <p:txBody>
          <a:bodyPr anchorCtr="0" anchor="ctr" bIns="91425" lIns="91425" spcFirstLastPara="1" rIns="91425" wrap="square" tIns="91425">
            <a:noAutofit/>
          </a:bodyPr>
          <a:lstStyle>
            <a:lvl1pPr indent="0" lvl="0" marL="0" rtl="0">
              <a:lnSpc>
                <a:spcPct val="115000"/>
              </a:lnSpc>
              <a:spcBef>
                <a:spcPts val="0"/>
              </a:spcBef>
              <a:spcAft>
                <a:spcPts val="0"/>
              </a:spcAft>
              <a:buSzPts val="9600"/>
              <a:buNone/>
              <a:defRPr sz="49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p:nvPr>
            <p:ph idx="1" type="subTitle"/>
          </p:nvPr>
        </p:nvSpPr>
        <p:spPr>
          <a:xfrm>
            <a:off x="2603050" y="2880588"/>
            <a:ext cx="5827800" cy="40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atin typeface="Hanken Grotesk"/>
                <a:ea typeface="Hanken Grotesk"/>
                <a:cs typeface="Hanken Grotesk"/>
                <a:sym typeface="Hanken Grotesk"/>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87" name="Shape 8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8" name="Shape 88"/>
        <p:cNvGrpSpPr/>
        <p:nvPr/>
      </p:nvGrpSpPr>
      <p:grpSpPr>
        <a:xfrm>
          <a:off x="0" y="0"/>
          <a:ext cx="0" cy="0"/>
          <a:chOff x="0" y="0"/>
          <a:chExt cx="0" cy="0"/>
        </a:xfrm>
      </p:grpSpPr>
      <p:sp>
        <p:nvSpPr>
          <p:cNvPr id="89" name="Google Shape;89;p13"/>
          <p:cNvSpPr/>
          <p:nvPr/>
        </p:nvSpPr>
        <p:spPr>
          <a:xfrm>
            <a:off x="-941925"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13"/>
          <p:cNvGrpSpPr/>
          <p:nvPr/>
        </p:nvGrpSpPr>
        <p:grpSpPr>
          <a:xfrm>
            <a:off x="-19050" y="232800"/>
            <a:ext cx="9189150" cy="4684500"/>
            <a:chOff x="-19050" y="232800"/>
            <a:chExt cx="9189150" cy="4684500"/>
          </a:xfrm>
        </p:grpSpPr>
        <p:sp>
          <p:nvSpPr>
            <p:cNvPr id="91" name="Google Shape;91;p13"/>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13"/>
            <p:cNvCxnSpPr/>
            <p:nvPr/>
          </p:nvCxnSpPr>
          <p:spPr>
            <a:xfrm rot="10800000">
              <a:off x="-19050" y="2328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93" name="Google Shape;93;p13"/>
            <p:cNvCxnSpPr/>
            <p:nvPr/>
          </p:nvCxnSpPr>
          <p:spPr>
            <a:xfrm rot="10800000">
              <a:off x="8911200" y="4917300"/>
              <a:ext cx="258900" cy="0"/>
            </a:xfrm>
            <a:prstGeom prst="straightConnector1">
              <a:avLst/>
            </a:prstGeom>
            <a:noFill/>
            <a:ln cap="flat" cmpd="sng" w="19050">
              <a:solidFill>
                <a:schemeClr val="dk1"/>
              </a:solidFill>
              <a:prstDash val="solid"/>
              <a:round/>
              <a:headEnd len="med" w="med" type="none"/>
              <a:tailEnd len="med" w="med" type="none"/>
            </a:ln>
          </p:spPr>
        </p:cxnSp>
      </p:grpSp>
      <p:sp>
        <p:nvSpPr>
          <p:cNvPr id="94" name="Google Shape;94;p13"/>
          <p:cNvSpPr txBox="1"/>
          <p:nvPr>
            <p:ph type="title"/>
          </p:nvPr>
        </p:nvSpPr>
        <p:spPr>
          <a:xfrm>
            <a:off x="6632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5" name="Google Shape;95;p13"/>
          <p:cNvSpPr txBox="1"/>
          <p:nvPr>
            <p:ph idx="1" type="subTitle"/>
          </p:nvPr>
        </p:nvSpPr>
        <p:spPr>
          <a:xfrm>
            <a:off x="788675" y="2105875"/>
            <a:ext cx="23055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6" name="Google Shape;96;p13"/>
          <p:cNvSpPr txBox="1"/>
          <p:nvPr>
            <p:ph idx="2" type="subTitle"/>
          </p:nvPr>
        </p:nvSpPr>
        <p:spPr>
          <a:xfrm>
            <a:off x="788675" y="3772552"/>
            <a:ext cx="23055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7" name="Google Shape;97;p13"/>
          <p:cNvSpPr txBox="1"/>
          <p:nvPr>
            <p:ph idx="3" type="subTitle"/>
          </p:nvPr>
        </p:nvSpPr>
        <p:spPr>
          <a:xfrm>
            <a:off x="3418500" y="3772552"/>
            <a:ext cx="23055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8" name="Google Shape;98;p13"/>
          <p:cNvSpPr txBox="1"/>
          <p:nvPr>
            <p:ph idx="4" type="subTitle"/>
          </p:nvPr>
        </p:nvSpPr>
        <p:spPr>
          <a:xfrm>
            <a:off x="3418500" y="2105875"/>
            <a:ext cx="23055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9" name="Google Shape;99;p13"/>
          <p:cNvSpPr txBox="1"/>
          <p:nvPr>
            <p:ph hasCustomPrompt="1" idx="5" type="title"/>
          </p:nvPr>
        </p:nvSpPr>
        <p:spPr>
          <a:xfrm>
            <a:off x="919575" y="1319650"/>
            <a:ext cx="365700" cy="365700"/>
          </a:xfrm>
          <a:prstGeom prst="rect">
            <a:avLst/>
          </a:prstGeom>
          <a:solidFill>
            <a:schemeClr val="dk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p:nvPr>
            <p:ph hasCustomPrompt="1" idx="6" type="title"/>
          </p:nvPr>
        </p:nvSpPr>
        <p:spPr>
          <a:xfrm>
            <a:off x="3509050" y="2977575"/>
            <a:ext cx="365700" cy="365700"/>
          </a:xfrm>
          <a:prstGeom prst="rect">
            <a:avLst/>
          </a:prstGeom>
          <a:solidFill>
            <a:schemeClr val="dk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p:nvPr>
            <p:ph hasCustomPrompt="1" idx="7" type="title"/>
          </p:nvPr>
        </p:nvSpPr>
        <p:spPr>
          <a:xfrm>
            <a:off x="919575" y="2977575"/>
            <a:ext cx="365700" cy="365700"/>
          </a:xfrm>
          <a:prstGeom prst="rect">
            <a:avLst/>
          </a:prstGeom>
          <a:solidFill>
            <a:schemeClr val="dk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p:nvPr>
            <p:ph hasCustomPrompt="1" idx="8" type="title"/>
          </p:nvPr>
        </p:nvSpPr>
        <p:spPr>
          <a:xfrm>
            <a:off x="3528275" y="1319650"/>
            <a:ext cx="365700" cy="365700"/>
          </a:xfrm>
          <a:prstGeom prst="rect">
            <a:avLst/>
          </a:prstGeom>
          <a:solidFill>
            <a:schemeClr val="dk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p:nvPr>
            <p:ph idx="9" type="subTitle"/>
          </p:nvPr>
        </p:nvSpPr>
        <p:spPr>
          <a:xfrm>
            <a:off x="6048325" y="3772552"/>
            <a:ext cx="23055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4" name="Google Shape;104;p13"/>
          <p:cNvSpPr txBox="1"/>
          <p:nvPr>
            <p:ph idx="13" type="subTitle"/>
          </p:nvPr>
        </p:nvSpPr>
        <p:spPr>
          <a:xfrm>
            <a:off x="6048325" y="2105875"/>
            <a:ext cx="23055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5" name="Google Shape;105;p13"/>
          <p:cNvSpPr txBox="1"/>
          <p:nvPr>
            <p:ph hasCustomPrompt="1" idx="14" type="title"/>
          </p:nvPr>
        </p:nvSpPr>
        <p:spPr>
          <a:xfrm>
            <a:off x="6136975" y="2977575"/>
            <a:ext cx="365700" cy="365700"/>
          </a:xfrm>
          <a:prstGeom prst="rect">
            <a:avLst/>
          </a:prstGeom>
          <a:solidFill>
            <a:schemeClr val="dk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hasCustomPrompt="1" idx="15" type="title"/>
          </p:nvPr>
        </p:nvSpPr>
        <p:spPr>
          <a:xfrm>
            <a:off x="6136975" y="1319650"/>
            <a:ext cx="365700" cy="365700"/>
          </a:xfrm>
          <a:prstGeom prst="rect">
            <a:avLst/>
          </a:prstGeom>
          <a:solidFill>
            <a:schemeClr val="dk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idx="16" type="subTitle"/>
          </p:nvPr>
        </p:nvSpPr>
        <p:spPr>
          <a:xfrm>
            <a:off x="788675" y="1848775"/>
            <a:ext cx="2305500" cy="38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08" name="Google Shape;108;p13"/>
          <p:cNvSpPr txBox="1"/>
          <p:nvPr>
            <p:ph idx="17" type="subTitle"/>
          </p:nvPr>
        </p:nvSpPr>
        <p:spPr>
          <a:xfrm>
            <a:off x="788675" y="3503023"/>
            <a:ext cx="2305500" cy="38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09" name="Google Shape;109;p13"/>
          <p:cNvSpPr txBox="1"/>
          <p:nvPr>
            <p:ph idx="18" type="subTitle"/>
          </p:nvPr>
        </p:nvSpPr>
        <p:spPr>
          <a:xfrm>
            <a:off x="3418500" y="3503023"/>
            <a:ext cx="2305500" cy="38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10" name="Google Shape;110;p13"/>
          <p:cNvSpPr txBox="1"/>
          <p:nvPr>
            <p:ph idx="19" type="subTitle"/>
          </p:nvPr>
        </p:nvSpPr>
        <p:spPr>
          <a:xfrm>
            <a:off x="3418500" y="1848775"/>
            <a:ext cx="2305500" cy="38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11" name="Google Shape;111;p13"/>
          <p:cNvSpPr txBox="1"/>
          <p:nvPr>
            <p:ph idx="20" type="subTitle"/>
          </p:nvPr>
        </p:nvSpPr>
        <p:spPr>
          <a:xfrm>
            <a:off x="6048325" y="3503023"/>
            <a:ext cx="2305500" cy="38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12" name="Google Shape;112;p13"/>
          <p:cNvSpPr txBox="1"/>
          <p:nvPr>
            <p:ph idx="21" type="subTitle"/>
          </p:nvPr>
        </p:nvSpPr>
        <p:spPr>
          <a:xfrm>
            <a:off x="6048325" y="1848775"/>
            <a:ext cx="2305500" cy="38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13" name="Shape 113"/>
        <p:cNvGrpSpPr/>
        <p:nvPr/>
      </p:nvGrpSpPr>
      <p:grpSpPr>
        <a:xfrm>
          <a:off x="0" y="0"/>
          <a:ext cx="0" cy="0"/>
          <a:chOff x="0" y="0"/>
          <a:chExt cx="0" cy="0"/>
        </a:xfrm>
      </p:grpSpPr>
      <p:sp>
        <p:nvSpPr>
          <p:cNvPr id="114" name="Google Shape;114;p14"/>
          <p:cNvSpPr/>
          <p:nvPr/>
        </p:nvSpPr>
        <p:spPr>
          <a:xfrm>
            <a:off x="-2125550" y="3018625"/>
            <a:ext cx="4243200" cy="4243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 name="Google Shape;115;p14"/>
          <p:cNvGrpSpPr/>
          <p:nvPr/>
        </p:nvGrpSpPr>
        <p:grpSpPr>
          <a:xfrm>
            <a:off x="727425" y="-29250"/>
            <a:ext cx="8550550" cy="4637825"/>
            <a:chOff x="727425" y="-29250"/>
            <a:chExt cx="8550550" cy="4637825"/>
          </a:xfrm>
        </p:grpSpPr>
        <p:sp>
          <p:nvSpPr>
            <p:cNvPr id="116" name="Google Shape;116;p14"/>
            <p:cNvSpPr/>
            <p:nvPr/>
          </p:nvSpPr>
          <p:spPr>
            <a:xfrm>
              <a:off x="727425" y="533550"/>
              <a:ext cx="77034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 name="Google Shape;117;p14"/>
            <p:cNvCxnSpPr/>
            <p:nvPr/>
          </p:nvCxnSpPr>
          <p:spPr>
            <a:xfrm rot="10800000">
              <a:off x="727425" y="-29250"/>
              <a:ext cx="0" cy="562800"/>
            </a:xfrm>
            <a:prstGeom prst="straightConnector1">
              <a:avLst/>
            </a:prstGeom>
            <a:noFill/>
            <a:ln cap="flat" cmpd="sng" w="19050">
              <a:solidFill>
                <a:schemeClr val="dk1"/>
              </a:solidFill>
              <a:prstDash val="solid"/>
              <a:round/>
              <a:headEnd len="med" w="med" type="none"/>
              <a:tailEnd len="med" w="med" type="none"/>
            </a:ln>
          </p:spPr>
        </p:cxnSp>
        <p:cxnSp>
          <p:nvCxnSpPr>
            <p:cNvPr id="118" name="Google Shape;118;p14"/>
            <p:cNvCxnSpPr/>
            <p:nvPr/>
          </p:nvCxnSpPr>
          <p:spPr>
            <a:xfrm>
              <a:off x="8430775" y="4608575"/>
              <a:ext cx="847200" cy="0"/>
            </a:xfrm>
            <a:prstGeom prst="straightConnector1">
              <a:avLst/>
            </a:prstGeom>
            <a:noFill/>
            <a:ln cap="flat" cmpd="sng" w="19050">
              <a:solidFill>
                <a:schemeClr val="dk1"/>
              </a:solidFill>
              <a:prstDash val="solid"/>
              <a:round/>
              <a:headEnd len="med" w="med" type="none"/>
              <a:tailEnd len="med" w="med" type="none"/>
            </a:ln>
          </p:spPr>
        </p:cxnSp>
      </p:grpSp>
      <p:sp>
        <p:nvSpPr>
          <p:cNvPr id="119" name="Google Shape;119;p14"/>
          <p:cNvSpPr txBox="1"/>
          <p:nvPr>
            <p:ph type="title"/>
          </p:nvPr>
        </p:nvSpPr>
        <p:spPr>
          <a:xfrm>
            <a:off x="2212125" y="2464650"/>
            <a:ext cx="5913900" cy="5319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3000"/>
              <a:buNone/>
              <a:defRPr sz="28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0" name="Google Shape;120;p14"/>
          <p:cNvSpPr txBox="1"/>
          <p:nvPr>
            <p:ph idx="1" type="subTitle"/>
          </p:nvPr>
        </p:nvSpPr>
        <p:spPr>
          <a:xfrm>
            <a:off x="2212125" y="838350"/>
            <a:ext cx="5913900" cy="1626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500">
                <a:latin typeface="Hanken Grotesk"/>
                <a:ea typeface="Hanken Grotesk"/>
                <a:cs typeface="Hanken Grotesk"/>
                <a:sym typeface="Hanken Grotesk"/>
              </a:defRPr>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21" name="Shape 121"/>
        <p:cNvGrpSpPr/>
        <p:nvPr/>
      </p:nvGrpSpPr>
      <p:grpSpPr>
        <a:xfrm>
          <a:off x="0" y="0"/>
          <a:ext cx="0" cy="0"/>
          <a:chOff x="0" y="0"/>
          <a:chExt cx="0" cy="0"/>
        </a:xfrm>
      </p:grpSpPr>
      <p:sp>
        <p:nvSpPr>
          <p:cNvPr id="122" name="Google Shape;122;p15"/>
          <p:cNvSpPr/>
          <p:nvPr/>
        </p:nvSpPr>
        <p:spPr>
          <a:xfrm>
            <a:off x="35528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15"/>
          <p:cNvGrpSpPr/>
          <p:nvPr/>
        </p:nvGrpSpPr>
        <p:grpSpPr>
          <a:xfrm>
            <a:off x="-50475" y="232800"/>
            <a:ext cx="8961675" cy="4684500"/>
            <a:chOff x="-50475" y="232800"/>
            <a:chExt cx="8961675" cy="4684500"/>
          </a:xfrm>
        </p:grpSpPr>
        <p:sp>
          <p:nvSpPr>
            <p:cNvPr id="124" name="Google Shape;124;p15"/>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 name="Google Shape;125;p15"/>
            <p:cNvCxnSpPr/>
            <p:nvPr/>
          </p:nvCxnSpPr>
          <p:spPr>
            <a:xfrm rot="10800000">
              <a:off x="-50475" y="232800"/>
              <a:ext cx="309300" cy="0"/>
            </a:xfrm>
            <a:prstGeom prst="straightConnector1">
              <a:avLst/>
            </a:prstGeom>
            <a:noFill/>
            <a:ln cap="flat" cmpd="sng" w="19050">
              <a:solidFill>
                <a:schemeClr val="dk1"/>
              </a:solidFill>
              <a:prstDash val="solid"/>
              <a:round/>
              <a:headEnd len="med" w="med" type="none"/>
              <a:tailEnd len="med" w="med" type="none"/>
            </a:ln>
          </p:spPr>
        </p:cxnSp>
      </p:grpSp>
      <p:sp>
        <p:nvSpPr>
          <p:cNvPr id="126" name="Google Shape;126;p15"/>
          <p:cNvSpPr txBox="1"/>
          <p:nvPr>
            <p:ph type="title"/>
          </p:nvPr>
        </p:nvSpPr>
        <p:spPr>
          <a:xfrm>
            <a:off x="720000" y="1203900"/>
            <a:ext cx="3198300" cy="1502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 name="Google Shape;127;p15"/>
          <p:cNvSpPr txBox="1"/>
          <p:nvPr>
            <p:ph idx="1" type="subTitle"/>
          </p:nvPr>
        </p:nvSpPr>
        <p:spPr>
          <a:xfrm>
            <a:off x="720000" y="2706062"/>
            <a:ext cx="3198300" cy="1461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8" name="Google Shape;128;p15"/>
          <p:cNvSpPr/>
          <p:nvPr>
            <p:ph idx="2" type="pic"/>
          </p:nvPr>
        </p:nvSpPr>
        <p:spPr>
          <a:xfrm>
            <a:off x="4494050" y="0"/>
            <a:ext cx="4650000" cy="5143500"/>
          </a:xfrm>
          <a:prstGeom prst="rect">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29" name="Shape 129"/>
        <p:cNvGrpSpPr/>
        <p:nvPr/>
      </p:nvGrpSpPr>
      <p:grpSpPr>
        <a:xfrm>
          <a:off x="0" y="0"/>
          <a:ext cx="0" cy="0"/>
          <a:chOff x="0" y="0"/>
          <a:chExt cx="0" cy="0"/>
        </a:xfrm>
      </p:grpSpPr>
      <p:sp>
        <p:nvSpPr>
          <p:cNvPr id="130" name="Google Shape;130;p16"/>
          <p:cNvSpPr/>
          <p:nvPr/>
        </p:nvSpPr>
        <p:spPr>
          <a:xfrm>
            <a:off x="-923000" y="-9455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 name="Google Shape;131;p16"/>
          <p:cNvGrpSpPr/>
          <p:nvPr/>
        </p:nvGrpSpPr>
        <p:grpSpPr>
          <a:xfrm>
            <a:off x="-19050" y="232800"/>
            <a:ext cx="9176275" cy="4684500"/>
            <a:chOff x="-19050" y="232800"/>
            <a:chExt cx="9176275" cy="4684500"/>
          </a:xfrm>
        </p:grpSpPr>
        <p:sp>
          <p:nvSpPr>
            <p:cNvPr id="132" name="Google Shape;132;p16"/>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16"/>
            <p:cNvCxnSpPr/>
            <p:nvPr/>
          </p:nvCxnSpPr>
          <p:spPr>
            <a:xfrm rot="10800000">
              <a:off x="-19050" y="2328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134" name="Google Shape;134;p16"/>
            <p:cNvCxnSpPr/>
            <p:nvPr/>
          </p:nvCxnSpPr>
          <p:spPr>
            <a:xfrm>
              <a:off x="8917525" y="4917300"/>
              <a:ext cx="239700" cy="0"/>
            </a:xfrm>
            <a:prstGeom prst="straightConnector1">
              <a:avLst/>
            </a:prstGeom>
            <a:noFill/>
            <a:ln cap="flat" cmpd="sng" w="19050">
              <a:solidFill>
                <a:schemeClr val="dk1"/>
              </a:solidFill>
              <a:prstDash val="solid"/>
              <a:round/>
              <a:headEnd len="med" w="med" type="none"/>
              <a:tailEnd len="med" w="med" type="none"/>
            </a:ln>
          </p:spPr>
        </p:cxnSp>
      </p:grpSp>
      <p:sp>
        <p:nvSpPr>
          <p:cNvPr id="135" name="Google Shape;135;p16"/>
          <p:cNvSpPr txBox="1"/>
          <p:nvPr>
            <p:ph type="title"/>
          </p:nvPr>
        </p:nvSpPr>
        <p:spPr>
          <a:xfrm>
            <a:off x="878875" y="1533125"/>
            <a:ext cx="3024900" cy="6423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6" name="Google Shape;136;p16"/>
          <p:cNvSpPr txBox="1"/>
          <p:nvPr>
            <p:ph idx="1" type="subTitle"/>
          </p:nvPr>
        </p:nvSpPr>
        <p:spPr>
          <a:xfrm>
            <a:off x="878875" y="2175300"/>
            <a:ext cx="3024900" cy="1211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
    <p:spTree>
      <p:nvGrpSpPr>
        <p:cNvPr id="137" name="Shape 137"/>
        <p:cNvGrpSpPr/>
        <p:nvPr/>
      </p:nvGrpSpPr>
      <p:grpSpPr>
        <a:xfrm>
          <a:off x="0" y="0"/>
          <a:ext cx="0" cy="0"/>
          <a:chOff x="0" y="0"/>
          <a:chExt cx="0" cy="0"/>
        </a:xfrm>
      </p:grpSpPr>
      <p:sp>
        <p:nvSpPr>
          <p:cNvPr id="138" name="Google Shape;138;p17"/>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 name="Google Shape;139;p17"/>
          <p:cNvGrpSpPr/>
          <p:nvPr/>
        </p:nvGrpSpPr>
        <p:grpSpPr>
          <a:xfrm>
            <a:off x="232200" y="232800"/>
            <a:ext cx="8937900" cy="4932875"/>
            <a:chOff x="232200" y="232800"/>
            <a:chExt cx="8937900" cy="4932875"/>
          </a:xfrm>
        </p:grpSpPr>
        <p:sp>
          <p:nvSpPr>
            <p:cNvPr id="140" name="Google Shape;140;p17"/>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 name="Google Shape;141;p17"/>
            <p:cNvCxnSpPr/>
            <p:nvPr/>
          </p:nvCxnSpPr>
          <p:spPr>
            <a:xfrm rot="10800000">
              <a:off x="8911200" y="2328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142" name="Google Shape;142;p17"/>
            <p:cNvCxnSpPr/>
            <p:nvPr/>
          </p:nvCxnSpPr>
          <p:spPr>
            <a:xfrm>
              <a:off x="233525" y="4913075"/>
              <a:ext cx="0" cy="252600"/>
            </a:xfrm>
            <a:prstGeom prst="straightConnector1">
              <a:avLst/>
            </a:prstGeom>
            <a:noFill/>
            <a:ln cap="flat" cmpd="sng" w="19050">
              <a:solidFill>
                <a:schemeClr val="dk1"/>
              </a:solidFill>
              <a:prstDash val="solid"/>
              <a:round/>
              <a:headEnd len="med" w="med" type="none"/>
              <a:tailEnd len="med" w="med" type="none"/>
            </a:ln>
          </p:spPr>
        </p:cxnSp>
      </p:grpSp>
      <p:sp>
        <p:nvSpPr>
          <p:cNvPr id="143" name="Google Shape;143;p17"/>
          <p:cNvSpPr txBox="1"/>
          <p:nvPr>
            <p:ph type="title"/>
          </p:nvPr>
        </p:nvSpPr>
        <p:spPr>
          <a:xfrm>
            <a:off x="722376" y="445025"/>
            <a:ext cx="77085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p:txBody>
      </p:sp>
      <p:sp>
        <p:nvSpPr>
          <p:cNvPr id="144" name="Google Shape;144;p17"/>
          <p:cNvSpPr txBox="1"/>
          <p:nvPr>
            <p:ph idx="1" type="subTitle"/>
          </p:nvPr>
        </p:nvSpPr>
        <p:spPr>
          <a:xfrm>
            <a:off x="713250" y="1017725"/>
            <a:ext cx="7717500" cy="889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_1">
    <p:spTree>
      <p:nvGrpSpPr>
        <p:cNvPr id="145" name="Shape 145"/>
        <p:cNvGrpSpPr/>
        <p:nvPr/>
      </p:nvGrpSpPr>
      <p:grpSpPr>
        <a:xfrm>
          <a:off x="0" y="0"/>
          <a:ext cx="0" cy="0"/>
          <a:chOff x="0" y="0"/>
          <a:chExt cx="0" cy="0"/>
        </a:xfrm>
      </p:grpSpPr>
      <p:sp>
        <p:nvSpPr>
          <p:cNvPr id="146" name="Google Shape;146;p18"/>
          <p:cNvSpPr/>
          <p:nvPr/>
        </p:nvSpPr>
        <p:spPr>
          <a:xfrm>
            <a:off x="7069475" y="3282725"/>
            <a:ext cx="3701700" cy="37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 name="Google Shape;147;p18"/>
          <p:cNvGrpSpPr/>
          <p:nvPr/>
        </p:nvGrpSpPr>
        <p:grpSpPr>
          <a:xfrm>
            <a:off x="-19050" y="232800"/>
            <a:ext cx="8930250" cy="5117250"/>
            <a:chOff x="-19050" y="232800"/>
            <a:chExt cx="8930250" cy="5117250"/>
          </a:xfrm>
        </p:grpSpPr>
        <p:sp>
          <p:nvSpPr>
            <p:cNvPr id="148" name="Google Shape;148;p18"/>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9" name="Google Shape;149;p18"/>
            <p:cNvCxnSpPr/>
            <p:nvPr/>
          </p:nvCxnSpPr>
          <p:spPr>
            <a:xfrm rot="10800000">
              <a:off x="-19050" y="2328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18"/>
            <p:cNvCxnSpPr/>
            <p:nvPr/>
          </p:nvCxnSpPr>
          <p:spPr>
            <a:xfrm rot="10800000">
              <a:off x="8911200" y="4917150"/>
              <a:ext cx="0" cy="432900"/>
            </a:xfrm>
            <a:prstGeom prst="straightConnector1">
              <a:avLst/>
            </a:prstGeom>
            <a:noFill/>
            <a:ln cap="flat" cmpd="sng" w="19050">
              <a:solidFill>
                <a:schemeClr val="dk1"/>
              </a:solidFill>
              <a:prstDash val="solid"/>
              <a:round/>
              <a:headEnd len="med" w="med" type="none"/>
              <a:tailEnd len="med" w="med" type="none"/>
            </a:ln>
          </p:spPr>
        </p:cxnSp>
      </p:grpSp>
      <p:sp>
        <p:nvSpPr>
          <p:cNvPr id="151" name="Google Shape;151;p18"/>
          <p:cNvSpPr txBox="1"/>
          <p:nvPr>
            <p:ph type="title"/>
          </p:nvPr>
        </p:nvSpPr>
        <p:spPr>
          <a:xfrm>
            <a:off x="722326" y="445025"/>
            <a:ext cx="7708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p:txBody>
      </p:sp>
      <p:sp>
        <p:nvSpPr>
          <p:cNvPr id="152" name="Google Shape;152;p18"/>
          <p:cNvSpPr txBox="1"/>
          <p:nvPr>
            <p:ph idx="1" type="subTitle"/>
          </p:nvPr>
        </p:nvSpPr>
        <p:spPr>
          <a:xfrm>
            <a:off x="713175" y="1421525"/>
            <a:ext cx="5945400" cy="26007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 name="Shape 153"/>
        <p:cNvGrpSpPr/>
        <p:nvPr/>
      </p:nvGrpSpPr>
      <p:grpSpPr>
        <a:xfrm>
          <a:off x="0" y="0"/>
          <a:ext cx="0" cy="0"/>
          <a:chOff x="0" y="0"/>
          <a:chExt cx="0" cy="0"/>
        </a:xfrm>
      </p:grpSpPr>
      <p:sp>
        <p:nvSpPr>
          <p:cNvPr id="154" name="Google Shape;154;p19"/>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 name="Google Shape;155;p19"/>
          <p:cNvGrpSpPr/>
          <p:nvPr/>
        </p:nvGrpSpPr>
        <p:grpSpPr>
          <a:xfrm>
            <a:off x="232200" y="232800"/>
            <a:ext cx="8988300" cy="5000100"/>
            <a:chOff x="232200" y="232800"/>
            <a:chExt cx="8988300" cy="5000100"/>
          </a:xfrm>
        </p:grpSpPr>
        <p:sp>
          <p:nvSpPr>
            <p:cNvPr id="156" name="Google Shape;156;p19"/>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 name="Google Shape;157;p19"/>
            <p:cNvCxnSpPr/>
            <p:nvPr/>
          </p:nvCxnSpPr>
          <p:spPr>
            <a:xfrm rot="10800000">
              <a:off x="8911200" y="232800"/>
              <a:ext cx="309300" cy="0"/>
            </a:xfrm>
            <a:prstGeom prst="straightConnector1">
              <a:avLst/>
            </a:prstGeom>
            <a:noFill/>
            <a:ln cap="flat" cmpd="sng" w="19050">
              <a:solidFill>
                <a:schemeClr val="dk1"/>
              </a:solidFill>
              <a:prstDash val="solid"/>
              <a:round/>
              <a:headEnd len="med" w="med" type="none"/>
              <a:tailEnd len="med" w="med" type="none"/>
            </a:ln>
          </p:spPr>
        </p:cxnSp>
        <p:cxnSp>
          <p:nvCxnSpPr>
            <p:cNvPr id="158" name="Google Shape;158;p19"/>
            <p:cNvCxnSpPr/>
            <p:nvPr/>
          </p:nvCxnSpPr>
          <p:spPr>
            <a:xfrm>
              <a:off x="233525" y="4917300"/>
              <a:ext cx="0" cy="315600"/>
            </a:xfrm>
            <a:prstGeom prst="straightConnector1">
              <a:avLst/>
            </a:prstGeom>
            <a:noFill/>
            <a:ln cap="flat" cmpd="sng" w="19050">
              <a:solidFill>
                <a:schemeClr val="dk1"/>
              </a:solidFill>
              <a:prstDash val="solid"/>
              <a:round/>
              <a:headEnd len="med" w="med" type="none"/>
              <a:tailEnd len="med" w="med" type="none"/>
            </a:ln>
          </p:spPr>
        </p:cxnSp>
      </p:grpSp>
      <p:sp>
        <p:nvSpPr>
          <p:cNvPr id="159" name="Google Shape;159;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19"/>
          <p:cNvSpPr txBox="1"/>
          <p:nvPr>
            <p:ph idx="1" type="subTitle"/>
          </p:nvPr>
        </p:nvSpPr>
        <p:spPr>
          <a:xfrm>
            <a:off x="977801" y="2514225"/>
            <a:ext cx="2242500" cy="994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1" name="Google Shape;161;p19"/>
          <p:cNvSpPr txBox="1"/>
          <p:nvPr>
            <p:ph idx="2" type="subTitle"/>
          </p:nvPr>
        </p:nvSpPr>
        <p:spPr>
          <a:xfrm>
            <a:off x="3450748" y="2514225"/>
            <a:ext cx="2242500" cy="994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2" name="Google Shape;162;p19"/>
          <p:cNvSpPr txBox="1"/>
          <p:nvPr>
            <p:ph idx="3" type="subTitle"/>
          </p:nvPr>
        </p:nvSpPr>
        <p:spPr>
          <a:xfrm>
            <a:off x="5923698" y="2514225"/>
            <a:ext cx="2242500" cy="994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3" name="Google Shape;163;p19"/>
          <p:cNvSpPr txBox="1"/>
          <p:nvPr>
            <p:ph idx="4" type="subTitle"/>
          </p:nvPr>
        </p:nvSpPr>
        <p:spPr>
          <a:xfrm>
            <a:off x="977803" y="2285625"/>
            <a:ext cx="2242500" cy="3657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p:txBody>
      </p:sp>
      <p:sp>
        <p:nvSpPr>
          <p:cNvPr id="164" name="Google Shape;164;p19"/>
          <p:cNvSpPr txBox="1"/>
          <p:nvPr>
            <p:ph idx="5" type="subTitle"/>
          </p:nvPr>
        </p:nvSpPr>
        <p:spPr>
          <a:xfrm>
            <a:off x="3450747" y="2285625"/>
            <a:ext cx="2242500" cy="3657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p:txBody>
      </p:sp>
      <p:sp>
        <p:nvSpPr>
          <p:cNvPr id="165" name="Google Shape;165;p19"/>
          <p:cNvSpPr txBox="1"/>
          <p:nvPr>
            <p:ph idx="6" type="subTitle"/>
          </p:nvPr>
        </p:nvSpPr>
        <p:spPr>
          <a:xfrm>
            <a:off x="5923697" y="2285625"/>
            <a:ext cx="2242500" cy="3657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6" name="Shape 166"/>
        <p:cNvGrpSpPr/>
        <p:nvPr/>
      </p:nvGrpSpPr>
      <p:grpSpPr>
        <a:xfrm>
          <a:off x="0" y="0"/>
          <a:ext cx="0" cy="0"/>
          <a:chOff x="0" y="0"/>
          <a:chExt cx="0" cy="0"/>
        </a:xfrm>
      </p:grpSpPr>
      <p:sp>
        <p:nvSpPr>
          <p:cNvPr id="167" name="Google Shape;167;p20"/>
          <p:cNvSpPr/>
          <p:nvPr/>
        </p:nvSpPr>
        <p:spPr>
          <a:xfrm>
            <a:off x="8141975" y="-88657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 name="Google Shape;168;p20"/>
          <p:cNvGrpSpPr/>
          <p:nvPr/>
        </p:nvGrpSpPr>
        <p:grpSpPr>
          <a:xfrm>
            <a:off x="-725" y="1466925"/>
            <a:ext cx="939900" cy="2326875"/>
            <a:chOff x="-725" y="1466925"/>
            <a:chExt cx="939900" cy="2326875"/>
          </a:xfrm>
        </p:grpSpPr>
        <p:cxnSp>
          <p:nvCxnSpPr>
            <p:cNvPr id="169" name="Google Shape;169;p20"/>
            <p:cNvCxnSpPr/>
            <p:nvPr/>
          </p:nvCxnSpPr>
          <p:spPr>
            <a:xfrm>
              <a:off x="-725" y="1466925"/>
              <a:ext cx="939900" cy="0"/>
            </a:xfrm>
            <a:prstGeom prst="straightConnector1">
              <a:avLst/>
            </a:prstGeom>
            <a:noFill/>
            <a:ln cap="flat" cmpd="sng" w="19050">
              <a:solidFill>
                <a:schemeClr val="dk1"/>
              </a:solidFill>
              <a:prstDash val="solid"/>
              <a:round/>
              <a:headEnd len="med" w="med" type="none"/>
              <a:tailEnd len="med" w="med" type="none"/>
            </a:ln>
          </p:spPr>
        </p:cxnSp>
        <p:cxnSp>
          <p:nvCxnSpPr>
            <p:cNvPr id="170" name="Google Shape;170;p20"/>
            <p:cNvCxnSpPr/>
            <p:nvPr/>
          </p:nvCxnSpPr>
          <p:spPr>
            <a:xfrm>
              <a:off x="-725" y="2668450"/>
              <a:ext cx="939900" cy="0"/>
            </a:xfrm>
            <a:prstGeom prst="straightConnector1">
              <a:avLst/>
            </a:prstGeom>
            <a:noFill/>
            <a:ln cap="flat" cmpd="sng" w="19050">
              <a:solidFill>
                <a:schemeClr val="dk1"/>
              </a:solidFill>
              <a:prstDash val="solid"/>
              <a:round/>
              <a:headEnd len="med" w="med" type="none"/>
              <a:tailEnd len="med" w="med" type="none"/>
            </a:ln>
          </p:spPr>
        </p:cxnSp>
        <p:cxnSp>
          <p:nvCxnSpPr>
            <p:cNvPr id="171" name="Google Shape;171;p20"/>
            <p:cNvCxnSpPr/>
            <p:nvPr/>
          </p:nvCxnSpPr>
          <p:spPr>
            <a:xfrm>
              <a:off x="-725" y="3793800"/>
              <a:ext cx="939900" cy="0"/>
            </a:xfrm>
            <a:prstGeom prst="straightConnector1">
              <a:avLst/>
            </a:prstGeom>
            <a:noFill/>
            <a:ln cap="flat" cmpd="sng" w="19050">
              <a:solidFill>
                <a:schemeClr val="dk1"/>
              </a:solidFill>
              <a:prstDash val="solid"/>
              <a:round/>
              <a:headEnd len="med" w="med" type="none"/>
              <a:tailEnd len="med" w="med" type="none"/>
            </a:ln>
          </p:spPr>
        </p:cxnSp>
      </p:grpSp>
      <p:grpSp>
        <p:nvGrpSpPr>
          <p:cNvPr id="172" name="Google Shape;172;p20"/>
          <p:cNvGrpSpPr/>
          <p:nvPr/>
        </p:nvGrpSpPr>
        <p:grpSpPr>
          <a:xfrm>
            <a:off x="232200" y="232800"/>
            <a:ext cx="8988300" cy="5000100"/>
            <a:chOff x="232200" y="232800"/>
            <a:chExt cx="8988300" cy="5000100"/>
          </a:xfrm>
        </p:grpSpPr>
        <p:sp>
          <p:nvSpPr>
            <p:cNvPr id="173" name="Google Shape;173;p20"/>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 name="Google Shape;174;p20"/>
            <p:cNvCxnSpPr/>
            <p:nvPr/>
          </p:nvCxnSpPr>
          <p:spPr>
            <a:xfrm rot="10800000">
              <a:off x="8911200" y="232800"/>
              <a:ext cx="309300" cy="0"/>
            </a:xfrm>
            <a:prstGeom prst="straightConnector1">
              <a:avLst/>
            </a:prstGeom>
            <a:noFill/>
            <a:ln cap="flat" cmpd="sng" w="19050">
              <a:solidFill>
                <a:schemeClr val="dk1"/>
              </a:solidFill>
              <a:prstDash val="solid"/>
              <a:round/>
              <a:headEnd len="med" w="med" type="none"/>
              <a:tailEnd len="med" w="med" type="none"/>
            </a:ln>
          </p:spPr>
        </p:cxnSp>
        <p:cxnSp>
          <p:nvCxnSpPr>
            <p:cNvPr id="175" name="Google Shape;175;p20"/>
            <p:cNvCxnSpPr/>
            <p:nvPr/>
          </p:nvCxnSpPr>
          <p:spPr>
            <a:xfrm>
              <a:off x="233525" y="4917300"/>
              <a:ext cx="0" cy="315600"/>
            </a:xfrm>
            <a:prstGeom prst="straightConnector1">
              <a:avLst/>
            </a:prstGeom>
            <a:noFill/>
            <a:ln cap="flat" cmpd="sng" w="19050">
              <a:solidFill>
                <a:schemeClr val="dk1"/>
              </a:solidFill>
              <a:prstDash val="solid"/>
              <a:round/>
              <a:headEnd len="med" w="med" type="none"/>
              <a:tailEnd len="med" w="med" type="none"/>
            </a:ln>
          </p:spPr>
        </p:cxnSp>
      </p:grpSp>
      <p:sp>
        <p:nvSpPr>
          <p:cNvPr id="176" name="Google Shape;176;p20"/>
          <p:cNvSpPr txBox="1"/>
          <p:nvPr>
            <p:ph type="title"/>
          </p:nvPr>
        </p:nvSpPr>
        <p:spPr>
          <a:xfrm>
            <a:off x="713225"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7" name="Google Shape;177;p20"/>
          <p:cNvSpPr txBox="1"/>
          <p:nvPr>
            <p:ph idx="1" type="subTitle"/>
          </p:nvPr>
        </p:nvSpPr>
        <p:spPr>
          <a:xfrm>
            <a:off x="1731050" y="1640570"/>
            <a:ext cx="6613200" cy="530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78" name="Google Shape;178;p20"/>
          <p:cNvSpPr txBox="1"/>
          <p:nvPr>
            <p:ph idx="2" type="subTitle"/>
          </p:nvPr>
        </p:nvSpPr>
        <p:spPr>
          <a:xfrm>
            <a:off x="1731050" y="2800360"/>
            <a:ext cx="66132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79" name="Google Shape;179;p20"/>
          <p:cNvSpPr txBox="1"/>
          <p:nvPr>
            <p:ph idx="3" type="subTitle"/>
          </p:nvPr>
        </p:nvSpPr>
        <p:spPr>
          <a:xfrm>
            <a:off x="1731050" y="3957450"/>
            <a:ext cx="66132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0" name="Google Shape;180;p20"/>
          <p:cNvSpPr txBox="1"/>
          <p:nvPr>
            <p:ph idx="4" type="subTitle"/>
          </p:nvPr>
        </p:nvSpPr>
        <p:spPr>
          <a:xfrm>
            <a:off x="1731050" y="1241275"/>
            <a:ext cx="6613200" cy="530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81" name="Google Shape;181;p20"/>
          <p:cNvSpPr txBox="1"/>
          <p:nvPr>
            <p:ph idx="5" type="subTitle"/>
          </p:nvPr>
        </p:nvSpPr>
        <p:spPr>
          <a:xfrm>
            <a:off x="1731050" y="2395400"/>
            <a:ext cx="66132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182" name="Google Shape;182;p20"/>
          <p:cNvSpPr txBox="1"/>
          <p:nvPr>
            <p:ph idx="6" type="subTitle"/>
          </p:nvPr>
        </p:nvSpPr>
        <p:spPr>
          <a:xfrm>
            <a:off x="1731050" y="3546826"/>
            <a:ext cx="66132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83" name="Shape 183"/>
        <p:cNvGrpSpPr/>
        <p:nvPr/>
      </p:nvGrpSpPr>
      <p:grpSpPr>
        <a:xfrm>
          <a:off x="0" y="0"/>
          <a:ext cx="0" cy="0"/>
          <a:chOff x="0" y="0"/>
          <a:chExt cx="0" cy="0"/>
        </a:xfrm>
      </p:grpSpPr>
      <p:sp>
        <p:nvSpPr>
          <p:cNvPr id="184" name="Google Shape;184;p21"/>
          <p:cNvSpPr/>
          <p:nvPr/>
        </p:nvSpPr>
        <p:spPr>
          <a:xfrm>
            <a:off x="8240650" y="-9265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21"/>
          <p:cNvGrpSpPr/>
          <p:nvPr/>
        </p:nvGrpSpPr>
        <p:grpSpPr>
          <a:xfrm>
            <a:off x="232200" y="-60100"/>
            <a:ext cx="9070200" cy="4977400"/>
            <a:chOff x="232200" y="-60100"/>
            <a:chExt cx="9070200" cy="4977400"/>
          </a:xfrm>
        </p:grpSpPr>
        <p:sp>
          <p:nvSpPr>
            <p:cNvPr id="186" name="Google Shape;186;p21"/>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 name="Google Shape;187;p21"/>
            <p:cNvCxnSpPr/>
            <p:nvPr/>
          </p:nvCxnSpPr>
          <p:spPr>
            <a:xfrm rot="10800000">
              <a:off x="232200" y="-60100"/>
              <a:ext cx="0" cy="296700"/>
            </a:xfrm>
            <a:prstGeom prst="straightConnector1">
              <a:avLst/>
            </a:prstGeom>
            <a:noFill/>
            <a:ln cap="flat" cmpd="sng" w="19050">
              <a:solidFill>
                <a:schemeClr val="dk1"/>
              </a:solidFill>
              <a:prstDash val="solid"/>
              <a:round/>
              <a:headEnd len="med" w="med" type="none"/>
              <a:tailEnd len="med" w="med" type="none"/>
            </a:ln>
          </p:spPr>
        </p:cxnSp>
        <p:cxnSp>
          <p:nvCxnSpPr>
            <p:cNvPr id="188" name="Google Shape;188;p21"/>
            <p:cNvCxnSpPr/>
            <p:nvPr/>
          </p:nvCxnSpPr>
          <p:spPr>
            <a:xfrm>
              <a:off x="8904900" y="4917300"/>
              <a:ext cx="397500" cy="0"/>
            </a:xfrm>
            <a:prstGeom prst="straightConnector1">
              <a:avLst/>
            </a:prstGeom>
            <a:noFill/>
            <a:ln cap="flat" cmpd="sng" w="19050">
              <a:solidFill>
                <a:schemeClr val="dk1"/>
              </a:solidFill>
              <a:prstDash val="solid"/>
              <a:round/>
              <a:headEnd len="med" w="med" type="none"/>
              <a:tailEnd len="med" w="med" type="none"/>
            </a:ln>
          </p:spPr>
        </p:cxnSp>
      </p:grpSp>
      <p:sp>
        <p:nvSpPr>
          <p:cNvPr id="189" name="Google Shape;189;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0" name="Google Shape;190;p21"/>
          <p:cNvSpPr txBox="1"/>
          <p:nvPr>
            <p:ph idx="1" type="subTitle"/>
          </p:nvPr>
        </p:nvSpPr>
        <p:spPr>
          <a:xfrm>
            <a:off x="2032350" y="1565625"/>
            <a:ext cx="48768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91" name="Google Shape;191;p21"/>
          <p:cNvSpPr txBox="1"/>
          <p:nvPr>
            <p:ph idx="2" type="subTitle"/>
          </p:nvPr>
        </p:nvSpPr>
        <p:spPr>
          <a:xfrm>
            <a:off x="2641957" y="2723563"/>
            <a:ext cx="48768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92" name="Google Shape;192;p21"/>
          <p:cNvSpPr txBox="1"/>
          <p:nvPr>
            <p:ph idx="3" type="subTitle"/>
          </p:nvPr>
        </p:nvSpPr>
        <p:spPr>
          <a:xfrm>
            <a:off x="3251557" y="3881500"/>
            <a:ext cx="48768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93" name="Google Shape;193;p21"/>
          <p:cNvSpPr txBox="1"/>
          <p:nvPr>
            <p:ph idx="4" type="subTitle"/>
          </p:nvPr>
        </p:nvSpPr>
        <p:spPr>
          <a:xfrm>
            <a:off x="2032350" y="1253625"/>
            <a:ext cx="4876800" cy="427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p:txBody>
      </p:sp>
      <p:sp>
        <p:nvSpPr>
          <p:cNvPr id="194" name="Google Shape;194;p21"/>
          <p:cNvSpPr txBox="1"/>
          <p:nvPr>
            <p:ph idx="5" type="subTitle"/>
          </p:nvPr>
        </p:nvSpPr>
        <p:spPr>
          <a:xfrm>
            <a:off x="2641950" y="2412275"/>
            <a:ext cx="48768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p:txBody>
      </p:sp>
      <p:sp>
        <p:nvSpPr>
          <p:cNvPr id="195" name="Google Shape;195;p21"/>
          <p:cNvSpPr txBox="1"/>
          <p:nvPr>
            <p:ph idx="6" type="subTitle"/>
          </p:nvPr>
        </p:nvSpPr>
        <p:spPr>
          <a:xfrm>
            <a:off x="3251550" y="3570925"/>
            <a:ext cx="48768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6" name="Shape 196"/>
        <p:cNvGrpSpPr/>
        <p:nvPr/>
      </p:nvGrpSpPr>
      <p:grpSpPr>
        <a:xfrm>
          <a:off x="0" y="0"/>
          <a:ext cx="0" cy="0"/>
          <a:chOff x="0" y="0"/>
          <a:chExt cx="0" cy="0"/>
        </a:xfrm>
      </p:grpSpPr>
      <p:sp>
        <p:nvSpPr>
          <p:cNvPr id="197" name="Google Shape;197;p22"/>
          <p:cNvSpPr/>
          <p:nvPr/>
        </p:nvSpPr>
        <p:spPr>
          <a:xfrm>
            <a:off x="8141975" y="-88657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 name="Google Shape;198;p22"/>
          <p:cNvGrpSpPr/>
          <p:nvPr/>
        </p:nvGrpSpPr>
        <p:grpSpPr>
          <a:xfrm>
            <a:off x="-19050" y="232800"/>
            <a:ext cx="9189150" cy="4684500"/>
            <a:chOff x="-19050" y="232800"/>
            <a:chExt cx="9189150" cy="4684500"/>
          </a:xfrm>
        </p:grpSpPr>
        <p:sp>
          <p:nvSpPr>
            <p:cNvPr id="199" name="Google Shape;199;p22"/>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2"/>
            <p:cNvCxnSpPr/>
            <p:nvPr/>
          </p:nvCxnSpPr>
          <p:spPr>
            <a:xfrm rot="10800000">
              <a:off x="-19050" y="2328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201" name="Google Shape;201;p22"/>
            <p:cNvCxnSpPr/>
            <p:nvPr/>
          </p:nvCxnSpPr>
          <p:spPr>
            <a:xfrm rot="10800000">
              <a:off x="8911200" y="4917300"/>
              <a:ext cx="258900" cy="0"/>
            </a:xfrm>
            <a:prstGeom prst="straightConnector1">
              <a:avLst/>
            </a:prstGeom>
            <a:noFill/>
            <a:ln cap="flat" cmpd="sng" w="19050">
              <a:solidFill>
                <a:schemeClr val="dk1"/>
              </a:solidFill>
              <a:prstDash val="solid"/>
              <a:round/>
              <a:headEnd len="med" w="med" type="none"/>
              <a:tailEnd len="med" w="med" type="none"/>
            </a:ln>
          </p:spPr>
        </p:cxnSp>
      </p:grpSp>
      <p:sp>
        <p:nvSpPr>
          <p:cNvPr id="202" name="Google Shape;202;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3" name="Google Shape;203;p22"/>
          <p:cNvSpPr txBox="1"/>
          <p:nvPr>
            <p:ph idx="1" type="subTitle"/>
          </p:nvPr>
        </p:nvSpPr>
        <p:spPr>
          <a:xfrm>
            <a:off x="1762571" y="1752725"/>
            <a:ext cx="26874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4" name="Google Shape;204;p22"/>
          <p:cNvSpPr txBox="1"/>
          <p:nvPr>
            <p:ph idx="2" type="subTitle"/>
          </p:nvPr>
        </p:nvSpPr>
        <p:spPr>
          <a:xfrm>
            <a:off x="5132667" y="1752725"/>
            <a:ext cx="26874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5" name="Google Shape;205;p22"/>
          <p:cNvSpPr txBox="1"/>
          <p:nvPr>
            <p:ph idx="3" type="subTitle"/>
          </p:nvPr>
        </p:nvSpPr>
        <p:spPr>
          <a:xfrm>
            <a:off x="1762571" y="3336725"/>
            <a:ext cx="26874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6" name="Google Shape;206;p22"/>
          <p:cNvSpPr txBox="1"/>
          <p:nvPr>
            <p:ph idx="4" type="subTitle"/>
          </p:nvPr>
        </p:nvSpPr>
        <p:spPr>
          <a:xfrm>
            <a:off x="5132667" y="3336725"/>
            <a:ext cx="26874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7" name="Google Shape;207;p22"/>
          <p:cNvSpPr txBox="1"/>
          <p:nvPr>
            <p:ph idx="5" type="subTitle"/>
          </p:nvPr>
        </p:nvSpPr>
        <p:spPr>
          <a:xfrm>
            <a:off x="1762571" y="1524200"/>
            <a:ext cx="2687400" cy="3549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08" name="Google Shape;208;p22"/>
          <p:cNvSpPr txBox="1"/>
          <p:nvPr>
            <p:ph idx="6" type="subTitle"/>
          </p:nvPr>
        </p:nvSpPr>
        <p:spPr>
          <a:xfrm>
            <a:off x="5132667" y="1524200"/>
            <a:ext cx="2687400" cy="3549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09" name="Google Shape;209;p22"/>
          <p:cNvSpPr txBox="1"/>
          <p:nvPr>
            <p:ph idx="7" type="subTitle"/>
          </p:nvPr>
        </p:nvSpPr>
        <p:spPr>
          <a:xfrm>
            <a:off x="1762571" y="3091838"/>
            <a:ext cx="2687400" cy="354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10" name="Google Shape;210;p22"/>
          <p:cNvSpPr txBox="1"/>
          <p:nvPr>
            <p:ph idx="8" type="subTitle"/>
          </p:nvPr>
        </p:nvSpPr>
        <p:spPr>
          <a:xfrm>
            <a:off x="5132667" y="3091838"/>
            <a:ext cx="2687400" cy="354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11" name="Shape 211"/>
        <p:cNvGrpSpPr/>
        <p:nvPr/>
      </p:nvGrpSpPr>
      <p:grpSpPr>
        <a:xfrm>
          <a:off x="0" y="0"/>
          <a:ext cx="0" cy="0"/>
          <a:chOff x="0" y="0"/>
          <a:chExt cx="0" cy="0"/>
        </a:xfrm>
      </p:grpSpPr>
      <p:sp>
        <p:nvSpPr>
          <p:cNvPr id="212" name="Google Shape;212;p23"/>
          <p:cNvSpPr/>
          <p:nvPr/>
        </p:nvSpPr>
        <p:spPr>
          <a:xfrm>
            <a:off x="8141975" y="-88657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 name="Google Shape;213;p23"/>
          <p:cNvGrpSpPr/>
          <p:nvPr/>
        </p:nvGrpSpPr>
        <p:grpSpPr>
          <a:xfrm>
            <a:off x="232200" y="232800"/>
            <a:ext cx="8988300" cy="5000100"/>
            <a:chOff x="232200" y="232800"/>
            <a:chExt cx="8988300" cy="5000100"/>
          </a:xfrm>
        </p:grpSpPr>
        <p:sp>
          <p:nvSpPr>
            <p:cNvPr id="214" name="Google Shape;214;p23"/>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23"/>
            <p:cNvCxnSpPr/>
            <p:nvPr/>
          </p:nvCxnSpPr>
          <p:spPr>
            <a:xfrm rot="10800000">
              <a:off x="8911200" y="232800"/>
              <a:ext cx="309300" cy="0"/>
            </a:xfrm>
            <a:prstGeom prst="straightConnector1">
              <a:avLst/>
            </a:prstGeom>
            <a:noFill/>
            <a:ln cap="flat" cmpd="sng" w="19050">
              <a:solidFill>
                <a:schemeClr val="dk1"/>
              </a:solidFill>
              <a:prstDash val="solid"/>
              <a:round/>
              <a:headEnd len="med" w="med" type="none"/>
              <a:tailEnd len="med" w="med" type="none"/>
            </a:ln>
          </p:spPr>
        </p:cxnSp>
        <p:cxnSp>
          <p:nvCxnSpPr>
            <p:cNvPr id="216" name="Google Shape;216;p23"/>
            <p:cNvCxnSpPr/>
            <p:nvPr/>
          </p:nvCxnSpPr>
          <p:spPr>
            <a:xfrm>
              <a:off x="233525" y="4917300"/>
              <a:ext cx="0" cy="315600"/>
            </a:xfrm>
            <a:prstGeom prst="straightConnector1">
              <a:avLst/>
            </a:prstGeom>
            <a:noFill/>
            <a:ln cap="flat" cmpd="sng" w="19050">
              <a:solidFill>
                <a:schemeClr val="dk1"/>
              </a:solidFill>
              <a:prstDash val="solid"/>
              <a:round/>
              <a:headEnd len="med" w="med" type="none"/>
              <a:tailEnd len="med" w="med" type="none"/>
            </a:ln>
          </p:spPr>
        </p:cxnSp>
      </p:grpSp>
      <p:sp>
        <p:nvSpPr>
          <p:cNvPr id="217" name="Google Shape;217;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23"/>
          <p:cNvSpPr txBox="1"/>
          <p:nvPr>
            <p:ph idx="1" type="subTitle"/>
          </p:nvPr>
        </p:nvSpPr>
        <p:spPr>
          <a:xfrm>
            <a:off x="874134" y="2145979"/>
            <a:ext cx="21996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9" name="Google Shape;219;p23"/>
          <p:cNvSpPr txBox="1"/>
          <p:nvPr>
            <p:ph idx="2" type="subTitle"/>
          </p:nvPr>
        </p:nvSpPr>
        <p:spPr>
          <a:xfrm>
            <a:off x="3319800" y="2145979"/>
            <a:ext cx="21996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0" name="Google Shape;220;p23"/>
          <p:cNvSpPr txBox="1"/>
          <p:nvPr>
            <p:ph idx="3" type="subTitle"/>
          </p:nvPr>
        </p:nvSpPr>
        <p:spPr>
          <a:xfrm>
            <a:off x="874134" y="3635775"/>
            <a:ext cx="21996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1" name="Google Shape;221;p23"/>
          <p:cNvSpPr txBox="1"/>
          <p:nvPr>
            <p:ph idx="4" type="subTitle"/>
          </p:nvPr>
        </p:nvSpPr>
        <p:spPr>
          <a:xfrm>
            <a:off x="3319800" y="3635775"/>
            <a:ext cx="21996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2" name="Google Shape;222;p23"/>
          <p:cNvSpPr txBox="1"/>
          <p:nvPr>
            <p:ph idx="5" type="subTitle"/>
          </p:nvPr>
        </p:nvSpPr>
        <p:spPr>
          <a:xfrm>
            <a:off x="5765466" y="2145979"/>
            <a:ext cx="21996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3" name="Google Shape;223;p23"/>
          <p:cNvSpPr txBox="1"/>
          <p:nvPr>
            <p:ph idx="6" type="subTitle"/>
          </p:nvPr>
        </p:nvSpPr>
        <p:spPr>
          <a:xfrm>
            <a:off x="5765466" y="3635775"/>
            <a:ext cx="21996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4" name="Google Shape;224;p23"/>
          <p:cNvSpPr txBox="1"/>
          <p:nvPr>
            <p:ph idx="7" type="subTitle"/>
          </p:nvPr>
        </p:nvSpPr>
        <p:spPr>
          <a:xfrm>
            <a:off x="872334" y="1769325"/>
            <a:ext cx="2203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25" name="Google Shape;225;p23"/>
          <p:cNvSpPr txBox="1"/>
          <p:nvPr>
            <p:ph idx="8" type="subTitle"/>
          </p:nvPr>
        </p:nvSpPr>
        <p:spPr>
          <a:xfrm>
            <a:off x="3318000" y="1769325"/>
            <a:ext cx="2203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26" name="Google Shape;226;p23"/>
          <p:cNvSpPr txBox="1"/>
          <p:nvPr>
            <p:ph idx="9" type="subTitle"/>
          </p:nvPr>
        </p:nvSpPr>
        <p:spPr>
          <a:xfrm>
            <a:off x="5763666" y="1769325"/>
            <a:ext cx="2203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27" name="Google Shape;227;p23"/>
          <p:cNvSpPr txBox="1"/>
          <p:nvPr>
            <p:ph idx="13" type="subTitle"/>
          </p:nvPr>
        </p:nvSpPr>
        <p:spPr>
          <a:xfrm>
            <a:off x="872334" y="3258926"/>
            <a:ext cx="2203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28" name="Google Shape;228;p23"/>
          <p:cNvSpPr txBox="1"/>
          <p:nvPr>
            <p:ph idx="14" type="subTitle"/>
          </p:nvPr>
        </p:nvSpPr>
        <p:spPr>
          <a:xfrm>
            <a:off x="3318000" y="3258926"/>
            <a:ext cx="2203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
        <p:nvSpPr>
          <p:cNvPr id="229" name="Google Shape;229;p23"/>
          <p:cNvSpPr txBox="1"/>
          <p:nvPr>
            <p:ph idx="15" type="subTitle"/>
          </p:nvPr>
        </p:nvSpPr>
        <p:spPr>
          <a:xfrm>
            <a:off x="5763666" y="3258926"/>
            <a:ext cx="2203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30" name="Shape 230"/>
        <p:cNvGrpSpPr/>
        <p:nvPr/>
      </p:nvGrpSpPr>
      <p:grpSpPr>
        <a:xfrm>
          <a:off x="0" y="0"/>
          <a:ext cx="0" cy="0"/>
          <a:chOff x="0" y="0"/>
          <a:chExt cx="0" cy="0"/>
        </a:xfrm>
      </p:grpSpPr>
      <p:sp>
        <p:nvSpPr>
          <p:cNvPr id="231" name="Google Shape;231;p24"/>
          <p:cNvSpPr/>
          <p:nvPr/>
        </p:nvSpPr>
        <p:spPr>
          <a:xfrm>
            <a:off x="6309175" y="2486975"/>
            <a:ext cx="4243200" cy="4243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 name="Google Shape;232;p24"/>
          <p:cNvGrpSpPr/>
          <p:nvPr/>
        </p:nvGrpSpPr>
        <p:grpSpPr>
          <a:xfrm>
            <a:off x="-69525" y="539500"/>
            <a:ext cx="9455500" cy="4069200"/>
            <a:chOff x="-69525" y="539500"/>
            <a:chExt cx="9455500" cy="4069200"/>
          </a:xfrm>
        </p:grpSpPr>
        <p:grpSp>
          <p:nvGrpSpPr>
            <p:cNvPr id="233" name="Google Shape;233;p24"/>
            <p:cNvGrpSpPr/>
            <p:nvPr/>
          </p:nvGrpSpPr>
          <p:grpSpPr>
            <a:xfrm>
              <a:off x="713225" y="539500"/>
              <a:ext cx="8672750" cy="4069200"/>
              <a:chOff x="713225" y="539500"/>
              <a:chExt cx="8672750" cy="4069200"/>
            </a:xfrm>
          </p:grpSpPr>
          <p:sp>
            <p:nvSpPr>
              <p:cNvPr id="234" name="Google Shape;234;p24"/>
              <p:cNvSpPr/>
              <p:nvPr/>
            </p:nvSpPr>
            <p:spPr>
              <a:xfrm>
                <a:off x="713225" y="539500"/>
                <a:ext cx="7717500" cy="4069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5" name="Google Shape;235;p24"/>
              <p:cNvCxnSpPr/>
              <p:nvPr/>
            </p:nvCxnSpPr>
            <p:spPr>
              <a:xfrm>
                <a:off x="8407675" y="4608575"/>
                <a:ext cx="978300" cy="0"/>
              </a:xfrm>
              <a:prstGeom prst="straightConnector1">
                <a:avLst/>
              </a:prstGeom>
              <a:noFill/>
              <a:ln cap="flat" cmpd="sng" w="19050">
                <a:solidFill>
                  <a:schemeClr val="dk1"/>
                </a:solidFill>
                <a:prstDash val="solid"/>
                <a:round/>
                <a:headEnd len="med" w="med" type="none"/>
                <a:tailEnd len="med" w="med" type="none"/>
              </a:ln>
            </p:spPr>
          </p:cxnSp>
        </p:grpSp>
        <p:cxnSp>
          <p:nvCxnSpPr>
            <p:cNvPr id="236" name="Google Shape;236;p24"/>
            <p:cNvCxnSpPr/>
            <p:nvPr/>
          </p:nvCxnSpPr>
          <p:spPr>
            <a:xfrm rot="10800000">
              <a:off x="-69525" y="539500"/>
              <a:ext cx="789000" cy="0"/>
            </a:xfrm>
            <a:prstGeom prst="straightConnector1">
              <a:avLst/>
            </a:prstGeom>
            <a:noFill/>
            <a:ln cap="flat" cmpd="sng" w="19050">
              <a:solidFill>
                <a:schemeClr val="dk1"/>
              </a:solidFill>
              <a:prstDash val="solid"/>
              <a:round/>
              <a:headEnd len="med" w="med" type="none"/>
              <a:tailEnd len="med" w="med" type="none"/>
            </a:ln>
          </p:spPr>
        </p:cxnSp>
      </p:grpSp>
      <p:sp>
        <p:nvSpPr>
          <p:cNvPr id="237" name="Google Shape;237;p24"/>
          <p:cNvSpPr txBox="1"/>
          <p:nvPr>
            <p:ph hasCustomPrompt="1" type="title"/>
          </p:nvPr>
        </p:nvSpPr>
        <p:spPr>
          <a:xfrm>
            <a:off x="707575" y="539500"/>
            <a:ext cx="4051200" cy="768900"/>
          </a:xfrm>
          <a:prstGeom prst="rect">
            <a:avLst/>
          </a:prstGeom>
          <a:solidFill>
            <a:schemeClr val="dk1"/>
          </a:solidFill>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38" name="Google Shape;238;p24"/>
          <p:cNvSpPr txBox="1"/>
          <p:nvPr>
            <p:ph idx="1" type="subTitle"/>
          </p:nvPr>
        </p:nvSpPr>
        <p:spPr>
          <a:xfrm>
            <a:off x="707575" y="1308392"/>
            <a:ext cx="40512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39" name="Google Shape;239;p24"/>
          <p:cNvSpPr txBox="1"/>
          <p:nvPr>
            <p:ph hasCustomPrompt="1" idx="2" type="title"/>
          </p:nvPr>
        </p:nvSpPr>
        <p:spPr>
          <a:xfrm>
            <a:off x="707575" y="1901349"/>
            <a:ext cx="4051200" cy="768900"/>
          </a:xfrm>
          <a:prstGeom prst="rect">
            <a:avLst/>
          </a:prstGeom>
          <a:solidFill>
            <a:schemeClr val="dk1"/>
          </a:solidFill>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0" name="Google Shape;240;p24"/>
          <p:cNvSpPr txBox="1"/>
          <p:nvPr>
            <p:ph idx="3" type="subTitle"/>
          </p:nvPr>
        </p:nvSpPr>
        <p:spPr>
          <a:xfrm>
            <a:off x="707575" y="2670245"/>
            <a:ext cx="40512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41" name="Google Shape;241;p24"/>
          <p:cNvSpPr txBox="1"/>
          <p:nvPr>
            <p:ph hasCustomPrompt="1" idx="4" type="title"/>
          </p:nvPr>
        </p:nvSpPr>
        <p:spPr>
          <a:xfrm>
            <a:off x="707575" y="3263198"/>
            <a:ext cx="4051200" cy="768900"/>
          </a:xfrm>
          <a:prstGeom prst="rect">
            <a:avLst/>
          </a:prstGeom>
          <a:solidFill>
            <a:schemeClr val="dk1"/>
          </a:solidFill>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2" name="Google Shape;242;p24"/>
          <p:cNvSpPr txBox="1"/>
          <p:nvPr>
            <p:ph idx="5" type="subTitle"/>
          </p:nvPr>
        </p:nvSpPr>
        <p:spPr>
          <a:xfrm>
            <a:off x="707575" y="4032098"/>
            <a:ext cx="40512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43" name="Shape 243"/>
        <p:cNvGrpSpPr/>
        <p:nvPr/>
      </p:nvGrpSpPr>
      <p:grpSpPr>
        <a:xfrm>
          <a:off x="0" y="0"/>
          <a:ext cx="0" cy="0"/>
          <a:chOff x="0" y="0"/>
          <a:chExt cx="0" cy="0"/>
        </a:xfrm>
      </p:grpSpPr>
      <p:sp>
        <p:nvSpPr>
          <p:cNvPr id="244" name="Google Shape;244;p25"/>
          <p:cNvSpPr/>
          <p:nvPr/>
        </p:nvSpPr>
        <p:spPr>
          <a:xfrm>
            <a:off x="8240650" y="-9265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 name="Google Shape;245;p25"/>
          <p:cNvGrpSpPr/>
          <p:nvPr/>
        </p:nvGrpSpPr>
        <p:grpSpPr>
          <a:xfrm>
            <a:off x="-19050" y="232800"/>
            <a:ext cx="9189150" cy="4684500"/>
            <a:chOff x="-19050" y="232800"/>
            <a:chExt cx="9189150" cy="4684500"/>
          </a:xfrm>
        </p:grpSpPr>
        <p:sp>
          <p:nvSpPr>
            <p:cNvPr id="246" name="Google Shape;246;p25"/>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 name="Google Shape;247;p25"/>
            <p:cNvCxnSpPr/>
            <p:nvPr/>
          </p:nvCxnSpPr>
          <p:spPr>
            <a:xfrm rot="10800000">
              <a:off x="-19050" y="4917300"/>
              <a:ext cx="258900" cy="0"/>
            </a:xfrm>
            <a:prstGeom prst="straightConnector1">
              <a:avLst/>
            </a:prstGeom>
            <a:noFill/>
            <a:ln cap="flat" cmpd="sng" w="19050">
              <a:solidFill>
                <a:schemeClr val="dk1"/>
              </a:solidFill>
              <a:prstDash val="solid"/>
              <a:round/>
              <a:headEnd len="med" w="med" type="none"/>
              <a:tailEnd len="med" w="med" type="none"/>
            </a:ln>
          </p:spPr>
        </p:cxnSp>
        <p:cxnSp>
          <p:nvCxnSpPr>
            <p:cNvPr id="248" name="Google Shape;248;p25"/>
            <p:cNvCxnSpPr/>
            <p:nvPr/>
          </p:nvCxnSpPr>
          <p:spPr>
            <a:xfrm rot="10800000">
              <a:off x="8911200" y="232800"/>
              <a:ext cx="258900" cy="0"/>
            </a:xfrm>
            <a:prstGeom prst="straightConnector1">
              <a:avLst/>
            </a:prstGeom>
            <a:noFill/>
            <a:ln cap="flat" cmpd="sng" w="19050">
              <a:solidFill>
                <a:schemeClr val="dk1"/>
              </a:solidFill>
              <a:prstDash val="solid"/>
              <a:round/>
              <a:headEnd len="med" w="med" type="none"/>
              <a:tailEnd len="med" w="med" type="none"/>
            </a:ln>
          </p:spPr>
        </p:cxnSp>
      </p:grpSp>
      <p:sp>
        <p:nvSpPr>
          <p:cNvPr id="249" name="Google Shape;249;p25"/>
          <p:cNvSpPr txBox="1"/>
          <p:nvPr>
            <p:ph type="title"/>
          </p:nvPr>
        </p:nvSpPr>
        <p:spPr>
          <a:xfrm>
            <a:off x="722376" y="445025"/>
            <a:ext cx="7708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250" name="Shape 250"/>
        <p:cNvGrpSpPr/>
        <p:nvPr/>
      </p:nvGrpSpPr>
      <p:grpSpPr>
        <a:xfrm>
          <a:off x="0" y="0"/>
          <a:ext cx="0" cy="0"/>
          <a:chOff x="0" y="0"/>
          <a:chExt cx="0" cy="0"/>
        </a:xfrm>
      </p:grpSpPr>
      <p:sp>
        <p:nvSpPr>
          <p:cNvPr id="251" name="Google Shape;251;p26"/>
          <p:cNvSpPr/>
          <p:nvPr/>
        </p:nvSpPr>
        <p:spPr>
          <a:xfrm>
            <a:off x="-9243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 name="Google Shape;252;p26"/>
          <p:cNvGrpSpPr/>
          <p:nvPr/>
        </p:nvGrpSpPr>
        <p:grpSpPr>
          <a:xfrm>
            <a:off x="232200" y="232800"/>
            <a:ext cx="8988300" cy="4964300"/>
            <a:chOff x="232200" y="232800"/>
            <a:chExt cx="8988300" cy="4964300"/>
          </a:xfrm>
        </p:grpSpPr>
        <p:sp>
          <p:nvSpPr>
            <p:cNvPr id="253" name="Google Shape;253;p26"/>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4" name="Google Shape;254;p26"/>
            <p:cNvCxnSpPr/>
            <p:nvPr/>
          </p:nvCxnSpPr>
          <p:spPr>
            <a:xfrm rot="10800000">
              <a:off x="8911200" y="232800"/>
              <a:ext cx="309300" cy="0"/>
            </a:xfrm>
            <a:prstGeom prst="straightConnector1">
              <a:avLst/>
            </a:prstGeom>
            <a:noFill/>
            <a:ln cap="flat" cmpd="sng" w="19050">
              <a:solidFill>
                <a:schemeClr val="dk1"/>
              </a:solidFill>
              <a:prstDash val="solid"/>
              <a:round/>
              <a:headEnd len="med" w="med" type="none"/>
              <a:tailEnd len="med" w="med" type="none"/>
            </a:ln>
          </p:spPr>
        </p:cxnSp>
        <p:cxnSp>
          <p:nvCxnSpPr>
            <p:cNvPr id="255" name="Google Shape;255;p26"/>
            <p:cNvCxnSpPr/>
            <p:nvPr/>
          </p:nvCxnSpPr>
          <p:spPr>
            <a:xfrm rot="10800000">
              <a:off x="232200" y="4890500"/>
              <a:ext cx="0" cy="306600"/>
            </a:xfrm>
            <a:prstGeom prst="straightConnector1">
              <a:avLst/>
            </a:prstGeom>
            <a:noFill/>
            <a:ln cap="flat" cmpd="sng" w="19050">
              <a:solidFill>
                <a:schemeClr val="dk1"/>
              </a:solidFill>
              <a:prstDash val="solid"/>
              <a:round/>
              <a:headEnd len="med" w="med" type="none"/>
              <a:tailEnd len="med" w="med" type="none"/>
            </a:ln>
          </p:spPr>
        </p:cxnSp>
      </p:grpSp>
      <p:sp>
        <p:nvSpPr>
          <p:cNvPr id="256" name="Google Shape;256;p26"/>
          <p:cNvSpPr txBox="1"/>
          <p:nvPr>
            <p:ph type="title"/>
          </p:nvPr>
        </p:nvSpPr>
        <p:spPr>
          <a:xfrm>
            <a:off x="722376" y="445025"/>
            <a:ext cx="7708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7" name="Shape 257"/>
        <p:cNvGrpSpPr/>
        <p:nvPr/>
      </p:nvGrpSpPr>
      <p:grpSpPr>
        <a:xfrm>
          <a:off x="0" y="0"/>
          <a:ext cx="0" cy="0"/>
          <a:chOff x="0" y="0"/>
          <a:chExt cx="0" cy="0"/>
        </a:xfrm>
      </p:grpSpPr>
      <p:sp>
        <p:nvSpPr>
          <p:cNvPr id="258" name="Google Shape;258;p27"/>
          <p:cNvSpPr/>
          <p:nvPr/>
        </p:nvSpPr>
        <p:spPr>
          <a:xfrm>
            <a:off x="6677100" y="-9050"/>
            <a:ext cx="5161500" cy="51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27"/>
          <p:cNvGrpSpPr/>
          <p:nvPr/>
        </p:nvGrpSpPr>
        <p:grpSpPr>
          <a:xfrm>
            <a:off x="713223" y="-79050"/>
            <a:ext cx="8791100" cy="4687625"/>
            <a:chOff x="-669332" y="-79050"/>
            <a:chExt cx="10173707" cy="4687625"/>
          </a:xfrm>
        </p:grpSpPr>
        <p:sp>
          <p:nvSpPr>
            <p:cNvPr id="260" name="Google Shape;260;p27"/>
            <p:cNvSpPr/>
            <p:nvPr/>
          </p:nvSpPr>
          <p:spPr>
            <a:xfrm>
              <a:off x="-669325" y="533550"/>
              <a:ext cx="9100200" cy="4074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1" name="Google Shape;261;p27"/>
            <p:cNvCxnSpPr/>
            <p:nvPr/>
          </p:nvCxnSpPr>
          <p:spPr>
            <a:xfrm rot="10800000">
              <a:off x="-669332" y="-79050"/>
              <a:ext cx="0" cy="624900"/>
            </a:xfrm>
            <a:prstGeom prst="straightConnector1">
              <a:avLst/>
            </a:prstGeom>
            <a:noFill/>
            <a:ln cap="flat" cmpd="sng" w="19050">
              <a:solidFill>
                <a:schemeClr val="dk1"/>
              </a:solidFill>
              <a:prstDash val="solid"/>
              <a:round/>
              <a:headEnd len="med" w="med" type="none"/>
              <a:tailEnd len="med" w="med" type="none"/>
            </a:ln>
          </p:spPr>
        </p:cxnSp>
        <p:cxnSp>
          <p:nvCxnSpPr>
            <p:cNvPr id="262" name="Google Shape;262;p27"/>
            <p:cNvCxnSpPr/>
            <p:nvPr/>
          </p:nvCxnSpPr>
          <p:spPr>
            <a:xfrm>
              <a:off x="8425275" y="4608575"/>
              <a:ext cx="1079100" cy="0"/>
            </a:xfrm>
            <a:prstGeom prst="straightConnector1">
              <a:avLst/>
            </a:prstGeom>
            <a:noFill/>
            <a:ln cap="flat" cmpd="sng" w="19050">
              <a:solidFill>
                <a:schemeClr val="dk1"/>
              </a:solidFill>
              <a:prstDash val="solid"/>
              <a:round/>
              <a:headEnd len="med" w="med" type="none"/>
              <a:tailEnd len="med" w="med" type="none"/>
            </a:ln>
          </p:spPr>
        </p:cxnSp>
      </p:grpSp>
      <p:sp>
        <p:nvSpPr>
          <p:cNvPr id="263" name="Google Shape;263;p27"/>
          <p:cNvSpPr txBox="1"/>
          <p:nvPr>
            <p:ph type="title"/>
          </p:nvPr>
        </p:nvSpPr>
        <p:spPr>
          <a:xfrm>
            <a:off x="1094263" y="778325"/>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5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4" name="Google Shape;264;p27"/>
          <p:cNvSpPr txBox="1"/>
          <p:nvPr>
            <p:ph idx="1" type="subTitle"/>
          </p:nvPr>
        </p:nvSpPr>
        <p:spPr>
          <a:xfrm>
            <a:off x="1094225" y="1651512"/>
            <a:ext cx="4448100" cy="1224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5" name="Google Shape;265;p27"/>
          <p:cNvSpPr txBox="1"/>
          <p:nvPr/>
        </p:nvSpPr>
        <p:spPr>
          <a:xfrm>
            <a:off x="1094225" y="3383825"/>
            <a:ext cx="5797200" cy="55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lang="en-GB" sz="1200">
                <a:solidFill>
                  <a:schemeClr val="dk1"/>
                </a:solidFill>
                <a:latin typeface="Hanken Grotesk"/>
                <a:ea typeface="Hanken Grotesk"/>
                <a:cs typeface="Hanken Grotesk"/>
                <a:sym typeface="Hanken Grotesk"/>
              </a:rPr>
              <a:t>CREDITS: This presentation template was created by </a:t>
            </a:r>
            <a:r>
              <a:rPr b="1" lang="en-GB" sz="1200" u="sng">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b="1" lang="en-GB" sz="1200">
                <a:solidFill>
                  <a:schemeClr val="dk1"/>
                </a:solidFill>
                <a:latin typeface="Hanken Grotesk"/>
                <a:ea typeface="Hanken Grotesk"/>
                <a:cs typeface="Hanken Grotesk"/>
                <a:sym typeface="Hanken Grotesk"/>
              </a:rPr>
              <a:t>,</a:t>
            </a:r>
            <a:r>
              <a:rPr lang="en-GB" sz="1200">
                <a:solidFill>
                  <a:schemeClr val="dk1"/>
                </a:solidFill>
                <a:latin typeface="Hanken Grotesk"/>
                <a:ea typeface="Hanken Grotesk"/>
                <a:cs typeface="Hanken Grotesk"/>
                <a:sym typeface="Hanken Grotesk"/>
              </a:rPr>
              <a:t> and includes icons, infographics &amp; images by </a:t>
            </a:r>
            <a:r>
              <a:rPr b="1" lang="en-GB" sz="1200" u="sng">
                <a:solidFill>
                  <a:schemeClr val="dk1"/>
                </a:solidFill>
                <a:latin typeface="Hanken Grotesk"/>
                <a:ea typeface="Hanken Grotesk"/>
                <a:cs typeface="Hanken Grotesk"/>
                <a:sym typeface="Hanken Grotesk"/>
                <a:hlinkClick r:id="rId3">
                  <a:extLst>
                    <a:ext uri="{A12FA001-AC4F-418D-AE19-62706E023703}">
                      <ahyp:hlinkClr val="tx"/>
                    </a:ext>
                  </a:extLst>
                </a:hlinkClick>
              </a:rPr>
              <a:t>Freepik</a:t>
            </a:r>
            <a:r>
              <a:rPr b="1" lang="en-GB" sz="1200" u="sng">
                <a:solidFill>
                  <a:schemeClr val="dk1"/>
                </a:solidFill>
                <a:latin typeface="Hanken Grotesk"/>
                <a:ea typeface="Hanken Grotesk"/>
                <a:cs typeface="Hanken Grotesk"/>
                <a:sym typeface="Hanken Grotesk"/>
              </a:rPr>
              <a:t> </a:t>
            </a:r>
            <a:endParaRPr b="1" sz="1200" u="sng">
              <a:solidFill>
                <a:schemeClr val="dk1"/>
              </a:solidFill>
              <a:latin typeface="Hanken Grotesk"/>
              <a:ea typeface="Hanken Grotesk"/>
              <a:cs typeface="Hanken Grotesk"/>
              <a:sym typeface="Hanken Grotesk"/>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66"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cap="flat" cmpd="sng" w="19050">
                <a:solidFill>
                  <a:schemeClr val="dk1"/>
                </a:solidFill>
                <a:prstDash val="solid"/>
                <a:round/>
                <a:headEnd len="med" w="med" type="none"/>
                <a:tailEnd len="med" w="med" type="none"/>
              </a:ln>
            </p:spPr>
          </p:cxnSp>
          <p:cxnSp>
            <p:nvCxnSpPr>
              <p:cNvPr id="272" name="Google Shape;272;p28"/>
              <p:cNvCxnSpPr/>
              <p:nvPr/>
            </p:nvCxnSpPr>
            <p:spPr>
              <a:xfrm rot="10800000">
                <a:off x="8911200" y="4917300"/>
                <a:ext cx="0" cy="284100"/>
              </a:xfrm>
              <a:prstGeom prst="straightConnector1">
                <a:avLst/>
              </a:prstGeom>
              <a:noFill/>
              <a:ln cap="flat" cmpd="sng" w="19050">
                <a:solidFill>
                  <a:schemeClr val="dk1"/>
                </a:solidFill>
                <a:prstDash val="solid"/>
                <a:round/>
                <a:headEnd len="med" w="med" type="none"/>
                <a:tailEnd len="med" w="med" type="none"/>
              </a:ln>
            </p:spPr>
          </p:cxn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73"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7" name="Google Shape;277;p29"/>
            <p:cNvCxnSpPr/>
            <p:nvPr/>
          </p:nvCxnSpPr>
          <p:spPr>
            <a:xfrm>
              <a:off x="8911200" y="232800"/>
              <a:ext cx="366000" cy="0"/>
            </a:xfrm>
            <a:prstGeom prst="straightConnector1">
              <a:avLst/>
            </a:prstGeom>
            <a:noFill/>
            <a:ln cap="flat" cmpd="sng" w="19050">
              <a:solidFill>
                <a:schemeClr val="dk1"/>
              </a:solidFill>
              <a:prstDash val="solid"/>
              <a:round/>
              <a:headEnd len="med" w="med" type="none"/>
              <a:tailEnd len="med" w="med" type="none"/>
            </a:ln>
          </p:spPr>
        </p:cxnSp>
        <p:cxnSp>
          <p:nvCxnSpPr>
            <p:cNvPr id="278" name="Google Shape;278;p29"/>
            <p:cNvCxnSpPr/>
            <p:nvPr/>
          </p:nvCxnSpPr>
          <p:spPr>
            <a:xfrm>
              <a:off x="232200" y="4917300"/>
              <a:ext cx="1200" cy="291000"/>
            </a:xfrm>
            <a:prstGeom prst="straightConnector1">
              <a:avLst/>
            </a:prstGeom>
            <a:noFill/>
            <a:ln cap="flat" cmpd="sng" w="19050">
              <a:solidFill>
                <a:schemeClr val="dk1"/>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indent="-317500" lvl="1" marL="9144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indent="-317500" lvl="2" marL="13716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indent="-317500" lvl="3" marL="18288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indent="-317500" lvl="4" marL="22860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indent="-317500" lvl="5" marL="27432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indent="-317500" lvl="6" marL="32004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indent="-317500" lvl="7" marL="36576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indent="-317500" lvl="8" marL="41148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0"/>
          <p:cNvSpPr txBox="1"/>
          <p:nvPr>
            <p:ph type="ctrTitle"/>
          </p:nvPr>
        </p:nvSpPr>
        <p:spPr>
          <a:xfrm>
            <a:off x="1087125" y="1670213"/>
            <a:ext cx="58974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Smishing Detection via Fact-Checking Perspective</a:t>
            </a:r>
            <a:endParaRPr/>
          </a:p>
        </p:txBody>
      </p:sp>
      <p:sp>
        <p:nvSpPr>
          <p:cNvPr id="284" name="Google Shape;284;p30"/>
          <p:cNvSpPr txBox="1"/>
          <p:nvPr>
            <p:ph idx="1" type="subTitle"/>
          </p:nvPr>
        </p:nvSpPr>
        <p:spPr>
          <a:xfrm>
            <a:off x="1087125" y="2997500"/>
            <a:ext cx="4227900" cy="68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 agentic approach to smishing claim detection</a:t>
            </a:r>
            <a:endParaRPr/>
          </a:p>
          <a:p>
            <a:pPr indent="0" lvl="0" marL="0" rtl="0" algn="l">
              <a:spcBef>
                <a:spcPts val="0"/>
              </a:spcBef>
              <a:spcAft>
                <a:spcPts val="0"/>
              </a:spcAft>
              <a:buNone/>
            </a:pPr>
            <a:r>
              <a:rPr lang="en-GB">
                <a:solidFill>
                  <a:schemeClr val="lt2"/>
                </a:solidFill>
              </a:rPr>
              <a:t>by Phinehas Tan</a:t>
            </a:r>
            <a:endParaRPr>
              <a:solidFill>
                <a:schemeClr val="lt2"/>
              </a:solidFill>
            </a:endParaRPr>
          </a:p>
        </p:txBody>
      </p:sp>
      <p:sp>
        <p:nvSpPr>
          <p:cNvPr id="285" name="Google Shape;285;p30"/>
          <p:cNvSpPr/>
          <p:nvPr/>
        </p:nvSpPr>
        <p:spPr>
          <a:xfrm>
            <a:off x="6261575" y="3597200"/>
            <a:ext cx="444300" cy="583200"/>
          </a:xfrm>
          <a:prstGeom prst="roundRect">
            <a:avLst>
              <a:gd fmla="val 16667" name="adj"/>
            </a:avLst>
          </a:prstGeom>
          <a:solidFill>
            <a:srgbClr val="D9EAD3"/>
          </a:solidFill>
          <a:ln cap="flat" cmpd="sng" w="14275">
            <a:solidFill>
              <a:schemeClr val="dk1"/>
            </a:solidFill>
            <a:prstDash val="solid"/>
            <a:round/>
            <a:headEnd len="sm" w="sm" type="none"/>
            <a:tailEnd len="sm" w="sm" type="none"/>
          </a:ln>
        </p:spPr>
        <p:txBody>
          <a:bodyPr anchorCtr="0" anchor="ctr" bIns="45600" lIns="45600" spcFirstLastPara="1" rIns="45600" wrap="square" tIns="45600">
            <a:noAutofit/>
          </a:bodyPr>
          <a:lstStyle/>
          <a:p>
            <a:pPr indent="0" lvl="0" marL="0" rtl="0" algn="l">
              <a:spcBef>
                <a:spcPts val="0"/>
              </a:spcBef>
              <a:spcAft>
                <a:spcPts val="0"/>
              </a:spcAft>
              <a:buNone/>
            </a:pPr>
            <a:r>
              <a:t/>
            </a:r>
            <a:endParaRPr b="1" sz="876">
              <a:latin typeface="Hanken Grotesk"/>
              <a:ea typeface="Hanken Grotesk"/>
              <a:cs typeface="Hanken Grotesk"/>
              <a:sym typeface="Hanken Grotesk"/>
            </a:endParaRPr>
          </a:p>
        </p:txBody>
      </p:sp>
      <p:pic>
        <p:nvPicPr>
          <p:cNvPr id="286" name="Google Shape;286;p30"/>
          <p:cNvPicPr preferRelativeResize="0"/>
          <p:nvPr/>
        </p:nvPicPr>
        <p:blipFill>
          <a:blip r:embed="rId3">
            <a:alphaModFix/>
          </a:blip>
          <a:stretch>
            <a:fillRect/>
          </a:stretch>
        </p:blipFill>
        <p:spPr>
          <a:xfrm>
            <a:off x="6261579" y="3249600"/>
            <a:ext cx="444288" cy="444289"/>
          </a:xfrm>
          <a:prstGeom prst="rect">
            <a:avLst/>
          </a:prstGeom>
          <a:noFill/>
          <a:ln>
            <a:noFill/>
          </a:ln>
        </p:spPr>
      </p:pic>
      <p:sp>
        <p:nvSpPr>
          <p:cNvPr id="287" name="Google Shape;287;p30"/>
          <p:cNvSpPr/>
          <p:nvPr/>
        </p:nvSpPr>
        <p:spPr>
          <a:xfrm>
            <a:off x="6837300" y="3597200"/>
            <a:ext cx="444300" cy="583200"/>
          </a:xfrm>
          <a:prstGeom prst="roundRect">
            <a:avLst>
              <a:gd fmla="val 16667" name="adj"/>
            </a:avLst>
          </a:prstGeom>
          <a:solidFill>
            <a:srgbClr val="C9DAF8"/>
          </a:solidFill>
          <a:ln cap="flat" cmpd="sng" w="14275">
            <a:solidFill>
              <a:schemeClr val="dk1"/>
            </a:solidFill>
            <a:prstDash val="solid"/>
            <a:round/>
            <a:headEnd len="sm" w="sm" type="none"/>
            <a:tailEnd len="sm" w="sm" type="none"/>
          </a:ln>
        </p:spPr>
        <p:txBody>
          <a:bodyPr anchorCtr="0" anchor="ctr" bIns="45600" lIns="45600" spcFirstLastPara="1" rIns="45600" wrap="square" tIns="45600">
            <a:noAutofit/>
          </a:bodyPr>
          <a:lstStyle/>
          <a:p>
            <a:pPr indent="0" lvl="0" marL="0" rtl="0" algn="l">
              <a:spcBef>
                <a:spcPts val="0"/>
              </a:spcBef>
              <a:spcAft>
                <a:spcPts val="0"/>
              </a:spcAft>
              <a:buNone/>
            </a:pPr>
            <a:r>
              <a:t/>
            </a:r>
            <a:endParaRPr b="1" sz="876">
              <a:latin typeface="Hanken Grotesk"/>
              <a:ea typeface="Hanken Grotesk"/>
              <a:cs typeface="Hanken Grotesk"/>
              <a:sym typeface="Hanken Grotesk"/>
            </a:endParaRPr>
          </a:p>
        </p:txBody>
      </p:sp>
      <p:pic>
        <p:nvPicPr>
          <p:cNvPr id="288" name="Google Shape;288;p30"/>
          <p:cNvPicPr preferRelativeResize="0"/>
          <p:nvPr/>
        </p:nvPicPr>
        <p:blipFill>
          <a:blip r:embed="rId3">
            <a:alphaModFix/>
          </a:blip>
          <a:stretch>
            <a:fillRect/>
          </a:stretch>
        </p:blipFill>
        <p:spPr>
          <a:xfrm>
            <a:off x="6837304" y="3249600"/>
            <a:ext cx="444288" cy="444289"/>
          </a:xfrm>
          <a:prstGeom prst="rect">
            <a:avLst/>
          </a:prstGeom>
          <a:noFill/>
          <a:ln>
            <a:noFill/>
          </a:ln>
        </p:spPr>
      </p:pic>
      <p:sp>
        <p:nvSpPr>
          <p:cNvPr id="289" name="Google Shape;289;p30"/>
          <p:cNvSpPr/>
          <p:nvPr/>
        </p:nvSpPr>
        <p:spPr>
          <a:xfrm>
            <a:off x="7413025" y="3597200"/>
            <a:ext cx="444300" cy="583200"/>
          </a:xfrm>
          <a:prstGeom prst="roundRect">
            <a:avLst>
              <a:gd fmla="val 16667" name="adj"/>
            </a:avLst>
          </a:prstGeom>
          <a:solidFill>
            <a:srgbClr val="D9D2E9"/>
          </a:solidFill>
          <a:ln cap="flat" cmpd="sng" w="14275">
            <a:solidFill>
              <a:schemeClr val="dk1"/>
            </a:solidFill>
            <a:prstDash val="solid"/>
            <a:round/>
            <a:headEnd len="sm" w="sm" type="none"/>
            <a:tailEnd len="sm" w="sm" type="none"/>
          </a:ln>
        </p:spPr>
        <p:txBody>
          <a:bodyPr anchorCtr="0" anchor="ctr" bIns="45600" lIns="45600" spcFirstLastPara="1" rIns="45600" wrap="square" tIns="45600">
            <a:noAutofit/>
          </a:bodyPr>
          <a:lstStyle/>
          <a:p>
            <a:pPr indent="0" lvl="0" marL="0" rtl="0" algn="l">
              <a:spcBef>
                <a:spcPts val="0"/>
              </a:spcBef>
              <a:spcAft>
                <a:spcPts val="0"/>
              </a:spcAft>
              <a:buNone/>
            </a:pPr>
            <a:r>
              <a:t/>
            </a:r>
            <a:endParaRPr b="1" sz="876">
              <a:latin typeface="Hanken Grotesk"/>
              <a:ea typeface="Hanken Grotesk"/>
              <a:cs typeface="Hanken Grotesk"/>
              <a:sym typeface="Hanken Grotesk"/>
            </a:endParaRPr>
          </a:p>
        </p:txBody>
      </p:sp>
      <p:pic>
        <p:nvPicPr>
          <p:cNvPr id="290" name="Google Shape;290;p30"/>
          <p:cNvPicPr preferRelativeResize="0"/>
          <p:nvPr/>
        </p:nvPicPr>
        <p:blipFill>
          <a:blip r:embed="rId3">
            <a:alphaModFix/>
          </a:blip>
          <a:stretch>
            <a:fillRect/>
          </a:stretch>
        </p:blipFill>
        <p:spPr>
          <a:xfrm>
            <a:off x="7413029" y="3249600"/>
            <a:ext cx="444288" cy="4442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Program Overview</a:t>
            </a:r>
            <a:endParaRPr/>
          </a:p>
        </p:txBody>
      </p:sp>
      <p:sp>
        <p:nvSpPr>
          <p:cNvPr id="296" name="Google Shape;296;p31"/>
          <p:cNvSpPr/>
          <p:nvPr/>
        </p:nvSpPr>
        <p:spPr>
          <a:xfrm>
            <a:off x="440150" y="2610713"/>
            <a:ext cx="974700" cy="5322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Hanken Grotesk"/>
                <a:ea typeface="Hanken Grotesk"/>
                <a:cs typeface="Hanken Grotesk"/>
                <a:sym typeface="Hanken Grotesk"/>
              </a:rPr>
              <a:t>Input</a:t>
            </a:r>
            <a:endParaRPr>
              <a:latin typeface="Hanken Grotesk"/>
              <a:ea typeface="Hanken Grotesk"/>
              <a:cs typeface="Hanken Grotesk"/>
              <a:sym typeface="Hanken Grotesk"/>
            </a:endParaRPr>
          </a:p>
        </p:txBody>
      </p:sp>
      <p:sp>
        <p:nvSpPr>
          <p:cNvPr id="297" name="Google Shape;297;p31"/>
          <p:cNvSpPr/>
          <p:nvPr/>
        </p:nvSpPr>
        <p:spPr>
          <a:xfrm>
            <a:off x="1772699" y="2286106"/>
            <a:ext cx="1131600" cy="1181400"/>
          </a:xfrm>
          <a:prstGeom prst="roundRect">
            <a:avLst>
              <a:gd fmla="val 16667" name="adj"/>
            </a:avLst>
          </a:prstGeom>
          <a:solidFill>
            <a:srgbClr val="D9EAD3"/>
          </a:solidFill>
          <a:ln cap="flat" cmpd="sng" w="16250">
            <a:solidFill>
              <a:schemeClr val="dk1"/>
            </a:solidFill>
            <a:prstDash val="solid"/>
            <a:round/>
            <a:headEnd len="sm" w="sm" type="none"/>
            <a:tailEnd len="sm" w="sm" type="none"/>
          </a:ln>
        </p:spPr>
        <p:txBody>
          <a:bodyPr anchorCtr="0" anchor="ctr" bIns="52025" lIns="52025" spcFirstLastPara="1" rIns="52025" wrap="square" tIns="52025">
            <a:noAutofit/>
          </a:bodyPr>
          <a:lstStyle/>
          <a:p>
            <a:pPr indent="0" lvl="0" marL="0" rtl="0" algn="ctr">
              <a:spcBef>
                <a:spcPts val="0"/>
              </a:spcBef>
              <a:spcAft>
                <a:spcPts val="0"/>
              </a:spcAft>
              <a:buNone/>
            </a:pPr>
            <a:r>
              <a:rPr b="1" lang="en-GB" sz="1000">
                <a:latin typeface="Hanken Grotesk"/>
                <a:ea typeface="Hanken Grotesk"/>
                <a:cs typeface="Hanken Grotesk"/>
                <a:sym typeface="Hanken Grotesk"/>
              </a:rPr>
              <a:t>Agent 1</a:t>
            </a:r>
            <a:endParaRPr b="1" sz="1000">
              <a:latin typeface="Hanken Grotesk"/>
              <a:ea typeface="Hanken Grotesk"/>
              <a:cs typeface="Hanken Grotesk"/>
              <a:sym typeface="Hanken Grotesk"/>
            </a:endParaRPr>
          </a:p>
          <a:p>
            <a:pPr indent="0" lvl="0" marL="0" rtl="0" algn="ctr">
              <a:spcBef>
                <a:spcPts val="0"/>
              </a:spcBef>
              <a:spcAft>
                <a:spcPts val="0"/>
              </a:spcAft>
              <a:buNone/>
            </a:pPr>
            <a:r>
              <a:rPr b="1" lang="en-GB" sz="1000">
                <a:latin typeface="Hanken Grotesk"/>
                <a:ea typeface="Hanken Grotesk"/>
                <a:cs typeface="Hanken Grotesk"/>
                <a:sym typeface="Hanken Grotesk"/>
              </a:rPr>
              <a:t>[Parse Input]</a:t>
            </a:r>
            <a:endParaRPr b="1" sz="1000">
              <a:latin typeface="Hanken Grotesk"/>
              <a:ea typeface="Hanken Grotesk"/>
              <a:cs typeface="Hanken Grotesk"/>
              <a:sym typeface="Hanken Grotesk"/>
            </a:endParaRPr>
          </a:p>
        </p:txBody>
      </p:sp>
      <p:pic>
        <p:nvPicPr>
          <p:cNvPr id="298" name="Google Shape;298;p31"/>
          <p:cNvPicPr preferRelativeResize="0"/>
          <p:nvPr/>
        </p:nvPicPr>
        <p:blipFill>
          <a:blip r:embed="rId3">
            <a:alphaModFix/>
          </a:blip>
          <a:stretch>
            <a:fillRect/>
          </a:stretch>
        </p:blipFill>
        <p:spPr>
          <a:xfrm>
            <a:off x="2085185" y="1879663"/>
            <a:ext cx="506615" cy="506615"/>
          </a:xfrm>
          <a:prstGeom prst="rect">
            <a:avLst/>
          </a:prstGeom>
          <a:noFill/>
          <a:ln>
            <a:noFill/>
          </a:ln>
        </p:spPr>
      </p:pic>
      <p:sp>
        <p:nvSpPr>
          <p:cNvPr id="299" name="Google Shape;299;p31"/>
          <p:cNvSpPr/>
          <p:nvPr/>
        </p:nvSpPr>
        <p:spPr>
          <a:xfrm>
            <a:off x="3574478" y="2286119"/>
            <a:ext cx="1131600" cy="1181400"/>
          </a:xfrm>
          <a:prstGeom prst="roundRect">
            <a:avLst>
              <a:gd fmla="val 16667" name="adj"/>
            </a:avLst>
          </a:prstGeom>
          <a:solidFill>
            <a:srgbClr val="C9DAF8"/>
          </a:solidFill>
          <a:ln cap="flat" cmpd="sng" w="16250">
            <a:solidFill>
              <a:schemeClr val="dk1"/>
            </a:solidFill>
            <a:prstDash val="solid"/>
            <a:round/>
            <a:headEnd len="sm" w="sm" type="none"/>
            <a:tailEnd len="sm" w="sm" type="none"/>
          </a:ln>
        </p:spPr>
        <p:txBody>
          <a:bodyPr anchorCtr="0" anchor="ctr" bIns="52025" lIns="52025" spcFirstLastPara="1" rIns="52025" wrap="square" tIns="52025">
            <a:noAutofit/>
          </a:bodyPr>
          <a:lstStyle/>
          <a:p>
            <a:pPr indent="0" lvl="0" marL="0" rtl="0" algn="ctr">
              <a:spcBef>
                <a:spcPts val="0"/>
              </a:spcBef>
              <a:spcAft>
                <a:spcPts val="0"/>
              </a:spcAft>
              <a:buNone/>
            </a:pPr>
            <a:r>
              <a:rPr b="1" lang="en-GB" sz="1000">
                <a:latin typeface="Hanken Grotesk"/>
                <a:ea typeface="Hanken Grotesk"/>
                <a:cs typeface="Hanken Grotesk"/>
                <a:sym typeface="Hanken Grotesk"/>
              </a:rPr>
              <a:t>Agent 2</a:t>
            </a:r>
            <a:endParaRPr b="1" sz="1000">
              <a:latin typeface="Hanken Grotesk"/>
              <a:ea typeface="Hanken Grotesk"/>
              <a:cs typeface="Hanken Grotesk"/>
              <a:sym typeface="Hanken Grotesk"/>
            </a:endParaRPr>
          </a:p>
          <a:p>
            <a:pPr indent="0" lvl="0" marL="0" rtl="0" algn="ctr">
              <a:spcBef>
                <a:spcPts val="0"/>
              </a:spcBef>
              <a:spcAft>
                <a:spcPts val="0"/>
              </a:spcAft>
              <a:buNone/>
            </a:pPr>
            <a:r>
              <a:rPr b="1" lang="en-GB" sz="1000">
                <a:latin typeface="Hanken Grotesk"/>
                <a:ea typeface="Hanken Grotesk"/>
                <a:cs typeface="Hanken Grotesk"/>
                <a:sym typeface="Hanken Grotesk"/>
              </a:rPr>
              <a:t>[Find Evidence]</a:t>
            </a:r>
            <a:endParaRPr sz="1000">
              <a:latin typeface="Hanken Grotesk"/>
              <a:ea typeface="Hanken Grotesk"/>
              <a:cs typeface="Hanken Grotesk"/>
              <a:sym typeface="Hanken Grotesk"/>
            </a:endParaRPr>
          </a:p>
        </p:txBody>
      </p:sp>
      <p:pic>
        <p:nvPicPr>
          <p:cNvPr id="300" name="Google Shape;300;p31"/>
          <p:cNvPicPr preferRelativeResize="0"/>
          <p:nvPr/>
        </p:nvPicPr>
        <p:blipFill>
          <a:blip r:embed="rId3">
            <a:alphaModFix/>
          </a:blip>
          <a:stretch>
            <a:fillRect/>
          </a:stretch>
        </p:blipFill>
        <p:spPr>
          <a:xfrm>
            <a:off x="3886963" y="1879676"/>
            <a:ext cx="506614" cy="506615"/>
          </a:xfrm>
          <a:prstGeom prst="rect">
            <a:avLst/>
          </a:prstGeom>
          <a:noFill/>
          <a:ln>
            <a:noFill/>
          </a:ln>
        </p:spPr>
      </p:pic>
      <p:sp>
        <p:nvSpPr>
          <p:cNvPr id="301" name="Google Shape;301;p31"/>
          <p:cNvSpPr/>
          <p:nvPr/>
        </p:nvSpPr>
        <p:spPr>
          <a:xfrm>
            <a:off x="5892881" y="2286119"/>
            <a:ext cx="1131600" cy="1181400"/>
          </a:xfrm>
          <a:prstGeom prst="roundRect">
            <a:avLst>
              <a:gd fmla="val 16667" name="adj"/>
            </a:avLst>
          </a:prstGeom>
          <a:solidFill>
            <a:srgbClr val="D9D2E9"/>
          </a:solidFill>
          <a:ln cap="flat" cmpd="sng" w="16250">
            <a:solidFill>
              <a:schemeClr val="dk1"/>
            </a:solidFill>
            <a:prstDash val="solid"/>
            <a:round/>
            <a:headEnd len="sm" w="sm" type="none"/>
            <a:tailEnd len="sm" w="sm" type="none"/>
          </a:ln>
        </p:spPr>
        <p:txBody>
          <a:bodyPr anchorCtr="0" anchor="ctr" bIns="52025" lIns="52025" spcFirstLastPara="1" rIns="52025" wrap="square" tIns="52025">
            <a:noAutofit/>
          </a:bodyPr>
          <a:lstStyle/>
          <a:p>
            <a:pPr indent="0" lvl="0" marL="0" rtl="0" algn="ctr">
              <a:spcBef>
                <a:spcPts val="0"/>
              </a:spcBef>
              <a:spcAft>
                <a:spcPts val="0"/>
              </a:spcAft>
              <a:buNone/>
            </a:pPr>
            <a:r>
              <a:rPr b="1" lang="en-GB" sz="1000">
                <a:latin typeface="Hanken Grotesk"/>
                <a:ea typeface="Hanken Grotesk"/>
                <a:cs typeface="Hanken Grotesk"/>
                <a:sym typeface="Hanken Grotesk"/>
              </a:rPr>
              <a:t>Agent 3</a:t>
            </a:r>
            <a:endParaRPr b="1" sz="1000">
              <a:latin typeface="Hanken Grotesk"/>
              <a:ea typeface="Hanken Grotesk"/>
              <a:cs typeface="Hanken Grotesk"/>
              <a:sym typeface="Hanken Grotesk"/>
            </a:endParaRPr>
          </a:p>
          <a:p>
            <a:pPr indent="0" lvl="0" marL="0" rtl="0" algn="ctr">
              <a:spcBef>
                <a:spcPts val="0"/>
              </a:spcBef>
              <a:spcAft>
                <a:spcPts val="0"/>
              </a:spcAft>
              <a:buNone/>
            </a:pPr>
            <a:r>
              <a:rPr b="1" lang="en-GB" sz="1000">
                <a:latin typeface="Hanken Grotesk"/>
                <a:ea typeface="Hanken Grotesk"/>
                <a:cs typeface="Hanken Grotesk"/>
                <a:sym typeface="Hanken Grotesk"/>
              </a:rPr>
              <a:t>[</a:t>
            </a:r>
            <a:r>
              <a:rPr b="1" lang="en-GB" sz="1027">
                <a:latin typeface="Hanken Grotesk"/>
                <a:ea typeface="Hanken Grotesk"/>
                <a:cs typeface="Hanken Grotesk"/>
                <a:sym typeface="Hanken Grotesk"/>
              </a:rPr>
              <a:t>Evaluate Claims</a:t>
            </a:r>
            <a:r>
              <a:rPr b="1" lang="en-GB" sz="1000">
                <a:latin typeface="Hanken Grotesk"/>
                <a:ea typeface="Hanken Grotesk"/>
                <a:cs typeface="Hanken Grotesk"/>
                <a:sym typeface="Hanken Grotesk"/>
              </a:rPr>
              <a:t>]</a:t>
            </a:r>
            <a:endParaRPr b="1" sz="1000">
              <a:latin typeface="Hanken Grotesk"/>
              <a:ea typeface="Hanken Grotesk"/>
              <a:cs typeface="Hanken Grotesk"/>
              <a:sym typeface="Hanken Grotesk"/>
            </a:endParaRPr>
          </a:p>
        </p:txBody>
      </p:sp>
      <p:pic>
        <p:nvPicPr>
          <p:cNvPr id="302" name="Google Shape;302;p31"/>
          <p:cNvPicPr preferRelativeResize="0"/>
          <p:nvPr/>
        </p:nvPicPr>
        <p:blipFill>
          <a:blip r:embed="rId3">
            <a:alphaModFix/>
          </a:blip>
          <a:stretch>
            <a:fillRect/>
          </a:stretch>
        </p:blipFill>
        <p:spPr>
          <a:xfrm>
            <a:off x="6205367" y="1879676"/>
            <a:ext cx="506615" cy="506615"/>
          </a:xfrm>
          <a:prstGeom prst="rect">
            <a:avLst/>
          </a:prstGeom>
          <a:noFill/>
          <a:ln>
            <a:noFill/>
          </a:ln>
        </p:spPr>
      </p:pic>
      <p:cxnSp>
        <p:nvCxnSpPr>
          <p:cNvPr id="303" name="Google Shape;303;p31"/>
          <p:cNvCxnSpPr>
            <a:stCxn id="296" idx="3"/>
            <a:endCxn id="297" idx="1"/>
          </p:cNvCxnSpPr>
          <p:nvPr/>
        </p:nvCxnSpPr>
        <p:spPr>
          <a:xfrm>
            <a:off x="1414850" y="2876813"/>
            <a:ext cx="357900" cy="0"/>
          </a:xfrm>
          <a:prstGeom prst="straightConnector1">
            <a:avLst/>
          </a:prstGeom>
          <a:noFill/>
          <a:ln cap="flat" cmpd="sng" w="9525">
            <a:solidFill>
              <a:schemeClr val="dk1"/>
            </a:solidFill>
            <a:prstDash val="solid"/>
            <a:round/>
            <a:headEnd len="med" w="med" type="none"/>
            <a:tailEnd len="med" w="med" type="triangle"/>
          </a:ln>
        </p:spPr>
      </p:cxnSp>
      <p:cxnSp>
        <p:nvCxnSpPr>
          <p:cNvPr id="304" name="Google Shape;304;p31"/>
          <p:cNvCxnSpPr>
            <a:stCxn id="297" idx="3"/>
            <a:endCxn id="299" idx="1"/>
          </p:cNvCxnSpPr>
          <p:nvPr/>
        </p:nvCxnSpPr>
        <p:spPr>
          <a:xfrm>
            <a:off x="2904299" y="2876806"/>
            <a:ext cx="670200" cy="0"/>
          </a:xfrm>
          <a:prstGeom prst="straightConnector1">
            <a:avLst/>
          </a:prstGeom>
          <a:noFill/>
          <a:ln cap="flat" cmpd="sng" w="9525">
            <a:solidFill>
              <a:schemeClr val="dk1"/>
            </a:solidFill>
            <a:prstDash val="solid"/>
            <a:round/>
            <a:headEnd len="med" w="med" type="none"/>
            <a:tailEnd len="med" w="med" type="triangle"/>
          </a:ln>
        </p:spPr>
      </p:cxnSp>
      <p:cxnSp>
        <p:nvCxnSpPr>
          <p:cNvPr id="305" name="Google Shape;305;p31"/>
          <p:cNvCxnSpPr/>
          <p:nvPr/>
        </p:nvCxnSpPr>
        <p:spPr>
          <a:xfrm>
            <a:off x="2904299" y="3184581"/>
            <a:ext cx="670200" cy="0"/>
          </a:xfrm>
          <a:prstGeom prst="straightConnector1">
            <a:avLst/>
          </a:prstGeom>
          <a:noFill/>
          <a:ln cap="flat" cmpd="sng" w="9525">
            <a:solidFill>
              <a:schemeClr val="dk1"/>
            </a:solidFill>
            <a:prstDash val="solid"/>
            <a:round/>
            <a:headEnd len="med" w="med" type="none"/>
            <a:tailEnd len="med" w="med" type="triangle"/>
          </a:ln>
        </p:spPr>
      </p:cxnSp>
      <p:cxnSp>
        <p:nvCxnSpPr>
          <p:cNvPr id="306" name="Google Shape;306;p31"/>
          <p:cNvCxnSpPr/>
          <p:nvPr/>
        </p:nvCxnSpPr>
        <p:spPr>
          <a:xfrm>
            <a:off x="2904299" y="2610731"/>
            <a:ext cx="670200" cy="0"/>
          </a:xfrm>
          <a:prstGeom prst="straightConnector1">
            <a:avLst/>
          </a:prstGeom>
          <a:noFill/>
          <a:ln cap="flat" cmpd="sng" w="9525">
            <a:solidFill>
              <a:schemeClr val="dk1"/>
            </a:solidFill>
            <a:prstDash val="solid"/>
            <a:round/>
            <a:headEnd len="med" w="med" type="none"/>
            <a:tailEnd len="med" w="med" type="triangle"/>
          </a:ln>
        </p:spPr>
      </p:cxnSp>
      <p:cxnSp>
        <p:nvCxnSpPr>
          <p:cNvPr id="307" name="Google Shape;307;p31"/>
          <p:cNvCxnSpPr/>
          <p:nvPr/>
        </p:nvCxnSpPr>
        <p:spPr>
          <a:xfrm>
            <a:off x="4706075" y="2855975"/>
            <a:ext cx="1186800" cy="0"/>
          </a:xfrm>
          <a:prstGeom prst="straightConnector1">
            <a:avLst/>
          </a:prstGeom>
          <a:noFill/>
          <a:ln cap="flat" cmpd="sng" w="9525">
            <a:solidFill>
              <a:schemeClr val="dk1"/>
            </a:solidFill>
            <a:prstDash val="solid"/>
            <a:round/>
            <a:headEnd len="med" w="med" type="none"/>
            <a:tailEnd len="med" w="med" type="triangle"/>
          </a:ln>
        </p:spPr>
      </p:cxnSp>
      <p:cxnSp>
        <p:nvCxnSpPr>
          <p:cNvPr id="308" name="Google Shape;308;p31"/>
          <p:cNvCxnSpPr/>
          <p:nvPr/>
        </p:nvCxnSpPr>
        <p:spPr>
          <a:xfrm>
            <a:off x="4706075" y="3163750"/>
            <a:ext cx="1186800" cy="0"/>
          </a:xfrm>
          <a:prstGeom prst="straightConnector1">
            <a:avLst/>
          </a:prstGeom>
          <a:noFill/>
          <a:ln cap="flat" cmpd="sng" w="9525">
            <a:solidFill>
              <a:schemeClr val="dk1"/>
            </a:solidFill>
            <a:prstDash val="solid"/>
            <a:round/>
            <a:headEnd len="med" w="med" type="none"/>
            <a:tailEnd len="med" w="med" type="triangle"/>
          </a:ln>
        </p:spPr>
      </p:cxnSp>
      <p:cxnSp>
        <p:nvCxnSpPr>
          <p:cNvPr id="309" name="Google Shape;309;p31"/>
          <p:cNvCxnSpPr/>
          <p:nvPr/>
        </p:nvCxnSpPr>
        <p:spPr>
          <a:xfrm>
            <a:off x="4706075" y="2589900"/>
            <a:ext cx="1186800" cy="0"/>
          </a:xfrm>
          <a:prstGeom prst="straightConnector1">
            <a:avLst/>
          </a:prstGeom>
          <a:noFill/>
          <a:ln cap="flat" cmpd="sng" w="9525">
            <a:solidFill>
              <a:schemeClr val="dk1"/>
            </a:solidFill>
            <a:prstDash val="solid"/>
            <a:round/>
            <a:headEnd len="med" w="med" type="none"/>
            <a:tailEnd len="med" w="med" type="triangle"/>
          </a:ln>
        </p:spPr>
      </p:cxnSp>
      <p:sp>
        <p:nvSpPr>
          <p:cNvPr id="310" name="Google Shape;310;p31"/>
          <p:cNvSpPr txBox="1"/>
          <p:nvPr/>
        </p:nvSpPr>
        <p:spPr>
          <a:xfrm>
            <a:off x="2938938" y="2349550"/>
            <a:ext cx="600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Hanken Grotesk"/>
                <a:ea typeface="Hanken Grotesk"/>
                <a:cs typeface="Hanken Grotesk"/>
                <a:sym typeface="Hanken Grotesk"/>
              </a:rPr>
              <a:t>Claim 1</a:t>
            </a:r>
            <a:endParaRPr sz="800">
              <a:solidFill>
                <a:schemeClr val="dk1"/>
              </a:solidFill>
              <a:latin typeface="Hanken Grotesk"/>
              <a:ea typeface="Hanken Grotesk"/>
              <a:cs typeface="Hanken Grotesk"/>
              <a:sym typeface="Hanken Grotesk"/>
            </a:endParaRPr>
          </a:p>
        </p:txBody>
      </p:sp>
      <p:sp>
        <p:nvSpPr>
          <p:cNvPr id="311" name="Google Shape;311;p31"/>
          <p:cNvSpPr txBox="1"/>
          <p:nvPr/>
        </p:nvSpPr>
        <p:spPr>
          <a:xfrm>
            <a:off x="2938925" y="2610725"/>
            <a:ext cx="600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Hanken Grotesk"/>
                <a:ea typeface="Hanken Grotesk"/>
                <a:cs typeface="Hanken Grotesk"/>
                <a:sym typeface="Hanken Grotesk"/>
              </a:rPr>
              <a:t>Claim 2</a:t>
            </a:r>
            <a:endParaRPr sz="800">
              <a:solidFill>
                <a:schemeClr val="dk1"/>
              </a:solidFill>
              <a:latin typeface="Hanken Grotesk"/>
              <a:ea typeface="Hanken Grotesk"/>
              <a:cs typeface="Hanken Grotesk"/>
              <a:sym typeface="Hanken Grotesk"/>
            </a:endParaRPr>
          </a:p>
        </p:txBody>
      </p:sp>
      <p:sp>
        <p:nvSpPr>
          <p:cNvPr id="312" name="Google Shape;312;p31"/>
          <p:cNvSpPr txBox="1"/>
          <p:nvPr/>
        </p:nvSpPr>
        <p:spPr>
          <a:xfrm>
            <a:off x="2938925" y="2941550"/>
            <a:ext cx="600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Hanken Grotesk"/>
                <a:ea typeface="Hanken Grotesk"/>
                <a:cs typeface="Hanken Grotesk"/>
                <a:sym typeface="Hanken Grotesk"/>
              </a:rPr>
              <a:t>Claim 3</a:t>
            </a:r>
            <a:endParaRPr sz="800">
              <a:solidFill>
                <a:schemeClr val="dk1"/>
              </a:solidFill>
              <a:latin typeface="Hanken Grotesk"/>
              <a:ea typeface="Hanken Grotesk"/>
              <a:cs typeface="Hanken Grotesk"/>
              <a:sym typeface="Hanken Grotesk"/>
            </a:endParaRPr>
          </a:p>
        </p:txBody>
      </p:sp>
      <p:sp>
        <p:nvSpPr>
          <p:cNvPr id="313" name="Google Shape;313;p31"/>
          <p:cNvSpPr txBox="1"/>
          <p:nvPr/>
        </p:nvSpPr>
        <p:spPr>
          <a:xfrm>
            <a:off x="4740724" y="2314725"/>
            <a:ext cx="115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Hanken Grotesk"/>
                <a:ea typeface="Hanken Grotesk"/>
                <a:cs typeface="Hanken Grotesk"/>
                <a:sym typeface="Hanken Grotesk"/>
              </a:rPr>
              <a:t>Claim 1 + Evidence</a:t>
            </a:r>
            <a:endParaRPr sz="800">
              <a:solidFill>
                <a:schemeClr val="dk1"/>
              </a:solidFill>
              <a:latin typeface="Hanken Grotesk"/>
              <a:ea typeface="Hanken Grotesk"/>
              <a:cs typeface="Hanken Grotesk"/>
              <a:sym typeface="Hanken Grotesk"/>
            </a:endParaRPr>
          </a:p>
        </p:txBody>
      </p:sp>
      <p:sp>
        <p:nvSpPr>
          <p:cNvPr id="314" name="Google Shape;314;p31"/>
          <p:cNvSpPr txBox="1"/>
          <p:nvPr/>
        </p:nvSpPr>
        <p:spPr>
          <a:xfrm>
            <a:off x="4740700" y="2575900"/>
            <a:ext cx="115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Hanken Grotesk"/>
                <a:ea typeface="Hanken Grotesk"/>
                <a:cs typeface="Hanken Grotesk"/>
                <a:sym typeface="Hanken Grotesk"/>
              </a:rPr>
              <a:t>Claim 2 + Evidence</a:t>
            </a:r>
            <a:endParaRPr sz="800">
              <a:solidFill>
                <a:schemeClr val="dk1"/>
              </a:solidFill>
              <a:latin typeface="Hanken Grotesk"/>
              <a:ea typeface="Hanken Grotesk"/>
              <a:cs typeface="Hanken Grotesk"/>
              <a:sym typeface="Hanken Grotesk"/>
            </a:endParaRPr>
          </a:p>
        </p:txBody>
      </p:sp>
      <p:sp>
        <p:nvSpPr>
          <p:cNvPr id="315" name="Google Shape;315;p31"/>
          <p:cNvSpPr txBox="1"/>
          <p:nvPr/>
        </p:nvSpPr>
        <p:spPr>
          <a:xfrm>
            <a:off x="4740700" y="2906725"/>
            <a:ext cx="115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1"/>
                </a:solidFill>
                <a:latin typeface="Hanken Grotesk"/>
                <a:ea typeface="Hanken Grotesk"/>
                <a:cs typeface="Hanken Grotesk"/>
                <a:sym typeface="Hanken Grotesk"/>
              </a:rPr>
              <a:t>Claim 3 + Evidence</a:t>
            </a:r>
            <a:endParaRPr sz="800">
              <a:solidFill>
                <a:schemeClr val="dk1"/>
              </a:solidFill>
              <a:latin typeface="Hanken Grotesk"/>
              <a:ea typeface="Hanken Grotesk"/>
              <a:cs typeface="Hanken Grotesk"/>
              <a:sym typeface="Hanken Grotesk"/>
            </a:endParaRPr>
          </a:p>
        </p:txBody>
      </p:sp>
      <p:sp>
        <p:nvSpPr>
          <p:cNvPr id="316" name="Google Shape;316;p31"/>
          <p:cNvSpPr/>
          <p:nvPr/>
        </p:nvSpPr>
        <p:spPr>
          <a:xfrm>
            <a:off x="7729150" y="2610713"/>
            <a:ext cx="974700" cy="5322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Hanken Grotesk"/>
                <a:ea typeface="Hanken Grotesk"/>
                <a:cs typeface="Hanken Grotesk"/>
                <a:sym typeface="Hanken Grotesk"/>
              </a:rPr>
              <a:t>Output</a:t>
            </a:r>
            <a:endParaRPr>
              <a:latin typeface="Hanken Grotesk"/>
              <a:ea typeface="Hanken Grotesk"/>
              <a:cs typeface="Hanken Grotesk"/>
              <a:sym typeface="Hanken Grotesk"/>
            </a:endParaRPr>
          </a:p>
        </p:txBody>
      </p:sp>
      <p:cxnSp>
        <p:nvCxnSpPr>
          <p:cNvPr id="317" name="Google Shape;317;p31"/>
          <p:cNvCxnSpPr>
            <a:stCxn id="301" idx="3"/>
            <a:endCxn id="316" idx="1"/>
          </p:cNvCxnSpPr>
          <p:nvPr/>
        </p:nvCxnSpPr>
        <p:spPr>
          <a:xfrm>
            <a:off x="7024481" y="2876819"/>
            <a:ext cx="704700" cy="0"/>
          </a:xfrm>
          <a:prstGeom prst="straightConnector1">
            <a:avLst/>
          </a:prstGeom>
          <a:noFill/>
          <a:ln cap="flat" cmpd="sng" w="9525">
            <a:solidFill>
              <a:schemeClr val="dk1"/>
            </a:solidFill>
            <a:prstDash val="solid"/>
            <a:round/>
            <a:headEnd len="med" w="med" type="none"/>
            <a:tailEnd len="med" w="med" type="triangle"/>
          </a:ln>
        </p:spPr>
      </p:cxnSp>
      <p:cxnSp>
        <p:nvCxnSpPr>
          <p:cNvPr id="318" name="Google Shape;318;p31"/>
          <p:cNvCxnSpPr>
            <a:endCxn id="316" idx="1"/>
          </p:cNvCxnSpPr>
          <p:nvPr/>
        </p:nvCxnSpPr>
        <p:spPr>
          <a:xfrm>
            <a:off x="7023250" y="2589713"/>
            <a:ext cx="705900" cy="2871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19" name="Google Shape;319;p31"/>
          <p:cNvCxnSpPr/>
          <p:nvPr/>
        </p:nvCxnSpPr>
        <p:spPr>
          <a:xfrm flipH="1" rot="10800000">
            <a:off x="7032575" y="2876813"/>
            <a:ext cx="706200" cy="287400"/>
          </a:xfrm>
          <a:prstGeom prst="bentConnector3">
            <a:avLst>
              <a:gd fmla="val 50000" name="adj1"/>
            </a:avLst>
          </a:prstGeom>
          <a:noFill/>
          <a:ln cap="flat" cmpd="sng" w="9525">
            <a:solidFill>
              <a:schemeClr val="dk1"/>
            </a:solidFill>
            <a:prstDash val="solid"/>
            <a:round/>
            <a:headEnd len="med" w="med" type="none"/>
            <a:tailEnd len="med" w="med" type="none"/>
          </a:ln>
        </p:spPr>
      </p:cxnSp>
      <p:sp>
        <p:nvSpPr>
          <p:cNvPr id="320" name="Google Shape;320;p31"/>
          <p:cNvSpPr txBox="1"/>
          <p:nvPr/>
        </p:nvSpPr>
        <p:spPr>
          <a:xfrm>
            <a:off x="3153150" y="4012725"/>
            <a:ext cx="350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Hanken Grotesk"/>
                <a:ea typeface="Hanken Grotesk"/>
                <a:cs typeface="Hanken Grotesk"/>
                <a:sym typeface="Hanken Grotesk"/>
              </a:rPr>
              <a:t>Program is built in python with LangChain</a:t>
            </a:r>
            <a:endParaRPr>
              <a:solidFill>
                <a:schemeClr val="dk1"/>
              </a:solidFill>
              <a:latin typeface="Hanken Grotesk"/>
              <a:ea typeface="Hanken Grotesk"/>
              <a:cs typeface="Hanken Grotesk"/>
              <a:sym typeface="Hanken Grotesk"/>
            </a:endParaRPr>
          </a:p>
        </p:txBody>
      </p:sp>
      <p:pic>
        <p:nvPicPr>
          <p:cNvPr id="321" name="Google Shape;321;p31"/>
          <p:cNvPicPr preferRelativeResize="0"/>
          <p:nvPr/>
        </p:nvPicPr>
        <p:blipFill>
          <a:blip r:embed="rId4">
            <a:alphaModFix/>
          </a:blip>
          <a:stretch>
            <a:fillRect/>
          </a:stretch>
        </p:blipFill>
        <p:spPr>
          <a:xfrm>
            <a:off x="2482949" y="3877733"/>
            <a:ext cx="670200" cy="6701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Input</a:t>
            </a:r>
            <a:endParaRPr/>
          </a:p>
        </p:txBody>
      </p:sp>
      <p:sp>
        <p:nvSpPr>
          <p:cNvPr id="327" name="Google Shape;327;p32"/>
          <p:cNvSpPr/>
          <p:nvPr/>
        </p:nvSpPr>
        <p:spPr>
          <a:xfrm>
            <a:off x="1764500" y="2371325"/>
            <a:ext cx="2389800" cy="1905000"/>
          </a:xfrm>
          <a:prstGeom prst="roundRect">
            <a:avLst>
              <a:gd fmla="val 16667" name="adj"/>
            </a:avLst>
          </a:prstGeom>
          <a:solidFill>
            <a:srgbClr val="F4CCCC"/>
          </a:solidFill>
          <a:ln cap="flat" cmpd="sng" w="17675">
            <a:solidFill>
              <a:schemeClr val="dk1"/>
            </a:solidFill>
            <a:prstDash val="solid"/>
            <a:round/>
            <a:headEnd len="sm" w="sm" type="none"/>
            <a:tailEnd len="sm" w="sm" type="none"/>
          </a:ln>
        </p:spPr>
        <p:txBody>
          <a:bodyPr anchorCtr="0" anchor="ctr" bIns="84850" lIns="84850" spcFirstLastPara="1" rIns="84850" wrap="square" tIns="84850">
            <a:noAutofit/>
          </a:bodyPr>
          <a:lstStyle/>
          <a:p>
            <a:pPr indent="0" lvl="0" marL="0" rtl="0" algn="ctr">
              <a:spcBef>
                <a:spcPts val="0"/>
              </a:spcBef>
              <a:spcAft>
                <a:spcPts val="0"/>
              </a:spcAft>
              <a:buNone/>
            </a:pPr>
            <a:r>
              <a:rPr lang="en-GB" sz="928" strike="sngStrike">
                <a:latin typeface="Hanken Grotesk"/>
                <a:ea typeface="Hanken Grotesk"/>
                <a:cs typeface="Hanken Grotesk"/>
                <a:sym typeface="Hanken Grotesk"/>
              </a:rPr>
              <a:t>"Email Text; ""</a:t>
            </a:r>
            <a:r>
              <a:rPr lang="en-GB" sz="928">
                <a:latin typeface="Hanken Grotesk"/>
                <a:ea typeface="Hanken Grotesk"/>
                <a:cs typeface="Hanken Grotesk"/>
                <a:sym typeface="Hanken Grotesk"/>
              </a:rPr>
              <a:t>A concerning report has been submitted via our platform, pointing to potential fraudulent activities linked to Presbyterian SeniorCare. The details are ready for your immediate review.</a:t>
            </a:r>
            <a:endParaRPr sz="928">
              <a:latin typeface="Hanken Grotesk"/>
              <a:ea typeface="Hanken Grotesk"/>
              <a:cs typeface="Hanken Grotesk"/>
              <a:sym typeface="Hanken Grotesk"/>
            </a:endParaRPr>
          </a:p>
          <a:p>
            <a:pPr indent="0" lvl="0" marL="0" rtl="0" algn="ctr">
              <a:spcBef>
                <a:spcPts val="0"/>
              </a:spcBef>
              <a:spcAft>
                <a:spcPts val="0"/>
              </a:spcAft>
              <a:buNone/>
            </a:pPr>
            <a:r>
              <a:rPr lang="en-GB" sz="928">
                <a:latin typeface="Hanken Grotesk"/>
                <a:ea typeface="Hanken Grotesk"/>
                <a:cs typeface="Hanken Grotesk"/>
                <a:sym typeface="Hanken Grotesk"/>
              </a:rPr>
              <a:t>Please investigate this matter urgently. Access the details and respond within 14 calendar days with your explanation.</a:t>
            </a:r>
            <a:r>
              <a:rPr lang="en-GB" sz="928" strike="sngStrike">
                <a:latin typeface="Hanken Grotesk"/>
                <a:ea typeface="Hanken Grotesk"/>
                <a:cs typeface="Hanken Grotesk"/>
                <a:sym typeface="Hanken Grotesk"/>
              </a:rPr>
              <a:t>"""</a:t>
            </a:r>
            <a:endParaRPr sz="928">
              <a:latin typeface="Hanken Grotesk"/>
              <a:ea typeface="Hanken Grotesk"/>
              <a:cs typeface="Hanken Grotesk"/>
              <a:sym typeface="Hanken Grotesk"/>
            </a:endParaRPr>
          </a:p>
        </p:txBody>
      </p:sp>
      <p:sp>
        <p:nvSpPr>
          <p:cNvPr id="328" name="Google Shape;328;p32"/>
          <p:cNvSpPr txBox="1"/>
          <p:nvPr/>
        </p:nvSpPr>
        <p:spPr>
          <a:xfrm>
            <a:off x="618750" y="1223050"/>
            <a:ext cx="7906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Hanken Grotesk"/>
                <a:ea typeface="Hanken Grotesk"/>
                <a:cs typeface="Hanken Grotesk"/>
                <a:sym typeface="Hanken Grotesk"/>
              </a:rPr>
              <a:t>Potential smishing messages (with any unnecessary pre/post text removed)</a:t>
            </a:r>
            <a:r>
              <a:rPr baseline="30000" lang="en-GB" sz="1500">
                <a:solidFill>
                  <a:schemeClr val="dk1"/>
                </a:solidFill>
                <a:latin typeface="Hanken Grotesk"/>
                <a:ea typeface="Hanken Grotesk"/>
                <a:cs typeface="Hanken Grotesk"/>
                <a:sym typeface="Hanken Grotesk"/>
              </a:rPr>
              <a:t>1</a:t>
            </a:r>
            <a:endParaRPr baseline="30000" sz="15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GB">
                <a:solidFill>
                  <a:schemeClr val="dk1"/>
                </a:solidFill>
                <a:latin typeface="Hanken Grotesk"/>
                <a:ea typeface="Hanken Grotesk"/>
                <a:cs typeface="Hanken Grotesk"/>
                <a:sym typeface="Hanken Grotesk"/>
              </a:rPr>
              <a:t>Corresponding unique scam id (for querying additional information from the CSV file)</a:t>
            </a:r>
            <a:endParaRPr>
              <a:solidFill>
                <a:schemeClr val="dk1"/>
              </a:solidFill>
              <a:latin typeface="Hanken Grotesk"/>
              <a:ea typeface="Hanken Grotesk"/>
              <a:cs typeface="Hanken Grotesk"/>
              <a:sym typeface="Hanken Grotesk"/>
            </a:endParaRPr>
          </a:p>
        </p:txBody>
      </p:sp>
      <p:sp>
        <p:nvSpPr>
          <p:cNvPr id="329" name="Google Shape;329;p32"/>
          <p:cNvSpPr/>
          <p:nvPr/>
        </p:nvSpPr>
        <p:spPr>
          <a:xfrm>
            <a:off x="4918575" y="2344275"/>
            <a:ext cx="2389800" cy="1932000"/>
          </a:xfrm>
          <a:prstGeom prst="roundRect">
            <a:avLst>
              <a:gd fmla="val 16667" name="adj"/>
            </a:avLst>
          </a:prstGeom>
          <a:solidFill>
            <a:srgbClr val="F4CCCC"/>
          </a:solidFill>
          <a:ln cap="flat" cmpd="sng" w="17675">
            <a:solidFill>
              <a:schemeClr val="dk1"/>
            </a:solidFill>
            <a:prstDash val="solid"/>
            <a:round/>
            <a:headEnd len="sm" w="sm" type="none"/>
            <a:tailEnd len="sm" w="sm" type="none"/>
          </a:ln>
        </p:spPr>
        <p:txBody>
          <a:bodyPr anchorCtr="0" anchor="ctr" bIns="84850" lIns="84850" spcFirstLastPara="1" rIns="84850" wrap="square" tIns="84850">
            <a:noAutofit/>
          </a:bodyPr>
          <a:lstStyle/>
          <a:p>
            <a:pPr indent="0" lvl="0" marL="0" rtl="0" algn="ctr">
              <a:spcBef>
                <a:spcPts val="0"/>
              </a:spcBef>
              <a:spcAft>
                <a:spcPts val="0"/>
              </a:spcAft>
              <a:buNone/>
            </a:pPr>
            <a:r>
              <a:rPr lang="en-GB" sz="928" strike="sngStrike">
                <a:latin typeface="Hanken Grotesk"/>
                <a:ea typeface="Hanken Grotesk"/>
                <a:cs typeface="Hanken Grotesk"/>
                <a:sym typeface="Hanken Grotesk"/>
              </a:rPr>
              <a:t>Received this text: "</a:t>
            </a:r>
            <a:r>
              <a:rPr lang="en-GB" sz="928">
                <a:latin typeface="Hanken Grotesk"/>
                <a:ea typeface="Hanken Grotesk"/>
                <a:cs typeface="Hanken Grotesk"/>
                <a:sym typeface="Hanken Grotesk"/>
              </a:rPr>
              <a:t>Your toll payment for EZ Pas Lane must be settled by March 27, 2025. To avoid fines and the suspension of your driving privileges, kindly pay by the due date. Pay here: https://e-zpass,com-vipdj.xin/us Please reply with Y then exit the text message. Open it again, click he link, or copy it into your safari browser and open it.</a:t>
            </a:r>
            <a:endParaRPr sz="928">
              <a:latin typeface="Hanken Grotesk"/>
              <a:ea typeface="Hanken Grotesk"/>
              <a:cs typeface="Hanken Grotesk"/>
              <a:sym typeface="Hanken Grotesk"/>
            </a:endParaRPr>
          </a:p>
        </p:txBody>
      </p:sp>
      <p:sp>
        <p:nvSpPr>
          <p:cNvPr id="330" name="Google Shape;330;p32"/>
          <p:cNvSpPr/>
          <p:nvPr/>
        </p:nvSpPr>
        <p:spPr>
          <a:xfrm>
            <a:off x="1764500" y="2067975"/>
            <a:ext cx="2389800" cy="276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Hanken Grotesk"/>
                <a:ea typeface="Hanken Grotesk"/>
                <a:cs typeface="Hanken Grotesk"/>
                <a:sym typeface="Hanken Grotesk"/>
              </a:rPr>
              <a:t>scam_id: 964832</a:t>
            </a:r>
            <a:endParaRPr>
              <a:latin typeface="Hanken Grotesk"/>
              <a:ea typeface="Hanken Grotesk"/>
              <a:cs typeface="Hanken Grotesk"/>
              <a:sym typeface="Hanken Grotesk"/>
            </a:endParaRPr>
          </a:p>
        </p:txBody>
      </p:sp>
      <p:sp>
        <p:nvSpPr>
          <p:cNvPr id="331" name="Google Shape;331;p32"/>
          <p:cNvSpPr/>
          <p:nvPr/>
        </p:nvSpPr>
        <p:spPr>
          <a:xfrm>
            <a:off x="4918575" y="2043975"/>
            <a:ext cx="2389800" cy="276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Hanken Grotesk"/>
                <a:ea typeface="Hanken Grotesk"/>
                <a:cs typeface="Hanken Grotesk"/>
                <a:sym typeface="Hanken Grotesk"/>
              </a:rPr>
              <a:t>scam_id: </a:t>
            </a:r>
            <a:r>
              <a:rPr lang="en-GB">
                <a:latin typeface="Hanken Grotesk"/>
                <a:ea typeface="Hanken Grotesk"/>
                <a:cs typeface="Hanken Grotesk"/>
                <a:sym typeface="Hanken Grotesk"/>
              </a:rPr>
              <a:t>965101</a:t>
            </a:r>
            <a:endParaRPr>
              <a:latin typeface="Hanken Grotesk"/>
              <a:ea typeface="Hanken Grotesk"/>
              <a:cs typeface="Hanken Grotesk"/>
              <a:sym typeface="Hanken Grotesk"/>
            </a:endParaRPr>
          </a:p>
        </p:txBody>
      </p:sp>
      <p:sp>
        <p:nvSpPr>
          <p:cNvPr id="332" name="Google Shape;332;p32"/>
          <p:cNvSpPr txBox="1"/>
          <p:nvPr/>
        </p:nvSpPr>
        <p:spPr>
          <a:xfrm>
            <a:off x="1044150" y="4521450"/>
            <a:ext cx="7055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aseline="30000" i="1" lang="en-GB" sz="800">
                <a:solidFill>
                  <a:schemeClr val="dk1"/>
                </a:solidFill>
                <a:latin typeface="Hanken Grotesk"/>
                <a:ea typeface="Hanken Grotesk"/>
                <a:cs typeface="Hanken Grotesk"/>
                <a:sym typeface="Hanken Grotesk"/>
              </a:rPr>
              <a:t>1</a:t>
            </a:r>
            <a:r>
              <a:rPr i="1" lang="en-GB" sz="800">
                <a:solidFill>
                  <a:schemeClr val="dk1"/>
                </a:solidFill>
                <a:latin typeface="Hanken Grotesk"/>
                <a:ea typeface="Hanken Grotesk"/>
                <a:cs typeface="Hanken Grotesk"/>
                <a:sym typeface="Hanken Grotesk"/>
              </a:rPr>
              <a:t>I manually processed the data and removed unnecessary text to prevent the agent from making claims not related to the content of the message</a:t>
            </a:r>
            <a:endParaRPr i="1" sz="800">
              <a:solidFill>
                <a:schemeClr val="dk1"/>
              </a:solidFill>
              <a:latin typeface="Hanken Grotesk"/>
              <a:ea typeface="Hanken Grotesk"/>
              <a:cs typeface="Hanken Grotesk"/>
              <a:sym typeface="Hanken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Agents Overview</a:t>
            </a:r>
            <a:endParaRPr/>
          </a:p>
        </p:txBody>
      </p:sp>
      <p:sp>
        <p:nvSpPr>
          <p:cNvPr id="338" name="Google Shape;338;p33"/>
          <p:cNvSpPr/>
          <p:nvPr/>
        </p:nvSpPr>
        <p:spPr>
          <a:xfrm>
            <a:off x="1510538" y="1932143"/>
            <a:ext cx="1702800" cy="1777800"/>
          </a:xfrm>
          <a:prstGeom prst="roundRect">
            <a:avLst>
              <a:gd fmla="val 16667" name="adj"/>
            </a:avLst>
          </a:prstGeom>
          <a:solidFill>
            <a:srgbClr val="D9EAD3"/>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latin typeface="Hanken Grotesk"/>
                <a:ea typeface="Hanken Grotesk"/>
                <a:cs typeface="Hanken Grotesk"/>
                <a:sym typeface="Hanken Grotesk"/>
              </a:rPr>
              <a:t>Agent 1</a:t>
            </a:r>
            <a:endParaRPr b="1" sz="1198">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Parse Input]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a:t>
            </a:r>
            <a:r>
              <a:rPr lang="en-GB" sz="1027">
                <a:latin typeface="Hanken Grotesk"/>
                <a:ea typeface="Hanken Grotesk"/>
                <a:cs typeface="Hanken Grotesk"/>
                <a:sym typeface="Hanken Grotesk"/>
              </a:rPr>
              <a:t> Extract claims </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a:t>
            </a:r>
            <a:r>
              <a:rPr lang="en-GB" sz="1027">
                <a:latin typeface="Hanken Grotesk"/>
                <a:ea typeface="Hanken Grotesk"/>
                <a:cs typeface="Hanken Grotesk"/>
                <a:sym typeface="Hanken Grotesk"/>
              </a:rPr>
              <a:t> Determine verifiability</a:t>
            </a:r>
            <a:endParaRPr b="1" sz="1198">
              <a:latin typeface="Hanken Grotesk"/>
              <a:ea typeface="Hanken Grotesk"/>
              <a:cs typeface="Hanken Grotesk"/>
              <a:sym typeface="Hanken Grotesk"/>
            </a:endParaRPr>
          </a:p>
        </p:txBody>
      </p:sp>
      <p:pic>
        <p:nvPicPr>
          <p:cNvPr id="339" name="Google Shape;339;p33"/>
          <p:cNvPicPr preferRelativeResize="0"/>
          <p:nvPr/>
        </p:nvPicPr>
        <p:blipFill>
          <a:blip r:embed="rId3">
            <a:alphaModFix/>
          </a:blip>
          <a:stretch>
            <a:fillRect/>
          </a:stretch>
        </p:blipFill>
        <p:spPr>
          <a:xfrm>
            <a:off x="1980749" y="1320550"/>
            <a:ext cx="762330" cy="762330"/>
          </a:xfrm>
          <a:prstGeom prst="rect">
            <a:avLst/>
          </a:prstGeom>
          <a:noFill/>
          <a:ln>
            <a:noFill/>
          </a:ln>
        </p:spPr>
      </p:pic>
      <p:sp>
        <p:nvSpPr>
          <p:cNvPr id="340" name="Google Shape;340;p33"/>
          <p:cNvSpPr/>
          <p:nvPr/>
        </p:nvSpPr>
        <p:spPr>
          <a:xfrm>
            <a:off x="3720598" y="1932143"/>
            <a:ext cx="1702800" cy="1777800"/>
          </a:xfrm>
          <a:prstGeom prst="roundRect">
            <a:avLst>
              <a:gd fmla="val 16667" name="adj"/>
            </a:avLst>
          </a:prstGeom>
          <a:solidFill>
            <a:srgbClr val="C9DAF8"/>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latin typeface="Hanken Grotesk"/>
                <a:ea typeface="Hanken Grotesk"/>
                <a:cs typeface="Hanken Grotesk"/>
                <a:sym typeface="Hanken Grotesk"/>
              </a:rPr>
              <a:t>Agent 2</a:t>
            </a:r>
            <a:endParaRPr b="1" sz="1198">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Find Evidence</a:t>
            </a:r>
            <a:r>
              <a:rPr b="1" lang="en-GB" sz="1027">
                <a:latin typeface="Hanken Grotesk"/>
                <a:ea typeface="Hanken Grotesk"/>
                <a:cs typeface="Hanken Grotesk"/>
                <a:sym typeface="Hanken Grotesk"/>
              </a:rPr>
              <a: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Fetch evidence </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Provide explanation</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Score evidence</a:t>
            </a:r>
            <a:endParaRPr sz="1027">
              <a:latin typeface="Hanken Grotesk"/>
              <a:ea typeface="Hanken Grotesk"/>
              <a:cs typeface="Hanken Grotesk"/>
              <a:sym typeface="Hanken Grotesk"/>
            </a:endParaRPr>
          </a:p>
        </p:txBody>
      </p:sp>
      <p:pic>
        <p:nvPicPr>
          <p:cNvPr id="341" name="Google Shape;341;p33"/>
          <p:cNvPicPr preferRelativeResize="0"/>
          <p:nvPr/>
        </p:nvPicPr>
        <p:blipFill>
          <a:blip r:embed="rId3">
            <a:alphaModFix/>
          </a:blip>
          <a:stretch>
            <a:fillRect/>
          </a:stretch>
        </p:blipFill>
        <p:spPr>
          <a:xfrm>
            <a:off x="4190810" y="1320550"/>
            <a:ext cx="762330" cy="762330"/>
          </a:xfrm>
          <a:prstGeom prst="rect">
            <a:avLst/>
          </a:prstGeom>
          <a:noFill/>
          <a:ln>
            <a:noFill/>
          </a:ln>
        </p:spPr>
      </p:pic>
      <p:sp>
        <p:nvSpPr>
          <p:cNvPr id="342" name="Google Shape;342;p33"/>
          <p:cNvSpPr/>
          <p:nvPr/>
        </p:nvSpPr>
        <p:spPr>
          <a:xfrm>
            <a:off x="5930659" y="1932143"/>
            <a:ext cx="1702800" cy="1777800"/>
          </a:xfrm>
          <a:prstGeom prst="roundRect">
            <a:avLst>
              <a:gd fmla="val 16667" name="adj"/>
            </a:avLst>
          </a:prstGeom>
          <a:solidFill>
            <a:srgbClr val="D9D2E9"/>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latin typeface="Hanken Grotesk"/>
                <a:ea typeface="Hanken Grotesk"/>
                <a:cs typeface="Hanken Grotesk"/>
                <a:sym typeface="Hanken Grotesk"/>
              </a:rPr>
              <a:t>Agent 3</a:t>
            </a:r>
            <a:endParaRPr b="1" sz="1198">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Evaluate Claims</a:t>
            </a:r>
            <a:r>
              <a:rPr b="1" lang="en-GB" sz="1027">
                <a:latin typeface="Hanken Grotesk"/>
                <a:ea typeface="Hanken Grotesk"/>
                <a:cs typeface="Hanken Grotesk"/>
                <a:sym typeface="Hanken Grotesk"/>
              </a:rPr>
              <a: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Specify missing information*</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Conclude truth</a:t>
            </a:r>
            <a:endParaRPr sz="1027">
              <a:latin typeface="Hanken Grotesk"/>
              <a:ea typeface="Hanken Grotesk"/>
              <a:cs typeface="Hanken Grotesk"/>
              <a:sym typeface="Hanken Grotesk"/>
            </a:endParaRPr>
          </a:p>
          <a:p>
            <a:pPr indent="0" lvl="0" marL="0" rtl="0" algn="l">
              <a:spcBef>
                <a:spcPts val="0"/>
              </a:spcBef>
              <a:spcAft>
                <a:spcPts val="0"/>
              </a:spcAft>
              <a:buNone/>
            </a:pPr>
            <a:r>
              <a:t/>
            </a:r>
            <a:endParaRPr b="1" sz="1198">
              <a:latin typeface="Hanken Grotesk"/>
              <a:ea typeface="Hanken Grotesk"/>
              <a:cs typeface="Hanken Grotesk"/>
              <a:sym typeface="Hanken Grotesk"/>
            </a:endParaRPr>
          </a:p>
        </p:txBody>
      </p:sp>
      <p:pic>
        <p:nvPicPr>
          <p:cNvPr id="343" name="Google Shape;343;p33"/>
          <p:cNvPicPr preferRelativeResize="0"/>
          <p:nvPr/>
        </p:nvPicPr>
        <p:blipFill>
          <a:blip r:embed="rId3">
            <a:alphaModFix/>
          </a:blip>
          <a:stretch>
            <a:fillRect/>
          </a:stretch>
        </p:blipFill>
        <p:spPr>
          <a:xfrm>
            <a:off x="6400870" y="1320550"/>
            <a:ext cx="762330" cy="762330"/>
          </a:xfrm>
          <a:prstGeom prst="rect">
            <a:avLst/>
          </a:prstGeom>
          <a:noFill/>
          <a:ln>
            <a:noFill/>
          </a:ln>
        </p:spPr>
      </p:pic>
      <p:pic>
        <p:nvPicPr>
          <p:cNvPr id="344" name="Google Shape;344;p33"/>
          <p:cNvPicPr preferRelativeResize="0"/>
          <p:nvPr/>
        </p:nvPicPr>
        <p:blipFill rotWithShape="1">
          <a:blip r:embed="rId4">
            <a:alphaModFix/>
          </a:blip>
          <a:srcRect b="26560" l="25777" r="25548" t="26471"/>
          <a:stretch/>
        </p:blipFill>
        <p:spPr>
          <a:xfrm>
            <a:off x="3729213" y="3835163"/>
            <a:ext cx="268375" cy="258974"/>
          </a:xfrm>
          <a:prstGeom prst="rect">
            <a:avLst/>
          </a:prstGeom>
          <a:noFill/>
          <a:ln>
            <a:noFill/>
          </a:ln>
        </p:spPr>
      </p:pic>
      <p:sp>
        <p:nvSpPr>
          <p:cNvPr id="345" name="Google Shape;345;p33"/>
          <p:cNvSpPr/>
          <p:nvPr/>
        </p:nvSpPr>
        <p:spPr>
          <a:xfrm>
            <a:off x="4030538" y="3870450"/>
            <a:ext cx="1384200" cy="1884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get message context</a:t>
            </a:r>
            <a:endParaRPr sz="800">
              <a:latin typeface="Hanken Grotesk"/>
              <a:ea typeface="Hanken Grotesk"/>
              <a:cs typeface="Hanken Grotesk"/>
              <a:sym typeface="Hanken Grotesk"/>
            </a:endParaRPr>
          </a:p>
        </p:txBody>
      </p:sp>
      <p:pic>
        <p:nvPicPr>
          <p:cNvPr id="346" name="Google Shape;346;p33"/>
          <p:cNvPicPr preferRelativeResize="0"/>
          <p:nvPr/>
        </p:nvPicPr>
        <p:blipFill rotWithShape="1">
          <a:blip r:embed="rId4">
            <a:alphaModFix/>
          </a:blip>
          <a:srcRect b="26560" l="25777" r="25548" t="26471"/>
          <a:stretch/>
        </p:blipFill>
        <p:spPr>
          <a:xfrm>
            <a:off x="3729213" y="4152338"/>
            <a:ext cx="268375" cy="258974"/>
          </a:xfrm>
          <a:prstGeom prst="rect">
            <a:avLst/>
          </a:prstGeom>
          <a:noFill/>
          <a:ln>
            <a:noFill/>
          </a:ln>
        </p:spPr>
      </p:pic>
      <p:sp>
        <p:nvSpPr>
          <p:cNvPr id="347" name="Google Shape;347;p33"/>
          <p:cNvSpPr/>
          <p:nvPr/>
        </p:nvSpPr>
        <p:spPr>
          <a:xfrm>
            <a:off x="4030525" y="4187625"/>
            <a:ext cx="1384200" cy="1884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search internet</a:t>
            </a:r>
            <a:endParaRPr sz="800">
              <a:latin typeface="Hanken Grotesk"/>
              <a:ea typeface="Hanken Grotesk"/>
              <a:cs typeface="Hanken Grotesk"/>
              <a:sym typeface="Hanken Grotesk"/>
            </a:endParaRPr>
          </a:p>
        </p:txBody>
      </p:sp>
      <p:sp>
        <p:nvSpPr>
          <p:cNvPr id="348" name="Google Shape;348;p33"/>
          <p:cNvSpPr txBox="1"/>
          <p:nvPr/>
        </p:nvSpPr>
        <p:spPr>
          <a:xfrm>
            <a:off x="507876" y="4187625"/>
            <a:ext cx="2502600" cy="400200"/>
          </a:xfrm>
          <a:prstGeom prst="rect">
            <a:avLst/>
          </a:prstGeom>
          <a:solidFill>
            <a:srgbClr val="F3F3F3"/>
          </a:solid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a:solidFill>
                  <a:schemeClr val="dk1"/>
                </a:solidFill>
                <a:latin typeface="Hanken Grotesk"/>
                <a:ea typeface="Hanken Grotesk"/>
                <a:cs typeface="Hanken Grotesk"/>
                <a:sym typeface="Hanken Grotesk"/>
              </a:rPr>
              <a:t>All agents run on openai-5.1*</a:t>
            </a:r>
            <a:endParaRPr>
              <a:solidFill>
                <a:schemeClr val="dk1"/>
              </a:solidFill>
              <a:latin typeface="Hanken Grotesk"/>
              <a:ea typeface="Hanken Grotesk"/>
              <a:cs typeface="Hanken Grotesk"/>
              <a:sym typeface="Hanken Grotesk"/>
            </a:endParaRPr>
          </a:p>
        </p:txBody>
      </p:sp>
      <p:pic>
        <p:nvPicPr>
          <p:cNvPr id="349" name="Google Shape;349;p33"/>
          <p:cNvPicPr preferRelativeResize="0"/>
          <p:nvPr/>
        </p:nvPicPr>
        <p:blipFill>
          <a:blip r:embed="rId5">
            <a:alphaModFix/>
          </a:blip>
          <a:stretch>
            <a:fillRect/>
          </a:stretch>
        </p:blipFill>
        <p:spPr>
          <a:xfrm>
            <a:off x="3057488" y="4220563"/>
            <a:ext cx="334325" cy="334325"/>
          </a:xfrm>
          <a:prstGeom prst="rect">
            <a:avLst/>
          </a:prstGeom>
          <a:noFill/>
          <a:ln>
            <a:noFill/>
          </a:ln>
        </p:spPr>
      </p:pic>
      <p:sp>
        <p:nvSpPr>
          <p:cNvPr id="350" name="Google Shape;350;p33"/>
          <p:cNvSpPr txBox="1"/>
          <p:nvPr/>
        </p:nvSpPr>
        <p:spPr>
          <a:xfrm>
            <a:off x="4292125" y="4544975"/>
            <a:ext cx="4586100" cy="384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1300">
                <a:solidFill>
                  <a:schemeClr val="dk1"/>
                </a:solidFill>
                <a:latin typeface="Hanken Grotesk"/>
                <a:ea typeface="Hanken Grotesk"/>
                <a:cs typeface="Hanken Grotesk"/>
                <a:sym typeface="Hanken Grotesk"/>
              </a:rPr>
              <a:t>*</a:t>
            </a:r>
            <a:r>
              <a:rPr lang="en-GB" sz="800">
                <a:solidFill>
                  <a:schemeClr val="dk1"/>
                </a:solidFill>
                <a:latin typeface="Hanken Grotesk"/>
                <a:ea typeface="Hanken Grotesk"/>
                <a:cs typeface="Hanken Grotesk"/>
                <a:sym typeface="Hanken Grotesk"/>
              </a:rPr>
              <a:t>I tried using openai-5-mini/nano but they did not return desirable results</a:t>
            </a:r>
            <a:endParaRPr sz="800">
              <a:solidFill>
                <a:schemeClr val="dk1"/>
              </a:solidFill>
              <a:latin typeface="Hanken Grotesk"/>
              <a:ea typeface="Hanken Grotesk"/>
              <a:cs typeface="Hanken Grotesk"/>
              <a:sym typeface="Hanken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Tools Breakdown</a:t>
            </a:r>
            <a:endParaRPr/>
          </a:p>
        </p:txBody>
      </p:sp>
      <p:pic>
        <p:nvPicPr>
          <p:cNvPr id="356" name="Google Shape;356;p34"/>
          <p:cNvPicPr preferRelativeResize="0"/>
          <p:nvPr/>
        </p:nvPicPr>
        <p:blipFill rotWithShape="1">
          <a:blip r:embed="rId3">
            <a:alphaModFix/>
          </a:blip>
          <a:srcRect b="26560" l="25777" r="25548" t="26471"/>
          <a:stretch/>
        </p:blipFill>
        <p:spPr>
          <a:xfrm>
            <a:off x="922900" y="1131050"/>
            <a:ext cx="490580" cy="473392"/>
          </a:xfrm>
          <a:prstGeom prst="rect">
            <a:avLst/>
          </a:prstGeom>
          <a:noFill/>
          <a:ln>
            <a:noFill/>
          </a:ln>
        </p:spPr>
      </p:pic>
      <p:sp>
        <p:nvSpPr>
          <p:cNvPr id="357" name="Google Shape;357;p34"/>
          <p:cNvSpPr/>
          <p:nvPr/>
        </p:nvSpPr>
        <p:spPr>
          <a:xfrm>
            <a:off x="1473711" y="1195554"/>
            <a:ext cx="2530500" cy="344400"/>
          </a:xfrm>
          <a:prstGeom prst="roundRect">
            <a:avLst>
              <a:gd fmla="val 16667" name="adj"/>
            </a:avLst>
          </a:prstGeom>
          <a:solidFill>
            <a:srgbClr val="FFF2CC"/>
          </a:solidFill>
          <a:ln cap="flat" cmpd="sng" w="17425">
            <a:solidFill>
              <a:schemeClr val="dk1"/>
            </a:solidFill>
            <a:prstDash val="solid"/>
            <a:round/>
            <a:headEnd len="sm" w="sm" type="none"/>
            <a:tailEnd len="sm" w="sm" type="none"/>
          </a:ln>
        </p:spPr>
        <p:txBody>
          <a:bodyPr anchorCtr="0" anchor="ctr" bIns="167125" lIns="167125" spcFirstLastPara="1" rIns="167125" wrap="square" tIns="167125">
            <a:noAutofit/>
          </a:bodyPr>
          <a:lstStyle/>
          <a:p>
            <a:pPr indent="0" lvl="0" marL="0" rtl="0" algn="ctr">
              <a:spcBef>
                <a:spcPts val="0"/>
              </a:spcBef>
              <a:spcAft>
                <a:spcPts val="0"/>
              </a:spcAft>
              <a:buNone/>
            </a:pPr>
            <a:r>
              <a:rPr lang="en-GB" sz="1462">
                <a:latin typeface="Hanken Grotesk"/>
                <a:ea typeface="Hanken Grotesk"/>
                <a:cs typeface="Hanken Grotesk"/>
                <a:sym typeface="Hanken Grotesk"/>
              </a:rPr>
              <a:t>get message context</a:t>
            </a:r>
            <a:endParaRPr sz="1462">
              <a:latin typeface="Hanken Grotesk"/>
              <a:ea typeface="Hanken Grotesk"/>
              <a:cs typeface="Hanken Grotesk"/>
              <a:sym typeface="Hanken Grotesk"/>
            </a:endParaRPr>
          </a:p>
        </p:txBody>
      </p:sp>
      <p:pic>
        <p:nvPicPr>
          <p:cNvPr id="358" name="Google Shape;358;p34"/>
          <p:cNvPicPr preferRelativeResize="0"/>
          <p:nvPr/>
        </p:nvPicPr>
        <p:blipFill rotWithShape="1">
          <a:blip r:embed="rId3">
            <a:alphaModFix/>
          </a:blip>
          <a:srcRect b="26560" l="25777" r="25548" t="26471"/>
          <a:stretch/>
        </p:blipFill>
        <p:spPr>
          <a:xfrm>
            <a:off x="5139812" y="1131057"/>
            <a:ext cx="490580" cy="473392"/>
          </a:xfrm>
          <a:prstGeom prst="rect">
            <a:avLst/>
          </a:prstGeom>
          <a:noFill/>
          <a:ln>
            <a:noFill/>
          </a:ln>
        </p:spPr>
      </p:pic>
      <p:sp>
        <p:nvSpPr>
          <p:cNvPr id="359" name="Google Shape;359;p34"/>
          <p:cNvSpPr/>
          <p:nvPr/>
        </p:nvSpPr>
        <p:spPr>
          <a:xfrm>
            <a:off x="5690600" y="1195561"/>
            <a:ext cx="2530500" cy="344400"/>
          </a:xfrm>
          <a:prstGeom prst="roundRect">
            <a:avLst>
              <a:gd fmla="val 16667" name="adj"/>
            </a:avLst>
          </a:prstGeom>
          <a:solidFill>
            <a:srgbClr val="FCE5CD"/>
          </a:solidFill>
          <a:ln cap="flat" cmpd="sng" w="17425">
            <a:solidFill>
              <a:schemeClr val="dk1"/>
            </a:solidFill>
            <a:prstDash val="solid"/>
            <a:round/>
            <a:headEnd len="sm" w="sm" type="none"/>
            <a:tailEnd len="sm" w="sm" type="none"/>
          </a:ln>
        </p:spPr>
        <p:txBody>
          <a:bodyPr anchorCtr="0" anchor="ctr" bIns="167125" lIns="167125" spcFirstLastPara="1" rIns="167125" wrap="square" tIns="167125">
            <a:noAutofit/>
          </a:bodyPr>
          <a:lstStyle/>
          <a:p>
            <a:pPr indent="0" lvl="0" marL="0" rtl="0" algn="ctr">
              <a:spcBef>
                <a:spcPts val="0"/>
              </a:spcBef>
              <a:spcAft>
                <a:spcPts val="0"/>
              </a:spcAft>
              <a:buNone/>
            </a:pPr>
            <a:r>
              <a:rPr lang="en-GB" sz="1462">
                <a:latin typeface="Hanken Grotesk"/>
                <a:ea typeface="Hanken Grotesk"/>
                <a:cs typeface="Hanken Grotesk"/>
                <a:sym typeface="Hanken Grotesk"/>
              </a:rPr>
              <a:t>search internet</a:t>
            </a:r>
            <a:endParaRPr sz="1462">
              <a:latin typeface="Hanken Grotesk"/>
              <a:ea typeface="Hanken Grotesk"/>
              <a:cs typeface="Hanken Grotesk"/>
              <a:sym typeface="Hanken Grotesk"/>
            </a:endParaRPr>
          </a:p>
        </p:txBody>
      </p:sp>
      <p:sp>
        <p:nvSpPr>
          <p:cNvPr id="360" name="Google Shape;360;p34"/>
          <p:cNvSpPr/>
          <p:nvPr/>
        </p:nvSpPr>
        <p:spPr>
          <a:xfrm>
            <a:off x="922900" y="1781525"/>
            <a:ext cx="3081300" cy="28869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latin typeface="Hanken Grotesk"/>
                <a:ea typeface="Hanken Grotesk"/>
                <a:cs typeface="Hanken Grotesk"/>
                <a:sym typeface="Hanken Grotesk"/>
              </a:rPr>
              <a:t>Description</a:t>
            </a:r>
            <a:r>
              <a:rPr b="1" lang="en-GB" sz="1000">
                <a:latin typeface="Hanken Grotesk"/>
                <a:ea typeface="Hanken Grotesk"/>
                <a:cs typeface="Hanken Grotesk"/>
                <a:sym typeface="Hanken Grotesk"/>
              </a:rPr>
              <a:t>: </a:t>
            </a:r>
            <a:endParaRPr b="1" sz="1000">
              <a:latin typeface="Hanken Grotesk"/>
              <a:ea typeface="Hanken Grotesk"/>
              <a:cs typeface="Hanken Grotesk"/>
              <a:sym typeface="Hanken Grotesk"/>
            </a:endParaRPr>
          </a:p>
          <a:p>
            <a:pPr indent="0" lvl="0" marL="0" rtl="0" algn="l">
              <a:spcBef>
                <a:spcPts val="0"/>
              </a:spcBef>
              <a:spcAft>
                <a:spcPts val="0"/>
              </a:spcAft>
              <a:buNone/>
            </a:pPr>
            <a:r>
              <a:rPr i="1" lang="en-GB" sz="1000">
                <a:latin typeface="Hanken Grotesk"/>
                <a:ea typeface="Hanken Grotesk"/>
                <a:cs typeface="Hanken Grotesk"/>
                <a:sym typeface="Hanken Grotesk"/>
              </a:rPr>
              <a:t>Given a scam_id, returns the original message text (raw_text) for internal consistency checking</a:t>
            </a:r>
            <a:endParaRPr b="1" sz="1000">
              <a:latin typeface="Hanken Grotesk"/>
              <a:ea typeface="Hanken Grotesk"/>
              <a:cs typeface="Hanken Grotesk"/>
              <a:sym typeface="Hanken Grotesk"/>
            </a:endParaRPr>
          </a:p>
          <a:p>
            <a:pPr indent="0" lvl="0" marL="0" rtl="0" algn="l">
              <a:spcBef>
                <a:spcPts val="0"/>
              </a:spcBef>
              <a:spcAft>
                <a:spcPts val="0"/>
              </a:spcAft>
              <a:buNone/>
            </a:pPr>
            <a:r>
              <a:t/>
            </a:r>
            <a:endParaRPr b="1" sz="1000">
              <a:latin typeface="Hanken Grotesk"/>
              <a:ea typeface="Hanken Grotesk"/>
              <a:cs typeface="Hanken Grotesk"/>
              <a:sym typeface="Hanken Grotesk"/>
            </a:endParaRPr>
          </a:p>
          <a:p>
            <a:pPr indent="0" lvl="0" marL="0" rtl="0" algn="l">
              <a:spcBef>
                <a:spcPts val="0"/>
              </a:spcBef>
              <a:spcAft>
                <a:spcPts val="0"/>
              </a:spcAft>
              <a:buNone/>
            </a:pPr>
            <a:r>
              <a:rPr b="1" lang="en-GB" sz="1000">
                <a:latin typeface="Hanken Grotesk"/>
                <a:ea typeface="Hanken Grotesk"/>
                <a:cs typeface="Hanken Grotesk"/>
                <a:sym typeface="Hanken Grotesk"/>
              </a:rPr>
              <a:t>Explanation:</a:t>
            </a:r>
            <a:endParaRPr b="1" sz="1000">
              <a:latin typeface="Hanken Grotesk"/>
              <a:ea typeface="Hanken Grotesk"/>
              <a:cs typeface="Hanken Grotesk"/>
              <a:sym typeface="Hanken Grotesk"/>
            </a:endParaRPr>
          </a:p>
          <a:p>
            <a:pPr indent="0" lvl="0" marL="0" rtl="0" algn="l">
              <a:spcBef>
                <a:spcPts val="0"/>
              </a:spcBef>
              <a:spcAft>
                <a:spcPts val="0"/>
              </a:spcAft>
              <a:buNone/>
            </a:pPr>
            <a:r>
              <a:rPr lang="en-GB" sz="1000">
                <a:latin typeface="Hanken Grotesk"/>
                <a:ea typeface="Hanken Grotesk"/>
                <a:cs typeface="Hanken Grotesk"/>
                <a:sym typeface="Hanken Grotesk"/>
              </a:rPr>
              <a:t>Alongside the input claim, Agent2 is provided with a scam_id that it can use to query the database (CSV file) to obtain the full initial message (the context of the claim)</a:t>
            </a:r>
            <a:endParaRPr sz="1000">
              <a:latin typeface="Hanken Grotesk"/>
              <a:ea typeface="Hanken Grotesk"/>
              <a:cs typeface="Hanken Grotesk"/>
              <a:sym typeface="Hanken Grotesk"/>
            </a:endParaRPr>
          </a:p>
          <a:p>
            <a:pPr indent="0" lvl="0" marL="0" rtl="0" algn="l">
              <a:spcBef>
                <a:spcPts val="0"/>
              </a:spcBef>
              <a:spcAft>
                <a:spcPts val="0"/>
              </a:spcAft>
              <a:buNone/>
            </a:pPr>
            <a:r>
              <a:t/>
            </a:r>
            <a:endParaRPr sz="1000">
              <a:latin typeface="Hanken Grotesk"/>
              <a:ea typeface="Hanken Grotesk"/>
              <a:cs typeface="Hanken Grotesk"/>
              <a:sym typeface="Hanken Grotesk"/>
            </a:endParaRPr>
          </a:p>
          <a:p>
            <a:pPr indent="0" lvl="0" marL="0" rtl="0" algn="l">
              <a:spcBef>
                <a:spcPts val="0"/>
              </a:spcBef>
              <a:spcAft>
                <a:spcPts val="0"/>
              </a:spcAft>
              <a:buNone/>
            </a:pPr>
            <a:r>
              <a:t/>
            </a:r>
            <a:endParaRPr sz="1000">
              <a:latin typeface="Hanken Grotesk"/>
              <a:ea typeface="Hanken Grotesk"/>
              <a:cs typeface="Hanken Grotesk"/>
              <a:sym typeface="Hanken Grotesk"/>
            </a:endParaRPr>
          </a:p>
          <a:p>
            <a:pPr indent="0" lvl="0" marL="0" rtl="0" algn="l">
              <a:spcBef>
                <a:spcPts val="0"/>
              </a:spcBef>
              <a:spcAft>
                <a:spcPts val="0"/>
              </a:spcAft>
              <a:buNone/>
            </a:pPr>
            <a:r>
              <a:t/>
            </a:r>
            <a:endParaRPr i="1" sz="1000">
              <a:latin typeface="Hanken Grotesk"/>
              <a:ea typeface="Hanken Grotesk"/>
              <a:cs typeface="Hanken Grotesk"/>
              <a:sym typeface="Hanken Grotesk"/>
            </a:endParaRPr>
          </a:p>
        </p:txBody>
      </p:sp>
      <p:sp>
        <p:nvSpPr>
          <p:cNvPr id="361" name="Google Shape;361;p34"/>
          <p:cNvSpPr/>
          <p:nvPr/>
        </p:nvSpPr>
        <p:spPr>
          <a:xfrm>
            <a:off x="5139800" y="1781525"/>
            <a:ext cx="3081300" cy="28506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latin typeface="Hanken Grotesk"/>
                <a:ea typeface="Hanken Grotesk"/>
                <a:cs typeface="Hanken Grotesk"/>
                <a:sym typeface="Hanken Grotesk"/>
              </a:rPr>
              <a:t>Description: </a:t>
            </a:r>
            <a:endParaRPr b="1" sz="1000">
              <a:latin typeface="Hanken Grotesk"/>
              <a:ea typeface="Hanken Grotesk"/>
              <a:cs typeface="Hanken Grotesk"/>
              <a:sym typeface="Hanken Grotesk"/>
            </a:endParaRPr>
          </a:p>
          <a:p>
            <a:pPr indent="0" lvl="0" marL="0" rtl="0" algn="l">
              <a:spcBef>
                <a:spcPts val="0"/>
              </a:spcBef>
              <a:spcAft>
                <a:spcPts val="0"/>
              </a:spcAft>
              <a:buNone/>
            </a:pPr>
            <a:r>
              <a:rPr i="1" lang="en-GB" sz="1000">
                <a:latin typeface="Hanken Grotesk"/>
                <a:ea typeface="Hanken Grotesk"/>
                <a:cs typeface="Hanken Grotesk"/>
                <a:sym typeface="Hanken Grotesk"/>
              </a:rPr>
              <a:t>Searches the internet</a:t>
            </a:r>
            <a:endParaRPr b="1" sz="1000">
              <a:latin typeface="Hanken Grotesk"/>
              <a:ea typeface="Hanken Grotesk"/>
              <a:cs typeface="Hanken Grotesk"/>
              <a:sym typeface="Hanken Grotesk"/>
            </a:endParaRPr>
          </a:p>
          <a:p>
            <a:pPr indent="0" lvl="0" marL="0" rtl="0" algn="l">
              <a:spcBef>
                <a:spcPts val="0"/>
              </a:spcBef>
              <a:spcAft>
                <a:spcPts val="0"/>
              </a:spcAft>
              <a:buNone/>
            </a:pPr>
            <a:r>
              <a:t/>
            </a:r>
            <a:endParaRPr b="1" sz="1000">
              <a:latin typeface="Hanken Grotesk"/>
              <a:ea typeface="Hanken Grotesk"/>
              <a:cs typeface="Hanken Grotesk"/>
              <a:sym typeface="Hanken Grotesk"/>
            </a:endParaRPr>
          </a:p>
          <a:p>
            <a:pPr indent="0" lvl="0" marL="0" rtl="0" algn="l">
              <a:spcBef>
                <a:spcPts val="0"/>
              </a:spcBef>
              <a:spcAft>
                <a:spcPts val="0"/>
              </a:spcAft>
              <a:buNone/>
            </a:pPr>
            <a:r>
              <a:rPr b="1" lang="en-GB" sz="1000">
                <a:latin typeface="Hanken Grotesk"/>
                <a:ea typeface="Hanken Grotesk"/>
                <a:cs typeface="Hanken Grotesk"/>
                <a:sym typeface="Hanken Grotesk"/>
              </a:rPr>
              <a:t>Explanation:</a:t>
            </a:r>
            <a:endParaRPr b="1" sz="1000">
              <a:latin typeface="Hanken Grotesk"/>
              <a:ea typeface="Hanken Grotesk"/>
              <a:cs typeface="Hanken Grotesk"/>
              <a:sym typeface="Hanken Grotesk"/>
            </a:endParaRPr>
          </a:p>
          <a:p>
            <a:pPr indent="0" lvl="0" marL="0" rtl="0" algn="l">
              <a:spcBef>
                <a:spcPts val="0"/>
              </a:spcBef>
              <a:spcAft>
                <a:spcPts val="0"/>
              </a:spcAft>
              <a:buNone/>
            </a:pPr>
            <a:r>
              <a:t/>
            </a:r>
            <a:endParaRPr b="1" sz="1000">
              <a:latin typeface="Hanken Grotesk"/>
              <a:ea typeface="Hanken Grotesk"/>
              <a:cs typeface="Hanken Grotesk"/>
              <a:sym typeface="Hanken Grotesk"/>
            </a:endParaRPr>
          </a:p>
          <a:p>
            <a:pPr indent="0" lvl="0" marL="0" rtl="0" algn="l">
              <a:spcBef>
                <a:spcPts val="0"/>
              </a:spcBef>
              <a:spcAft>
                <a:spcPts val="0"/>
              </a:spcAft>
              <a:buNone/>
            </a:pPr>
            <a:r>
              <a:rPr lang="en-GB" sz="1000">
                <a:latin typeface="Hanken Grotesk"/>
                <a:ea typeface="Hanken Grotesk"/>
                <a:cs typeface="Hanken Grotesk"/>
                <a:sym typeface="Hanken Grotesk"/>
              </a:rPr>
              <a:t>This uses DuckDuckGo's SearchAPI* to obtain quick topic summaries / zero-click answers ("snippets")*</a:t>
            </a:r>
            <a:endParaRPr sz="1000">
              <a:latin typeface="Hanken Grotesk"/>
              <a:ea typeface="Hanken Grotesk"/>
              <a:cs typeface="Hanken Grotesk"/>
              <a:sym typeface="Hanken Grotesk"/>
            </a:endParaRPr>
          </a:p>
          <a:p>
            <a:pPr indent="0" lvl="0" marL="0" rtl="0" algn="l">
              <a:spcBef>
                <a:spcPts val="0"/>
              </a:spcBef>
              <a:spcAft>
                <a:spcPts val="0"/>
              </a:spcAft>
              <a:buNone/>
            </a:pPr>
            <a:r>
              <a:t/>
            </a:r>
            <a:endParaRPr sz="1000">
              <a:latin typeface="Hanken Grotesk"/>
              <a:ea typeface="Hanken Grotesk"/>
              <a:cs typeface="Hanken Grotesk"/>
              <a:sym typeface="Hanken Grotesk"/>
            </a:endParaRPr>
          </a:p>
          <a:p>
            <a:pPr indent="0" lvl="0" marL="0" rtl="0" algn="l">
              <a:spcBef>
                <a:spcPts val="0"/>
              </a:spcBef>
              <a:spcAft>
                <a:spcPts val="0"/>
              </a:spcAft>
              <a:buNone/>
            </a:pPr>
            <a:r>
              <a:t/>
            </a:r>
            <a:endParaRPr i="1" sz="1000">
              <a:latin typeface="Hanken Grotesk"/>
              <a:ea typeface="Hanken Grotesk"/>
              <a:cs typeface="Hanken Grotesk"/>
              <a:sym typeface="Hanken Grotesk"/>
            </a:endParaRPr>
          </a:p>
        </p:txBody>
      </p:sp>
      <p:sp>
        <p:nvSpPr>
          <p:cNvPr id="362" name="Google Shape;362;p34"/>
          <p:cNvSpPr txBox="1"/>
          <p:nvPr/>
        </p:nvSpPr>
        <p:spPr>
          <a:xfrm>
            <a:off x="5309875" y="4078025"/>
            <a:ext cx="283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accent1"/>
                </a:solidFill>
                <a:latin typeface="Hanken Grotesk"/>
                <a:ea typeface="Hanken Grotesk"/>
                <a:cs typeface="Hanken Grotesk"/>
                <a:sym typeface="Hanken Grotesk"/>
              </a:rPr>
              <a:t>*initially implemented in GoogleSearchAPI, but it has been discontinued very recently. There may be better paid APIs available.</a:t>
            </a:r>
            <a:endParaRPr sz="800">
              <a:solidFill>
                <a:schemeClr val="accent1"/>
              </a:solidFill>
              <a:latin typeface="Hanken Grotesk"/>
              <a:ea typeface="Hanken Grotesk"/>
              <a:cs typeface="Hanken Grotesk"/>
              <a:sym typeface="Hanken Grotesk"/>
            </a:endParaRPr>
          </a:p>
        </p:txBody>
      </p:sp>
      <p:sp>
        <p:nvSpPr>
          <p:cNvPr id="363" name="Google Shape;363;p34"/>
          <p:cNvSpPr txBox="1"/>
          <p:nvPr/>
        </p:nvSpPr>
        <p:spPr>
          <a:xfrm>
            <a:off x="1044400" y="3913875"/>
            <a:ext cx="2838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accent1"/>
                </a:solidFill>
                <a:latin typeface="Hanken Grotesk"/>
                <a:ea typeface="Hanken Grotesk"/>
                <a:cs typeface="Hanken Grotesk"/>
                <a:sym typeface="Hanken Grotesk"/>
              </a:rPr>
              <a:t>I could input context to Agent2 directly, but this helped to better separate claim from context for agent understanding. This also </a:t>
            </a:r>
            <a:r>
              <a:rPr lang="en-GB" sz="800">
                <a:solidFill>
                  <a:schemeClr val="accent1"/>
                </a:solidFill>
                <a:latin typeface="Hanken Grotesk"/>
                <a:ea typeface="Hanken Grotesk"/>
                <a:cs typeface="Hanken Grotesk"/>
                <a:sym typeface="Hanken Grotesk"/>
              </a:rPr>
              <a:t>showcases its ability to call db query tools</a:t>
            </a:r>
            <a:endParaRPr sz="800">
              <a:solidFill>
                <a:schemeClr val="accent1"/>
              </a:solidFill>
              <a:latin typeface="Hanken Grotesk"/>
              <a:ea typeface="Hanken Grotesk"/>
              <a:cs typeface="Hanken Grotesk"/>
              <a:sym typeface="Hanken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 Breakdown [</a:t>
            </a:r>
            <a:r>
              <a:rPr lang="en-GB">
                <a:solidFill>
                  <a:srgbClr val="38761D"/>
                </a:solidFill>
              </a:rPr>
              <a:t>Agent 1</a:t>
            </a:r>
            <a:r>
              <a:rPr lang="en-GB"/>
              <a:t>]</a:t>
            </a:r>
            <a:endParaRPr/>
          </a:p>
        </p:txBody>
      </p:sp>
      <p:sp>
        <p:nvSpPr>
          <p:cNvPr id="369" name="Google Shape;369;p35"/>
          <p:cNvSpPr/>
          <p:nvPr/>
        </p:nvSpPr>
        <p:spPr>
          <a:xfrm>
            <a:off x="3559500" y="1246225"/>
            <a:ext cx="5159100" cy="3328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Hanken Grotesk"/>
                <a:ea typeface="Hanken Grotesk"/>
                <a:cs typeface="Hanken Grotesk"/>
                <a:sym typeface="Hanken Grotesk"/>
              </a:rPr>
              <a:t>Extract claims</a:t>
            </a:r>
            <a:endParaRPr b="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Explicit claims ("You must clear your toll within 24 hours to avoid suspension")</a:t>
            </a:r>
            <a:endParaRPr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Implicit claims ("sender implies he is from Sunpass")</a:t>
            </a:r>
            <a:endParaRPr sz="1200">
              <a:latin typeface="Hanken Grotesk"/>
              <a:ea typeface="Hanken Grotesk"/>
              <a:cs typeface="Hanken Grotesk"/>
              <a:sym typeface="Hanken Grotesk"/>
            </a:endParaRPr>
          </a:p>
          <a:p>
            <a:pPr indent="-304800" lvl="1" marL="9144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defined as sender identity / institutional </a:t>
            </a:r>
            <a:r>
              <a:rPr lang="en-GB" sz="1200">
                <a:latin typeface="Hanken Grotesk"/>
                <a:ea typeface="Hanken Grotesk"/>
                <a:cs typeface="Hanken Grotesk"/>
                <a:sym typeface="Hanken Grotesk"/>
              </a:rPr>
              <a:t>affiliation</a:t>
            </a:r>
            <a:endParaRPr baseline="30000"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i="1" lang="en-GB" sz="1200">
                <a:latin typeface="Hanken Grotesk"/>
                <a:ea typeface="Hanken Grotesk"/>
                <a:cs typeface="Hanken Grotesk"/>
                <a:sym typeface="Hanken Grotesk"/>
              </a:rPr>
              <a:t>Additionally:</a:t>
            </a:r>
            <a:endParaRPr i="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i="1" lang="en-GB" sz="1200">
                <a:latin typeface="Hanken Grotesk"/>
                <a:ea typeface="Hanken Grotesk"/>
                <a:cs typeface="Hanken Grotesk"/>
                <a:sym typeface="Hanken Grotesk"/>
              </a:rPr>
              <a:t>Ignore sentiments ("SunPass hopes your travels are smooth and easy today")</a:t>
            </a:r>
            <a:r>
              <a:rPr baseline="30000" i="1" lang="en-GB" sz="1200">
                <a:latin typeface="Hanken Grotesk"/>
                <a:ea typeface="Hanken Grotesk"/>
                <a:cs typeface="Hanken Grotesk"/>
                <a:sym typeface="Hanken Grotesk"/>
              </a:rPr>
              <a:t>2</a:t>
            </a:r>
            <a:endParaRPr baseline="30000" i="1" sz="1200">
              <a:latin typeface="Hanken Grotesk"/>
              <a:ea typeface="Hanken Grotesk"/>
              <a:cs typeface="Hanken Grotesk"/>
              <a:sym typeface="Hanken Grotesk"/>
            </a:endParaRPr>
          </a:p>
          <a:p>
            <a:pPr indent="0" lvl="0" marL="0" rtl="0" algn="l">
              <a:spcBef>
                <a:spcPts val="0"/>
              </a:spcBef>
              <a:spcAft>
                <a:spcPts val="0"/>
              </a:spcAft>
              <a:buNone/>
            </a:pPr>
            <a:r>
              <a:t/>
            </a:r>
            <a:endParaRPr baseline="30000" sz="1200">
              <a:latin typeface="Hanken Grotesk"/>
              <a:ea typeface="Hanken Grotesk"/>
              <a:cs typeface="Hanken Grotesk"/>
              <a:sym typeface="Hanken Grotesk"/>
            </a:endParaRPr>
          </a:p>
        </p:txBody>
      </p:sp>
      <p:sp>
        <p:nvSpPr>
          <p:cNvPr id="370" name="Google Shape;370;p35"/>
          <p:cNvSpPr/>
          <p:nvPr/>
        </p:nvSpPr>
        <p:spPr>
          <a:xfrm>
            <a:off x="1002013" y="2172243"/>
            <a:ext cx="1702800" cy="1777800"/>
          </a:xfrm>
          <a:prstGeom prst="roundRect">
            <a:avLst>
              <a:gd fmla="val 16667" name="adj"/>
            </a:avLst>
          </a:prstGeom>
          <a:solidFill>
            <a:srgbClr val="D9EAD3"/>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solidFill>
                  <a:schemeClr val="dk1"/>
                </a:solidFill>
                <a:latin typeface="Hanken Grotesk"/>
                <a:ea typeface="Hanken Grotesk"/>
                <a:cs typeface="Hanken Grotesk"/>
                <a:sym typeface="Hanken Grotesk"/>
              </a:rPr>
              <a:t>Agent 1</a:t>
            </a:r>
            <a:endParaRPr b="1" sz="1198">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Parse Input]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Extract claims </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Determine verifiability</a:t>
            </a:r>
            <a:endParaRPr b="1" sz="1198">
              <a:latin typeface="Hanken Grotesk"/>
              <a:ea typeface="Hanken Grotesk"/>
              <a:cs typeface="Hanken Grotesk"/>
              <a:sym typeface="Hanken Grotesk"/>
            </a:endParaRPr>
          </a:p>
        </p:txBody>
      </p:sp>
      <p:pic>
        <p:nvPicPr>
          <p:cNvPr id="371" name="Google Shape;371;p35"/>
          <p:cNvPicPr preferRelativeResize="0"/>
          <p:nvPr/>
        </p:nvPicPr>
        <p:blipFill>
          <a:blip r:embed="rId3">
            <a:alphaModFix/>
          </a:blip>
          <a:stretch>
            <a:fillRect/>
          </a:stretch>
        </p:blipFill>
        <p:spPr>
          <a:xfrm>
            <a:off x="1472224" y="1560650"/>
            <a:ext cx="762330" cy="762330"/>
          </a:xfrm>
          <a:prstGeom prst="rect">
            <a:avLst/>
          </a:prstGeom>
          <a:noFill/>
          <a:ln>
            <a:noFill/>
          </a:ln>
        </p:spPr>
      </p:pic>
      <p:sp>
        <p:nvSpPr>
          <p:cNvPr id="372" name="Google Shape;372;p35"/>
          <p:cNvSpPr/>
          <p:nvPr/>
        </p:nvSpPr>
        <p:spPr>
          <a:xfrm>
            <a:off x="2806650" y="2938750"/>
            <a:ext cx="651000" cy="244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73" name="Google Shape;373;p35"/>
          <p:cNvSpPr txBox="1"/>
          <p:nvPr/>
        </p:nvSpPr>
        <p:spPr>
          <a:xfrm>
            <a:off x="3813600" y="4098625"/>
            <a:ext cx="47295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800">
                <a:latin typeface="Hanken Grotesk"/>
                <a:ea typeface="Hanken Grotesk"/>
                <a:cs typeface="Hanken Grotesk"/>
                <a:sym typeface="Hanken Grotesk"/>
              </a:rPr>
              <a:t>1 </a:t>
            </a:r>
            <a:r>
              <a:rPr i="1" lang="en-GB" sz="800">
                <a:latin typeface="Hanken Grotesk"/>
                <a:ea typeface="Hanken Grotesk"/>
                <a:cs typeface="Hanken Grotesk"/>
                <a:sym typeface="Hanken Grotesk"/>
              </a:rPr>
              <a:t>This does not always filter out all corporate language / sentiments, but it helps keep the large majority of claims objectively verifiable</a:t>
            </a:r>
            <a:endParaRPr i="1" sz="800">
              <a:solidFill>
                <a:schemeClr val="dk1"/>
              </a:solidFill>
              <a:latin typeface="Hanken Grotesk"/>
              <a:ea typeface="Hanken Grotesk"/>
              <a:cs typeface="Hanken Grotesk"/>
              <a:sym typeface="Hanken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 Breakdown [</a:t>
            </a:r>
            <a:r>
              <a:rPr lang="en-GB">
                <a:solidFill>
                  <a:srgbClr val="38761D"/>
                </a:solidFill>
              </a:rPr>
              <a:t>Agent 1</a:t>
            </a:r>
            <a:r>
              <a:rPr lang="en-GB"/>
              <a:t>]</a:t>
            </a:r>
            <a:endParaRPr/>
          </a:p>
        </p:txBody>
      </p:sp>
      <p:sp>
        <p:nvSpPr>
          <p:cNvPr id="379" name="Google Shape;379;p36"/>
          <p:cNvSpPr/>
          <p:nvPr/>
        </p:nvSpPr>
        <p:spPr>
          <a:xfrm>
            <a:off x="3559475" y="1252100"/>
            <a:ext cx="4864500" cy="3328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Hanken Grotesk"/>
                <a:ea typeface="Hanken Grotesk"/>
                <a:cs typeface="Hanken Grotesk"/>
                <a:sym typeface="Hanken Grotesk"/>
              </a:rPr>
              <a:t>Determine verifiability</a:t>
            </a:r>
            <a:endParaRPr b="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Verifiable: A neutral third party could, in principle</a:t>
            </a:r>
            <a:r>
              <a:rPr baseline="30000" lang="en-GB" sz="1200">
                <a:latin typeface="Hanken Grotesk"/>
                <a:ea typeface="Hanken Grotesk"/>
                <a:cs typeface="Hanken Grotesk"/>
                <a:sym typeface="Hanken Grotesk"/>
              </a:rPr>
              <a:t>2</a:t>
            </a:r>
            <a:r>
              <a:rPr lang="en-GB" sz="1200">
                <a:latin typeface="Hanken Grotesk"/>
                <a:ea typeface="Hanken Grotesk"/>
                <a:cs typeface="Hanken Grotesk"/>
                <a:sym typeface="Hanken Grotesk"/>
              </a:rPr>
              <a:t>, check using publicly available sources or from contextual understanding</a:t>
            </a:r>
            <a:endParaRPr baseline="30000"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Unverifiable: Involves future promises, vague assertions, or extra private information</a:t>
            </a:r>
            <a:r>
              <a:rPr baseline="30000" lang="en-GB" sz="1200">
                <a:latin typeface="Hanken Grotesk"/>
                <a:ea typeface="Hanken Grotesk"/>
                <a:cs typeface="Hanken Grotesk"/>
                <a:sym typeface="Hanken Grotesk"/>
              </a:rPr>
              <a:t>3</a:t>
            </a:r>
            <a:endParaRPr baseline="30000" sz="1200">
              <a:latin typeface="Hanken Grotesk"/>
              <a:ea typeface="Hanken Grotesk"/>
              <a:cs typeface="Hanken Grotesk"/>
              <a:sym typeface="Hanken Grotesk"/>
            </a:endParaRPr>
          </a:p>
          <a:p>
            <a:pPr indent="0" lvl="0" marL="0" rtl="0" algn="l">
              <a:spcBef>
                <a:spcPts val="0"/>
              </a:spcBef>
              <a:spcAft>
                <a:spcPts val="0"/>
              </a:spcAft>
              <a:buNone/>
            </a:pPr>
            <a:r>
              <a:t/>
            </a:r>
            <a:endParaRPr baseline="30000" sz="1200">
              <a:latin typeface="Hanken Grotesk"/>
              <a:ea typeface="Hanken Grotesk"/>
              <a:cs typeface="Hanken Grotesk"/>
              <a:sym typeface="Hanken Grotesk"/>
            </a:endParaRPr>
          </a:p>
          <a:p>
            <a:pPr indent="0" lvl="0" marL="0" rtl="0" algn="l">
              <a:spcBef>
                <a:spcPts val="0"/>
              </a:spcBef>
              <a:spcAft>
                <a:spcPts val="0"/>
              </a:spcAft>
              <a:buNone/>
            </a:pPr>
            <a:r>
              <a:t/>
            </a:r>
            <a:endParaRPr baseline="30000" sz="1200">
              <a:latin typeface="Hanken Grotesk"/>
              <a:ea typeface="Hanken Grotesk"/>
              <a:cs typeface="Hanken Grotesk"/>
              <a:sym typeface="Hanken Grotesk"/>
            </a:endParaRPr>
          </a:p>
        </p:txBody>
      </p:sp>
      <p:sp>
        <p:nvSpPr>
          <p:cNvPr id="380" name="Google Shape;380;p36"/>
          <p:cNvSpPr/>
          <p:nvPr/>
        </p:nvSpPr>
        <p:spPr>
          <a:xfrm>
            <a:off x="1002013" y="2172243"/>
            <a:ext cx="1702800" cy="1777800"/>
          </a:xfrm>
          <a:prstGeom prst="roundRect">
            <a:avLst>
              <a:gd fmla="val 16667" name="adj"/>
            </a:avLst>
          </a:prstGeom>
          <a:solidFill>
            <a:srgbClr val="D9EAD3"/>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solidFill>
                  <a:schemeClr val="dk1"/>
                </a:solidFill>
                <a:latin typeface="Hanken Grotesk"/>
                <a:ea typeface="Hanken Grotesk"/>
                <a:cs typeface="Hanken Grotesk"/>
                <a:sym typeface="Hanken Grotesk"/>
              </a:rPr>
              <a:t>Agent 1</a:t>
            </a:r>
            <a:endParaRPr b="1" sz="1198">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Parse Input]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Extract claims </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Determine verifiability</a:t>
            </a:r>
            <a:endParaRPr b="1" sz="1198">
              <a:latin typeface="Hanken Grotesk"/>
              <a:ea typeface="Hanken Grotesk"/>
              <a:cs typeface="Hanken Grotesk"/>
              <a:sym typeface="Hanken Grotesk"/>
            </a:endParaRPr>
          </a:p>
        </p:txBody>
      </p:sp>
      <p:pic>
        <p:nvPicPr>
          <p:cNvPr id="381" name="Google Shape;381;p36"/>
          <p:cNvPicPr preferRelativeResize="0"/>
          <p:nvPr/>
        </p:nvPicPr>
        <p:blipFill>
          <a:blip r:embed="rId3">
            <a:alphaModFix/>
          </a:blip>
          <a:stretch>
            <a:fillRect/>
          </a:stretch>
        </p:blipFill>
        <p:spPr>
          <a:xfrm>
            <a:off x="1472224" y="1560650"/>
            <a:ext cx="762330" cy="762330"/>
          </a:xfrm>
          <a:prstGeom prst="rect">
            <a:avLst/>
          </a:prstGeom>
          <a:noFill/>
          <a:ln>
            <a:noFill/>
          </a:ln>
        </p:spPr>
      </p:pic>
      <p:sp>
        <p:nvSpPr>
          <p:cNvPr id="382" name="Google Shape;382;p36"/>
          <p:cNvSpPr/>
          <p:nvPr/>
        </p:nvSpPr>
        <p:spPr>
          <a:xfrm>
            <a:off x="2806650" y="2938750"/>
            <a:ext cx="651000" cy="244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83" name="Google Shape;383;p36"/>
          <p:cNvSpPr txBox="1"/>
          <p:nvPr/>
        </p:nvSpPr>
        <p:spPr>
          <a:xfrm>
            <a:off x="3757075" y="3638600"/>
            <a:ext cx="4537800" cy="9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800">
                <a:latin typeface="Hanken Grotesk"/>
                <a:ea typeface="Hanken Grotesk"/>
                <a:cs typeface="Hanken Grotesk"/>
                <a:sym typeface="Hanken Grotesk"/>
              </a:rPr>
              <a:t>2</a:t>
            </a:r>
            <a:r>
              <a:rPr i="1" lang="en-GB" sz="800">
                <a:latin typeface="Hanken Grotesk"/>
                <a:ea typeface="Hanken Grotesk"/>
                <a:cs typeface="Hanken Grotesk"/>
                <a:sym typeface="Hanken Grotesk"/>
              </a:rPr>
              <a:t>It is defined this way as the agent was initially 'reluctant' to classify claims as verifiable if it was not able to personally verify it</a:t>
            </a:r>
            <a:endParaRPr i="1" sz="800">
              <a:latin typeface="Hanken Grotesk"/>
              <a:ea typeface="Hanken Grotesk"/>
              <a:cs typeface="Hanken Grotesk"/>
              <a:sym typeface="Hanken Grotesk"/>
            </a:endParaRPr>
          </a:p>
          <a:p>
            <a:pPr indent="0" lvl="0" marL="0" rtl="0" algn="l">
              <a:spcBef>
                <a:spcPts val="0"/>
              </a:spcBef>
              <a:spcAft>
                <a:spcPts val="0"/>
              </a:spcAft>
              <a:buNone/>
            </a:pPr>
            <a:r>
              <a:t/>
            </a:r>
            <a:endParaRPr i="1" sz="800">
              <a:latin typeface="Hanken Grotesk"/>
              <a:ea typeface="Hanken Grotesk"/>
              <a:cs typeface="Hanken Grotesk"/>
              <a:sym typeface="Hanken Grotesk"/>
            </a:endParaRPr>
          </a:p>
          <a:p>
            <a:pPr indent="0" lvl="0" marL="0" rtl="0" algn="l">
              <a:spcBef>
                <a:spcPts val="0"/>
              </a:spcBef>
              <a:spcAft>
                <a:spcPts val="0"/>
              </a:spcAft>
              <a:buNone/>
            </a:pPr>
            <a:r>
              <a:rPr baseline="30000" i="1" lang="en-GB" sz="800">
                <a:latin typeface="Hanken Grotesk"/>
                <a:ea typeface="Hanken Grotesk"/>
                <a:cs typeface="Hanken Grotesk"/>
                <a:sym typeface="Hanken Grotesk"/>
              </a:rPr>
              <a:t>3</a:t>
            </a:r>
            <a:r>
              <a:rPr baseline="30000" i="1" lang="en-GB" sz="800">
                <a:latin typeface="Hanken Grotesk"/>
                <a:ea typeface="Hanken Grotesk"/>
                <a:cs typeface="Hanken Grotesk"/>
                <a:sym typeface="Hanken Grotesk"/>
              </a:rPr>
              <a:t> </a:t>
            </a:r>
            <a:r>
              <a:rPr i="1" lang="en-GB" sz="800">
                <a:latin typeface="Hanken Grotesk"/>
                <a:ea typeface="Hanken Grotesk"/>
                <a:cs typeface="Hanken Grotesk"/>
                <a:sym typeface="Hanken Grotesk"/>
              </a:rPr>
              <a:t>In the system prompt, the definition of ‘unverifiable’ was removed because it caused confusion during classification. Performance improved when the model only had to decide whether a claim is verifiable or not</a:t>
            </a:r>
            <a:endParaRPr i="1" sz="800">
              <a:solidFill>
                <a:schemeClr val="dk1"/>
              </a:solidFill>
              <a:latin typeface="Hanken Grotesk"/>
              <a:ea typeface="Hanken Grotesk"/>
              <a:cs typeface="Hanken Grotesk"/>
              <a:sym typeface="Hanken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 Breakdown [</a:t>
            </a:r>
            <a:r>
              <a:rPr lang="en-GB">
                <a:solidFill>
                  <a:srgbClr val="1155CC"/>
                </a:solidFill>
              </a:rPr>
              <a:t>Agent 2</a:t>
            </a:r>
            <a:r>
              <a:rPr lang="en-GB"/>
              <a:t>]</a:t>
            </a:r>
            <a:endParaRPr/>
          </a:p>
        </p:txBody>
      </p:sp>
      <p:sp>
        <p:nvSpPr>
          <p:cNvPr id="389" name="Google Shape;389;p37"/>
          <p:cNvSpPr/>
          <p:nvPr/>
        </p:nvSpPr>
        <p:spPr>
          <a:xfrm>
            <a:off x="3559500" y="1246225"/>
            <a:ext cx="4864500" cy="3328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Hanken Grotesk"/>
                <a:ea typeface="Hanken Grotesk"/>
                <a:cs typeface="Hanken Grotesk"/>
                <a:sym typeface="Hanken Grotesk"/>
              </a:rPr>
              <a:t>Fetch evidence</a:t>
            </a:r>
            <a:endParaRPr b="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Internal evidence</a:t>
            </a:r>
            <a:endParaRPr sz="1200">
              <a:latin typeface="Hanken Grotesk"/>
              <a:ea typeface="Hanken Grotesk"/>
              <a:cs typeface="Hanken Grotesk"/>
              <a:sym typeface="Hanken Grotesk"/>
            </a:endParaRPr>
          </a:p>
          <a:p>
            <a:pPr indent="-304800" lvl="1" marL="9144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Uses </a:t>
            </a:r>
            <a:r>
              <a:rPr lang="en-GB" sz="1200">
                <a:highlight>
                  <a:srgbClr val="FFF2CC"/>
                </a:highlight>
                <a:latin typeface="Hanken Grotesk"/>
                <a:ea typeface="Hanken Grotesk"/>
                <a:cs typeface="Hanken Grotesk"/>
                <a:sym typeface="Hanken Grotesk"/>
              </a:rPr>
              <a:t>'get_message_context' </a:t>
            </a:r>
            <a:r>
              <a:rPr lang="en-GB" sz="1200">
                <a:latin typeface="Hanken Grotesk"/>
                <a:ea typeface="Hanken Grotesk"/>
                <a:cs typeface="Hanken Grotesk"/>
                <a:sym typeface="Hanken Grotesk"/>
              </a:rPr>
              <a:t>tool</a:t>
            </a:r>
            <a:endParaRPr sz="1200">
              <a:latin typeface="Hanken Grotesk"/>
              <a:ea typeface="Hanken Grotesk"/>
              <a:cs typeface="Hanken Grotesk"/>
              <a:sym typeface="Hanken Grotesk"/>
            </a:endParaRPr>
          </a:p>
          <a:p>
            <a:pPr indent="-304800" lvl="1" marL="9144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Defined as logical inconsistencies between a claim and the context (e.g. claiming "High Salary" with a context of "Minimal Experience Required")</a:t>
            </a:r>
            <a:r>
              <a:rPr baseline="30000" lang="en-GB" sz="1200">
                <a:latin typeface="Hanken Grotesk"/>
                <a:ea typeface="Hanken Grotesk"/>
                <a:cs typeface="Hanken Grotesk"/>
                <a:sym typeface="Hanken Grotesk"/>
              </a:rPr>
              <a:t>1</a:t>
            </a:r>
            <a:endParaRPr baseline="30000"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External evidence</a:t>
            </a:r>
            <a:endParaRPr sz="1200">
              <a:latin typeface="Hanken Grotesk"/>
              <a:ea typeface="Hanken Grotesk"/>
              <a:cs typeface="Hanken Grotesk"/>
              <a:sym typeface="Hanken Grotesk"/>
            </a:endParaRPr>
          </a:p>
          <a:p>
            <a:pPr indent="-304800" lvl="1" marL="9144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Uses </a:t>
            </a:r>
            <a:r>
              <a:rPr lang="en-GB" sz="1200">
                <a:highlight>
                  <a:srgbClr val="FCE5CD"/>
                </a:highlight>
                <a:latin typeface="Hanken Grotesk"/>
                <a:ea typeface="Hanken Grotesk"/>
                <a:cs typeface="Hanken Grotesk"/>
                <a:sym typeface="Hanken Grotesk"/>
              </a:rPr>
              <a:t>'search_internet'</a:t>
            </a:r>
            <a:r>
              <a:rPr lang="en-GB" sz="1200">
                <a:latin typeface="Hanken Grotesk"/>
                <a:ea typeface="Hanken Grotesk"/>
                <a:cs typeface="Hanken Grotesk"/>
                <a:sym typeface="Hanken Grotesk"/>
              </a:rPr>
              <a:t> tool</a:t>
            </a:r>
            <a:endParaRPr sz="1200">
              <a:latin typeface="Hanken Grotesk"/>
              <a:ea typeface="Hanken Grotesk"/>
              <a:cs typeface="Hanken Grotesk"/>
              <a:sym typeface="Hanken Grotesk"/>
            </a:endParaRPr>
          </a:p>
          <a:p>
            <a:pPr indent="-304800" lvl="1" marL="9144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Defined as evidence obtained through external, public sources (such as internet searches)</a:t>
            </a:r>
            <a:endParaRPr sz="1200">
              <a:latin typeface="Hanken Grotesk"/>
              <a:ea typeface="Hanken Grotesk"/>
              <a:cs typeface="Hanken Grotesk"/>
              <a:sym typeface="Hanken Grotesk"/>
            </a:endParaRPr>
          </a:p>
          <a:p>
            <a:pPr indent="-304800" lvl="1" marL="9144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For verifiable claims only</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p:txBody>
      </p:sp>
      <p:sp>
        <p:nvSpPr>
          <p:cNvPr id="390" name="Google Shape;390;p37"/>
          <p:cNvSpPr/>
          <p:nvPr/>
        </p:nvSpPr>
        <p:spPr>
          <a:xfrm>
            <a:off x="2806650" y="2938750"/>
            <a:ext cx="651000" cy="244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91" name="Google Shape;391;p37"/>
          <p:cNvSpPr/>
          <p:nvPr/>
        </p:nvSpPr>
        <p:spPr>
          <a:xfrm>
            <a:off x="1001998" y="2176693"/>
            <a:ext cx="1702800" cy="1777800"/>
          </a:xfrm>
          <a:prstGeom prst="roundRect">
            <a:avLst>
              <a:gd fmla="val 16667" name="adj"/>
            </a:avLst>
          </a:prstGeom>
          <a:solidFill>
            <a:srgbClr val="C9DAF8"/>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solidFill>
                  <a:schemeClr val="dk1"/>
                </a:solidFill>
                <a:latin typeface="Hanken Grotesk"/>
                <a:ea typeface="Hanken Grotesk"/>
                <a:cs typeface="Hanken Grotesk"/>
                <a:sym typeface="Hanken Grotesk"/>
              </a:rPr>
              <a:t>Agent 2</a:t>
            </a:r>
            <a:endParaRPr b="1" sz="1198">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Find Evidence]</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Fetch evidence </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Provide explanation</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Score evidence</a:t>
            </a:r>
            <a:endParaRPr sz="1027">
              <a:latin typeface="Hanken Grotesk"/>
              <a:ea typeface="Hanken Grotesk"/>
              <a:cs typeface="Hanken Grotesk"/>
              <a:sym typeface="Hanken Grotesk"/>
            </a:endParaRPr>
          </a:p>
        </p:txBody>
      </p:sp>
      <p:pic>
        <p:nvPicPr>
          <p:cNvPr id="392" name="Google Shape;392;p37"/>
          <p:cNvPicPr preferRelativeResize="0"/>
          <p:nvPr/>
        </p:nvPicPr>
        <p:blipFill>
          <a:blip r:embed="rId3">
            <a:alphaModFix/>
          </a:blip>
          <a:stretch>
            <a:fillRect/>
          </a:stretch>
        </p:blipFill>
        <p:spPr>
          <a:xfrm>
            <a:off x="1472210" y="1565100"/>
            <a:ext cx="762330" cy="762330"/>
          </a:xfrm>
          <a:prstGeom prst="rect">
            <a:avLst/>
          </a:prstGeom>
          <a:noFill/>
          <a:ln>
            <a:noFill/>
          </a:ln>
        </p:spPr>
      </p:pic>
      <p:pic>
        <p:nvPicPr>
          <p:cNvPr id="393" name="Google Shape;393;p37"/>
          <p:cNvPicPr preferRelativeResize="0"/>
          <p:nvPr/>
        </p:nvPicPr>
        <p:blipFill rotWithShape="1">
          <a:blip r:embed="rId4">
            <a:alphaModFix/>
          </a:blip>
          <a:srcRect b="26560" l="25777" r="25548" t="26471"/>
          <a:stretch/>
        </p:blipFill>
        <p:spPr>
          <a:xfrm>
            <a:off x="1010625" y="4082113"/>
            <a:ext cx="268375" cy="258974"/>
          </a:xfrm>
          <a:prstGeom prst="rect">
            <a:avLst/>
          </a:prstGeom>
          <a:noFill/>
          <a:ln>
            <a:noFill/>
          </a:ln>
        </p:spPr>
      </p:pic>
      <p:sp>
        <p:nvSpPr>
          <p:cNvPr id="394" name="Google Shape;394;p37"/>
          <p:cNvSpPr/>
          <p:nvPr/>
        </p:nvSpPr>
        <p:spPr>
          <a:xfrm>
            <a:off x="1311950" y="4117400"/>
            <a:ext cx="1384200" cy="1884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get message context</a:t>
            </a:r>
            <a:endParaRPr sz="800">
              <a:latin typeface="Hanken Grotesk"/>
              <a:ea typeface="Hanken Grotesk"/>
              <a:cs typeface="Hanken Grotesk"/>
              <a:sym typeface="Hanken Grotesk"/>
            </a:endParaRPr>
          </a:p>
        </p:txBody>
      </p:sp>
      <p:pic>
        <p:nvPicPr>
          <p:cNvPr id="395" name="Google Shape;395;p37"/>
          <p:cNvPicPr preferRelativeResize="0"/>
          <p:nvPr/>
        </p:nvPicPr>
        <p:blipFill rotWithShape="1">
          <a:blip r:embed="rId4">
            <a:alphaModFix/>
          </a:blip>
          <a:srcRect b="26560" l="25777" r="25548" t="26471"/>
          <a:stretch/>
        </p:blipFill>
        <p:spPr>
          <a:xfrm>
            <a:off x="1010625" y="4399288"/>
            <a:ext cx="268375" cy="258974"/>
          </a:xfrm>
          <a:prstGeom prst="rect">
            <a:avLst/>
          </a:prstGeom>
          <a:noFill/>
          <a:ln>
            <a:noFill/>
          </a:ln>
        </p:spPr>
      </p:pic>
      <p:sp>
        <p:nvSpPr>
          <p:cNvPr id="396" name="Google Shape;396;p37"/>
          <p:cNvSpPr/>
          <p:nvPr/>
        </p:nvSpPr>
        <p:spPr>
          <a:xfrm>
            <a:off x="1311938" y="4434575"/>
            <a:ext cx="1384200" cy="1884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search internet</a:t>
            </a:r>
            <a:endParaRPr sz="800">
              <a:latin typeface="Hanken Grotesk"/>
              <a:ea typeface="Hanken Grotesk"/>
              <a:cs typeface="Hanken Grotesk"/>
              <a:sym typeface="Hanken Grotesk"/>
            </a:endParaRPr>
          </a:p>
        </p:txBody>
      </p:sp>
      <p:sp>
        <p:nvSpPr>
          <p:cNvPr id="397" name="Google Shape;397;p37"/>
          <p:cNvSpPr txBox="1"/>
          <p:nvPr/>
        </p:nvSpPr>
        <p:spPr>
          <a:xfrm>
            <a:off x="3837125" y="3954500"/>
            <a:ext cx="4533300" cy="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800">
                <a:latin typeface="Hanken Grotesk"/>
                <a:ea typeface="Hanken Grotesk"/>
                <a:cs typeface="Hanken Grotesk"/>
                <a:sym typeface="Hanken Grotesk"/>
              </a:rPr>
              <a:t>1 </a:t>
            </a:r>
            <a:r>
              <a:rPr i="1" lang="en-GB" sz="800">
                <a:latin typeface="Hanken Grotesk"/>
                <a:ea typeface="Hanken Grotesk"/>
                <a:cs typeface="Hanken Grotesk"/>
                <a:sym typeface="Hanken Grotesk"/>
              </a:rPr>
              <a:t>Internal evidence is defined as only for refuting claims, or else models will often use context as "proof-by-example" (e.g. Seller's name is PayPal, therefore the claim that the SMS is sent by PayPal is true)</a:t>
            </a:r>
            <a:endParaRPr i="1" sz="800">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 Breakdown [</a:t>
            </a:r>
            <a:r>
              <a:rPr lang="en-GB">
                <a:solidFill>
                  <a:srgbClr val="1155CC"/>
                </a:solidFill>
              </a:rPr>
              <a:t>Agent 2</a:t>
            </a:r>
            <a:r>
              <a:rPr lang="en-GB"/>
              <a:t>]</a:t>
            </a:r>
            <a:endParaRPr/>
          </a:p>
        </p:txBody>
      </p:sp>
      <p:sp>
        <p:nvSpPr>
          <p:cNvPr id="403" name="Google Shape;403;p38"/>
          <p:cNvSpPr/>
          <p:nvPr/>
        </p:nvSpPr>
        <p:spPr>
          <a:xfrm>
            <a:off x="3559500" y="1246225"/>
            <a:ext cx="4864500" cy="3328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Hanken Grotesk"/>
                <a:ea typeface="Hanken Grotesk"/>
                <a:cs typeface="Hanken Grotesk"/>
                <a:sym typeface="Hanken Grotesk"/>
              </a:rPr>
              <a:t>Provide explanation</a:t>
            </a:r>
            <a:endParaRPr b="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Provides a brief explanation of the evidence collected</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b="1" lang="en-GB" sz="1200">
                <a:latin typeface="Hanken Grotesk"/>
                <a:ea typeface="Hanken Grotesk"/>
                <a:cs typeface="Hanken Grotesk"/>
                <a:sym typeface="Hanken Grotesk"/>
              </a:rPr>
              <a:t>Score evidence</a:t>
            </a:r>
            <a:endParaRPr b="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assign a reliability and relevance score from 0 to 1</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i="1" lang="en-GB" sz="1200">
                <a:latin typeface="Hanken Grotesk"/>
                <a:ea typeface="Hanken Grotesk"/>
                <a:cs typeface="Hanken Grotesk"/>
                <a:sym typeface="Hanken Grotesk"/>
              </a:rPr>
              <a:t>Stopping Factor</a:t>
            </a:r>
            <a:r>
              <a:rPr baseline="30000" i="1" lang="en-GB" sz="1200">
                <a:latin typeface="Hanken Grotesk"/>
                <a:ea typeface="Hanken Grotesk"/>
                <a:cs typeface="Hanken Grotesk"/>
                <a:sym typeface="Hanken Grotesk"/>
              </a:rPr>
              <a:t>2</a:t>
            </a:r>
            <a:r>
              <a:rPr i="1" lang="en-GB" sz="1200">
                <a:latin typeface="Hanken Grotesk"/>
                <a:ea typeface="Hanken Grotesk"/>
                <a:cs typeface="Hanken Grotesk"/>
                <a:sym typeface="Hanken Grotesk"/>
              </a:rPr>
              <a:t>:</a:t>
            </a:r>
            <a:endParaRPr i="1"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i="1" lang="en-GB" sz="1200">
                <a:latin typeface="Hanken Grotesk"/>
                <a:ea typeface="Hanken Grotesk"/>
                <a:cs typeface="Hanken Grotesk"/>
                <a:sym typeface="Hanken Grotesk"/>
              </a:rPr>
              <a:t>"Stop collecting evidence if there is sufficient / strong independent evidence that supports / refutes the claim"</a:t>
            </a:r>
            <a:endParaRPr baseline="30000" i="1"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p:txBody>
      </p:sp>
      <p:sp>
        <p:nvSpPr>
          <p:cNvPr id="404" name="Google Shape;404;p38"/>
          <p:cNvSpPr/>
          <p:nvPr/>
        </p:nvSpPr>
        <p:spPr>
          <a:xfrm>
            <a:off x="2806650" y="2938750"/>
            <a:ext cx="651000" cy="244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05" name="Google Shape;405;p38"/>
          <p:cNvSpPr/>
          <p:nvPr/>
        </p:nvSpPr>
        <p:spPr>
          <a:xfrm>
            <a:off x="1001998" y="2176693"/>
            <a:ext cx="1702800" cy="1777800"/>
          </a:xfrm>
          <a:prstGeom prst="roundRect">
            <a:avLst>
              <a:gd fmla="val 16667" name="adj"/>
            </a:avLst>
          </a:prstGeom>
          <a:solidFill>
            <a:srgbClr val="C9DAF8"/>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solidFill>
                  <a:schemeClr val="dk1"/>
                </a:solidFill>
                <a:latin typeface="Hanken Grotesk"/>
                <a:ea typeface="Hanken Grotesk"/>
                <a:cs typeface="Hanken Grotesk"/>
                <a:sym typeface="Hanken Grotesk"/>
              </a:rPr>
              <a:t>Agent 2</a:t>
            </a:r>
            <a:endParaRPr b="1" sz="1198">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Find Evidence]</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Fetch evidence </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Provide explanation</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Score evidence</a:t>
            </a:r>
            <a:endParaRPr sz="1027">
              <a:latin typeface="Hanken Grotesk"/>
              <a:ea typeface="Hanken Grotesk"/>
              <a:cs typeface="Hanken Grotesk"/>
              <a:sym typeface="Hanken Grotesk"/>
            </a:endParaRPr>
          </a:p>
        </p:txBody>
      </p:sp>
      <p:pic>
        <p:nvPicPr>
          <p:cNvPr id="406" name="Google Shape;406;p38"/>
          <p:cNvPicPr preferRelativeResize="0"/>
          <p:nvPr/>
        </p:nvPicPr>
        <p:blipFill>
          <a:blip r:embed="rId3">
            <a:alphaModFix/>
          </a:blip>
          <a:stretch>
            <a:fillRect/>
          </a:stretch>
        </p:blipFill>
        <p:spPr>
          <a:xfrm>
            <a:off x="1472210" y="1565100"/>
            <a:ext cx="762330" cy="762330"/>
          </a:xfrm>
          <a:prstGeom prst="rect">
            <a:avLst/>
          </a:prstGeom>
          <a:noFill/>
          <a:ln>
            <a:noFill/>
          </a:ln>
        </p:spPr>
      </p:pic>
      <p:pic>
        <p:nvPicPr>
          <p:cNvPr id="407" name="Google Shape;407;p38"/>
          <p:cNvPicPr preferRelativeResize="0"/>
          <p:nvPr/>
        </p:nvPicPr>
        <p:blipFill rotWithShape="1">
          <a:blip r:embed="rId4">
            <a:alphaModFix/>
          </a:blip>
          <a:srcRect b="26560" l="25777" r="25548" t="26471"/>
          <a:stretch/>
        </p:blipFill>
        <p:spPr>
          <a:xfrm>
            <a:off x="1010625" y="4082113"/>
            <a:ext cx="268375" cy="258974"/>
          </a:xfrm>
          <a:prstGeom prst="rect">
            <a:avLst/>
          </a:prstGeom>
          <a:noFill/>
          <a:ln>
            <a:noFill/>
          </a:ln>
        </p:spPr>
      </p:pic>
      <p:sp>
        <p:nvSpPr>
          <p:cNvPr id="408" name="Google Shape;408;p38"/>
          <p:cNvSpPr/>
          <p:nvPr/>
        </p:nvSpPr>
        <p:spPr>
          <a:xfrm>
            <a:off x="1311950" y="4117400"/>
            <a:ext cx="1384200" cy="1884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get message context</a:t>
            </a:r>
            <a:endParaRPr sz="800">
              <a:latin typeface="Hanken Grotesk"/>
              <a:ea typeface="Hanken Grotesk"/>
              <a:cs typeface="Hanken Grotesk"/>
              <a:sym typeface="Hanken Grotesk"/>
            </a:endParaRPr>
          </a:p>
        </p:txBody>
      </p:sp>
      <p:pic>
        <p:nvPicPr>
          <p:cNvPr id="409" name="Google Shape;409;p38"/>
          <p:cNvPicPr preferRelativeResize="0"/>
          <p:nvPr/>
        </p:nvPicPr>
        <p:blipFill rotWithShape="1">
          <a:blip r:embed="rId4">
            <a:alphaModFix/>
          </a:blip>
          <a:srcRect b="26560" l="25777" r="25548" t="26471"/>
          <a:stretch/>
        </p:blipFill>
        <p:spPr>
          <a:xfrm>
            <a:off x="1010625" y="4399288"/>
            <a:ext cx="268375" cy="258974"/>
          </a:xfrm>
          <a:prstGeom prst="rect">
            <a:avLst/>
          </a:prstGeom>
          <a:noFill/>
          <a:ln>
            <a:noFill/>
          </a:ln>
        </p:spPr>
      </p:pic>
      <p:sp>
        <p:nvSpPr>
          <p:cNvPr id="410" name="Google Shape;410;p38"/>
          <p:cNvSpPr/>
          <p:nvPr/>
        </p:nvSpPr>
        <p:spPr>
          <a:xfrm>
            <a:off x="1311938" y="4434575"/>
            <a:ext cx="1384200" cy="1884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search internet</a:t>
            </a:r>
            <a:endParaRPr sz="800">
              <a:latin typeface="Hanken Grotesk"/>
              <a:ea typeface="Hanken Grotesk"/>
              <a:cs typeface="Hanken Grotesk"/>
              <a:sym typeface="Hanken Grotesk"/>
            </a:endParaRPr>
          </a:p>
        </p:txBody>
      </p:sp>
      <p:sp>
        <p:nvSpPr>
          <p:cNvPr id="411" name="Google Shape;411;p38"/>
          <p:cNvSpPr txBox="1"/>
          <p:nvPr/>
        </p:nvSpPr>
        <p:spPr>
          <a:xfrm>
            <a:off x="3725100" y="3926175"/>
            <a:ext cx="4533300" cy="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800">
                <a:latin typeface="Hanken Grotesk"/>
                <a:ea typeface="Hanken Grotesk"/>
                <a:cs typeface="Hanken Grotesk"/>
                <a:sym typeface="Hanken Grotesk"/>
              </a:rPr>
              <a:t>2</a:t>
            </a:r>
            <a:r>
              <a:rPr baseline="30000" i="1" lang="en-GB" sz="800">
                <a:latin typeface="Hanken Grotesk"/>
                <a:ea typeface="Hanken Grotesk"/>
                <a:cs typeface="Hanken Grotesk"/>
                <a:sym typeface="Hanken Grotesk"/>
              </a:rPr>
              <a:t> </a:t>
            </a:r>
            <a:r>
              <a:rPr i="1" lang="en-GB" sz="800">
                <a:latin typeface="Hanken Grotesk"/>
                <a:ea typeface="Hanken Grotesk"/>
                <a:cs typeface="Hanken Grotesk"/>
                <a:sym typeface="Hanken Grotesk"/>
              </a:rPr>
              <a:t>This is a dynamic factor that allows the agent to not call any tools further if necessary. Reducing the number of links returned by search_internet tool will increase the number of times it may call the tool</a:t>
            </a:r>
            <a:endParaRPr i="1" sz="800">
              <a:solidFill>
                <a:schemeClr val="dk1"/>
              </a:solidFill>
              <a:latin typeface="Hanken Grotesk"/>
              <a:ea typeface="Hanken Grotesk"/>
              <a:cs typeface="Hanken Grotesk"/>
              <a:sym typeface="Hanken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 Breakdown [</a:t>
            </a:r>
            <a:r>
              <a:rPr lang="en-GB">
                <a:solidFill>
                  <a:srgbClr val="9900FF"/>
                </a:solidFill>
              </a:rPr>
              <a:t>Agent 3</a:t>
            </a:r>
            <a:r>
              <a:rPr lang="en-GB"/>
              <a:t>]</a:t>
            </a:r>
            <a:endParaRPr/>
          </a:p>
        </p:txBody>
      </p:sp>
      <p:sp>
        <p:nvSpPr>
          <p:cNvPr id="417" name="Google Shape;417;p39"/>
          <p:cNvSpPr/>
          <p:nvPr/>
        </p:nvSpPr>
        <p:spPr>
          <a:xfrm>
            <a:off x="3559500" y="1246225"/>
            <a:ext cx="5159100" cy="3328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Hanken Grotesk"/>
                <a:ea typeface="Hanken Grotesk"/>
                <a:cs typeface="Hanken Grotesk"/>
                <a:sym typeface="Hanken Grotesk"/>
              </a:rPr>
              <a:t>Specify missing information</a:t>
            </a:r>
            <a:r>
              <a:rPr b="1" baseline="30000" lang="en-GB" sz="1200">
                <a:latin typeface="Hanken Grotesk"/>
                <a:ea typeface="Hanken Grotesk"/>
                <a:cs typeface="Hanken Grotesk"/>
                <a:sym typeface="Hanken Grotesk"/>
              </a:rPr>
              <a:t>1</a:t>
            </a:r>
            <a:endParaRPr b="1" baseline="30000"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lists exactly what additional information would be needed to verify the claim</a:t>
            </a:r>
            <a:endParaRPr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Verdict will be "</a:t>
            </a:r>
            <a:r>
              <a:rPr b="1" lang="en-GB" sz="1200">
                <a:latin typeface="Hanken Grotesk"/>
                <a:ea typeface="Hanken Grotesk"/>
                <a:cs typeface="Hanken Grotesk"/>
                <a:sym typeface="Hanken Grotesk"/>
              </a:rPr>
              <a:t>Extra Evidence Needed</a:t>
            </a:r>
            <a:r>
              <a:rPr lang="en-GB" sz="1200">
                <a:latin typeface="Hanken Grotesk"/>
                <a:ea typeface="Hanken Grotesk"/>
                <a:cs typeface="Hanken Grotesk"/>
                <a:sym typeface="Hanken Grotesk"/>
              </a:rPr>
              <a:t>"</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baseline="30000" sz="1200">
              <a:latin typeface="Hanken Grotesk"/>
              <a:ea typeface="Hanken Grotesk"/>
              <a:cs typeface="Hanken Grotesk"/>
              <a:sym typeface="Hanken Grotesk"/>
            </a:endParaRPr>
          </a:p>
        </p:txBody>
      </p:sp>
      <p:sp>
        <p:nvSpPr>
          <p:cNvPr id="418" name="Google Shape;418;p39"/>
          <p:cNvSpPr/>
          <p:nvPr/>
        </p:nvSpPr>
        <p:spPr>
          <a:xfrm>
            <a:off x="2806650" y="2938750"/>
            <a:ext cx="651000" cy="244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19" name="Google Shape;419;p39"/>
          <p:cNvSpPr txBox="1"/>
          <p:nvPr/>
        </p:nvSpPr>
        <p:spPr>
          <a:xfrm>
            <a:off x="3813600" y="4198525"/>
            <a:ext cx="4729500" cy="3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800">
                <a:latin typeface="Hanken Grotesk"/>
                <a:ea typeface="Hanken Grotesk"/>
                <a:cs typeface="Hanken Grotesk"/>
                <a:sym typeface="Hanken Grotesk"/>
              </a:rPr>
              <a:t>1 </a:t>
            </a:r>
            <a:r>
              <a:rPr i="1" lang="en-GB" sz="800">
                <a:latin typeface="Hanken Grotesk"/>
                <a:ea typeface="Hanken Grotesk"/>
                <a:cs typeface="Hanken Grotesk"/>
                <a:sym typeface="Hanken Grotesk"/>
              </a:rPr>
              <a:t>This is only for unverifiable claims</a:t>
            </a:r>
            <a:endParaRPr i="1" sz="800">
              <a:solidFill>
                <a:schemeClr val="dk1"/>
              </a:solidFill>
              <a:latin typeface="Hanken Grotesk"/>
              <a:ea typeface="Hanken Grotesk"/>
              <a:cs typeface="Hanken Grotesk"/>
              <a:sym typeface="Hanken Grotesk"/>
            </a:endParaRPr>
          </a:p>
        </p:txBody>
      </p:sp>
      <p:sp>
        <p:nvSpPr>
          <p:cNvPr id="420" name="Google Shape;420;p39"/>
          <p:cNvSpPr/>
          <p:nvPr/>
        </p:nvSpPr>
        <p:spPr>
          <a:xfrm>
            <a:off x="1002009" y="2167468"/>
            <a:ext cx="1702800" cy="1777800"/>
          </a:xfrm>
          <a:prstGeom prst="roundRect">
            <a:avLst>
              <a:gd fmla="val 16667" name="adj"/>
            </a:avLst>
          </a:prstGeom>
          <a:solidFill>
            <a:srgbClr val="D9D2E9"/>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solidFill>
                  <a:schemeClr val="dk1"/>
                </a:solidFill>
                <a:latin typeface="Hanken Grotesk"/>
                <a:ea typeface="Hanken Grotesk"/>
                <a:cs typeface="Hanken Grotesk"/>
                <a:sym typeface="Hanken Grotesk"/>
              </a:rPr>
              <a:t>Agent 3</a:t>
            </a:r>
            <a:endParaRPr b="1" sz="1198">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Evaluate Claims</a:t>
            </a:r>
            <a:r>
              <a:rPr b="1" lang="en-GB" sz="1027">
                <a:latin typeface="Hanken Grotesk"/>
                <a:ea typeface="Hanken Grotesk"/>
                <a:cs typeface="Hanken Grotesk"/>
                <a:sym typeface="Hanken Grotesk"/>
              </a:rPr>
              <a: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Specify missing information*</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Conclude truth</a:t>
            </a:r>
            <a:endParaRPr sz="1027">
              <a:latin typeface="Hanken Grotesk"/>
              <a:ea typeface="Hanken Grotesk"/>
              <a:cs typeface="Hanken Grotesk"/>
              <a:sym typeface="Hanken Grotesk"/>
            </a:endParaRPr>
          </a:p>
          <a:p>
            <a:pPr indent="0" lvl="0" marL="0" rtl="0" algn="l">
              <a:spcBef>
                <a:spcPts val="0"/>
              </a:spcBef>
              <a:spcAft>
                <a:spcPts val="0"/>
              </a:spcAft>
              <a:buNone/>
            </a:pPr>
            <a:r>
              <a:t/>
            </a:r>
            <a:endParaRPr b="1" sz="1198">
              <a:latin typeface="Hanken Grotesk"/>
              <a:ea typeface="Hanken Grotesk"/>
              <a:cs typeface="Hanken Grotesk"/>
              <a:sym typeface="Hanken Grotesk"/>
            </a:endParaRPr>
          </a:p>
        </p:txBody>
      </p:sp>
      <p:pic>
        <p:nvPicPr>
          <p:cNvPr id="421" name="Google Shape;421;p39"/>
          <p:cNvPicPr preferRelativeResize="0"/>
          <p:nvPr/>
        </p:nvPicPr>
        <p:blipFill>
          <a:blip r:embed="rId3">
            <a:alphaModFix/>
          </a:blip>
          <a:stretch>
            <a:fillRect/>
          </a:stretch>
        </p:blipFill>
        <p:spPr>
          <a:xfrm>
            <a:off x="1472220" y="1555875"/>
            <a:ext cx="762330" cy="7623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Agent Breakdown [</a:t>
            </a:r>
            <a:r>
              <a:rPr lang="en-GB">
                <a:solidFill>
                  <a:srgbClr val="9900FF"/>
                </a:solidFill>
              </a:rPr>
              <a:t>Agent 3</a:t>
            </a:r>
            <a:r>
              <a:rPr lang="en-GB"/>
              <a:t>]</a:t>
            </a:r>
            <a:endParaRPr/>
          </a:p>
        </p:txBody>
      </p:sp>
      <p:sp>
        <p:nvSpPr>
          <p:cNvPr id="427" name="Google Shape;427;p40"/>
          <p:cNvSpPr/>
          <p:nvPr/>
        </p:nvSpPr>
        <p:spPr>
          <a:xfrm>
            <a:off x="3559500" y="1246225"/>
            <a:ext cx="5159100" cy="33285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Hanken Grotesk"/>
                <a:ea typeface="Hanken Grotesk"/>
                <a:cs typeface="Hanken Grotesk"/>
                <a:sym typeface="Hanken Grotesk"/>
              </a:rPr>
              <a:t>Conclude Truth</a:t>
            </a:r>
            <a:r>
              <a:rPr b="1" baseline="30000" lang="en-GB" sz="1200">
                <a:latin typeface="Hanken Grotesk"/>
                <a:ea typeface="Hanken Grotesk"/>
                <a:cs typeface="Hanken Grotesk"/>
                <a:sym typeface="Hanken Grotesk"/>
              </a:rPr>
              <a:t>2</a:t>
            </a:r>
            <a:endParaRPr b="1" baseline="30000"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True if evidence strongly supports the claim</a:t>
            </a:r>
            <a:endParaRPr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False if evidence strongly refutes the claim</a:t>
            </a:r>
            <a:endParaRPr sz="1200">
              <a:latin typeface="Hanken Grotesk"/>
              <a:ea typeface="Hanken Grotesk"/>
              <a:cs typeface="Hanken Grotesk"/>
              <a:sym typeface="Hanken Grotesk"/>
            </a:endParaRPr>
          </a:p>
          <a:p>
            <a:pPr indent="-304800" lvl="0" marL="457200" rtl="0" algn="l">
              <a:spcBef>
                <a:spcPts val="0"/>
              </a:spcBef>
              <a:spcAft>
                <a:spcPts val="0"/>
              </a:spcAft>
              <a:buSzPts val="1200"/>
              <a:buFont typeface="Hanken Grotesk"/>
              <a:buChar char="-"/>
            </a:pPr>
            <a:r>
              <a:rPr lang="en-GB" sz="1200">
                <a:latin typeface="Hanken Grotesk"/>
                <a:ea typeface="Hanken Grotesk"/>
                <a:cs typeface="Hanken Grotesk"/>
                <a:sym typeface="Hanken Grotesk"/>
              </a:rPr>
              <a:t>Uncertain if reliability and/or relevance scores are low</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baseline="30000" sz="1200">
              <a:latin typeface="Hanken Grotesk"/>
              <a:ea typeface="Hanken Grotesk"/>
              <a:cs typeface="Hanken Grotesk"/>
              <a:sym typeface="Hanken Grotesk"/>
            </a:endParaRPr>
          </a:p>
        </p:txBody>
      </p:sp>
      <p:sp>
        <p:nvSpPr>
          <p:cNvPr id="428" name="Google Shape;428;p40"/>
          <p:cNvSpPr/>
          <p:nvPr/>
        </p:nvSpPr>
        <p:spPr>
          <a:xfrm>
            <a:off x="2806650" y="2938750"/>
            <a:ext cx="651000" cy="244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29" name="Google Shape;429;p40"/>
          <p:cNvSpPr txBox="1"/>
          <p:nvPr/>
        </p:nvSpPr>
        <p:spPr>
          <a:xfrm>
            <a:off x="3813600" y="4198525"/>
            <a:ext cx="4729500" cy="3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i="1" lang="en-GB" sz="800">
                <a:latin typeface="Hanken Grotesk"/>
                <a:ea typeface="Hanken Grotesk"/>
                <a:cs typeface="Hanken Grotesk"/>
                <a:sym typeface="Hanken Grotesk"/>
              </a:rPr>
              <a:t>2</a:t>
            </a:r>
            <a:r>
              <a:rPr baseline="30000" i="1" lang="en-GB" sz="800">
                <a:latin typeface="Hanken Grotesk"/>
                <a:ea typeface="Hanken Grotesk"/>
                <a:cs typeface="Hanken Grotesk"/>
                <a:sym typeface="Hanken Grotesk"/>
              </a:rPr>
              <a:t> </a:t>
            </a:r>
            <a:r>
              <a:rPr i="1" lang="en-GB" sz="800">
                <a:latin typeface="Hanken Grotesk"/>
                <a:ea typeface="Hanken Grotesk"/>
                <a:cs typeface="Hanken Grotesk"/>
                <a:sym typeface="Hanken Grotesk"/>
              </a:rPr>
              <a:t>This is only for verifiable claims</a:t>
            </a:r>
            <a:endParaRPr i="1" sz="800">
              <a:solidFill>
                <a:schemeClr val="dk1"/>
              </a:solidFill>
              <a:latin typeface="Hanken Grotesk"/>
              <a:ea typeface="Hanken Grotesk"/>
              <a:cs typeface="Hanken Grotesk"/>
              <a:sym typeface="Hanken Grotesk"/>
            </a:endParaRPr>
          </a:p>
        </p:txBody>
      </p:sp>
      <p:sp>
        <p:nvSpPr>
          <p:cNvPr id="430" name="Google Shape;430;p40"/>
          <p:cNvSpPr/>
          <p:nvPr/>
        </p:nvSpPr>
        <p:spPr>
          <a:xfrm>
            <a:off x="1002009" y="2167468"/>
            <a:ext cx="1702800" cy="1777800"/>
          </a:xfrm>
          <a:prstGeom prst="roundRect">
            <a:avLst>
              <a:gd fmla="val 16667" name="adj"/>
            </a:avLst>
          </a:prstGeom>
          <a:solidFill>
            <a:srgbClr val="D9D2E9"/>
          </a:solidFill>
          <a:ln cap="flat" cmpd="sng" w="24475">
            <a:solidFill>
              <a:schemeClr val="dk1"/>
            </a:solidFill>
            <a:prstDash val="solid"/>
            <a:round/>
            <a:headEnd len="sm" w="sm" type="none"/>
            <a:tailEnd len="sm" w="sm" type="none"/>
          </a:ln>
        </p:spPr>
        <p:txBody>
          <a:bodyPr anchorCtr="0" anchor="t" bIns="78275" lIns="78275" spcFirstLastPara="1" rIns="78275" wrap="square" tIns="78275">
            <a:noAutofit/>
          </a:bodyPr>
          <a:lstStyle/>
          <a:p>
            <a:pPr indent="0" lvl="0" marL="0" rtl="0" algn="ctr">
              <a:spcBef>
                <a:spcPts val="0"/>
              </a:spcBef>
              <a:spcAft>
                <a:spcPts val="0"/>
              </a:spcAft>
              <a:buNone/>
            </a:pPr>
            <a:r>
              <a:rPr b="1" lang="en-GB" sz="1198">
                <a:solidFill>
                  <a:schemeClr val="dk1"/>
                </a:solidFill>
                <a:latin typeface="Hanken Grotesk"/>
                <a:ea typeface="Hanken Grotesk"/>
                <a:cs typeface="Hanken Grotesk"/>
                <a:sym typeface="Hanken Grotesk"/>
              </a:rPr>
              <a:t>Agent 3</a:t>
            </a:r>
            <a:endParaRPr b="1" sz="1198">
              <a:solidFill>
                <a:srgbClr val="9900FF"/>
              </a:solidFill>
              <a:latin typeface="Hanken Grotesk"/>
              <a:ea typeface="Hanken Grotesk"/>
              <a:cs typeface="Hanken Grotesk"/>
              <a:sym typeface="Hanken Grotesk"/>
            </a:endParaRPr>
          </a:p>
          <a:p>
            <a:pPr indent="0" lvl="0" marL="0" rtl="0" algn="ctr">
              <a:spcBef>
                <a:spcPts val="0"/>
              </a:spcBef>
              <a:spcAft>
                <a:spcPts val="0"/>
              </a:spcAft>
              <a:buNone/>
            </a:pPr>
            <a:r>
              <a:rPr b="1" lang="en-GB" sz="1198">
                <a:latin typeface="Hanken Grotesk"/>
                <a:ea typeface="Hanken Grotesk"/>
                <a:cs typeface="Hanken Grotesk"/>
                <a:sym typeface="Hanken Grotesk"/>
              </a:rPr>
              <a:t>[</a:t>
            </a:r>
            <a:r>
              <a:rPr b="1" lang="en-GB" sz="1027">
                <a:latin typeface="Hanken Grotesk"/>
                <a:ea typeface="Hanken Grotesk"/>
                <a:cs typeface="Hanken Grotesk"/>
                <a:sym typeface="Hanken Grotesk"/>
              </a:rPr>
              <a:t>Evaluate</a:t>
            </a:r>
            <a:r>
              <a:rPr b="1" lang="en-GB" sz="1027">
                <a:latin typeface="Hanken Grotesk"/>
                <a:ea typeface="Hanken Grotesk"/>
                <a:cs typeface="Hanken Grotesk"/>
                <a:sym typeface="Hanken Grotesk"/>
              </a:rPr>
              <a:t> Claims</a:t>
            </a:r>
            <a:r>
              <a:rPr b="1" lang="en-GB" sz="1027">
                <a:latin typeface="Hanken Grotesk"/>
                <a:ea typeface="Hanken Grotesk"/>
                <a:cs typeface="Hanken Grotesk"/>
                <a:sym typeface="Hanken Grotesk"/>
              </a:rPr>
              <a:t>]</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ctr">
              <a:spcBef>
                <a:spcPts val="0"/>
              </a:spcBef>
              <a:spcAft>
                <a:spcPts val="0"/>
              </a:spcAft>
              <a:buNone/>
            </a:pPr>
            <a:r>
              <a:t/>
            </a:r>
            <a:endParaRPr b="1"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Specify missing information*</a:t>
            </a:r>
            <a:endParaRPr sz="1027">
              <a:latin typeface="Hanken Grotesk"/>
              <a:ea typeface="Hanken Grotesk"/>
              <a:cs typeface="Hanken Grotesk"/>
              <a:sym typeface="Hanken Grotesk"/>
            </a:endParaRPr>
          </a:p>
          <a:p>
            <a:pPr indent="0" lvl="0" marL="0" rtl="0" algn="l">
              <a:spcBef>
                <a:spcPts val="0"/>
              </a:spcBef>
              <a:spcAft>
                <a:spcPts val="0"/>
              </a:spcAft>
              <a:buNone/>
            </a:pPr>
            <a:r>
              <a:rPr lang="en-GB" sz="1027">
                <a:latin typeface="Hanken Grotesk"/>
                <a:ea typeface="Hanken Grotesk"/>
                <a:cs typeface="Hanken Grotesk"/>
                <a:sym typeface="Hanken Grotesk"/>
              </a:rPr>
              <a:t>- Conclude truth</a:t>
            </a:r>
            <a:endParaRPr sz="1027">
              <a:latin typeface="Hanken Grotesk"/>
              <a:ea typeface="Hanken Grotesk"/>
              <a:cs typeface="Hanken Grotesk"/>
              <a:sym typeface="Hanken Grotesk"/>
            </a:endParaRPr>
          </a:p>
          <a:p>
            <a:pPr indent="0" lvl="0" marL="0" rtl="0" algn="l">
              <a:spcBef>
                <a:spcPts val="0"/>
              </a:spcBef>
              <a:spcAft>
                <a:spcPts val="0"/>
              </a:spcAft>
              <a:buNone/>
            </a:pPr>
            <a:r>
              <a:t/>
            </a:r>
            <a:endParaRPr b="1" sz="1198">
              <a:latin typeface="Hanken Grotesk"/>
              <a:ea typeface="Hanken Grotesk"/>
              <a:cs typeface="Hanken Grotesk"/>
              <a:sym typeface="Hanken Grotesk"/>
            </a:endParaRPr>
          </a:p>
        </p:txBody>
      </p:sp>
      <p:pic>
        <p:nvPicPr>
          <p:cNvPr id="431" name="Google Shape;431;p40"/>
          <p:cNvPicPr preferRelativeResize="0"/>
          <p:nvPr/>
        </p:nvPicPr>
        <p:blipFill>
          <a:blip r:embed="rId3">
            <a:alphaModFix/>
          </a:blip>
          <a:stretch>
            <a:fillRect/>
          </a:stretch>
        </p:blipFill>
        <p:spPr>
          <a:xfrm>
            <a:off x="1472220" y="1555875"/>
            <a:ext cx="762330" cy="76233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p:txBody>
      </p:sp>
      <p:sp>
        <p:nvSpPr>
          <p:cNvPr id="437" name="Google Shape;437;p41"/>
          <p:cNvSpPr/>
          <p:nvPr/>
        </p:nvSpPr>
        <p:spPr>
          <a:xfrm>
            <a:off x="1952025" y="1534575"/>
            <a:ext cx="6471900" cy="2963400"/>
          </a:xfrm>
          <a:prstGeom prst="roundRect">
            <a:avLst>
              <a:gd fmla="val 16667" name="adj"/>
            </a:avLst>
          </a:prstGeom>
          <a:solidFill>
            <a:srgbClr val="E6B8A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Hanken Grotesk"/>
                <a:ea typeface="Hanken Grotesk"/>
                <a:cs typeface="Hanken Grotesk"/>
                <a:sym typeface="Hanken Grotesk"/>
              </a:rPr>
              <a:t>PayPaI Customer Care</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ppcase29392.8.0@gmail.com</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We've detected an unauthorized Coinbase transaction on your PayPal account:</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Amount: $459.19</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Transaction ID: PC-4829371560</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To ensure the security of your account and to receive a full refund,</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we urge you to contact our dedicated</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Customer Support team immediately at (833)X (870)X (2664)</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.Our team is available 24/7 to assist you and prevent any further unauthorized activity on your account.</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We take the security of your account very seriously and we are committed to helping you resolve this issue as soon as possible. Thank you for your prompt attention to this matter.</a:t>
            </a:r>
            <a:endParaRPr sz="1200">
              <a:latin typeface="Hanken Grotesk"/>
              <a:ea typeface="Hanken Grotesk"/>
              <a:cs typeface="Hanken Grotesk"/>
              <a:sym typeface="Hanken Grotesk"/>
            </a:endParaRPr>
          </a:p>
          <a:p>
            <a:pPr indent="0" lvl="0" marL="0" rtl="0" algn="ctr">
              <a:spcBef>
                <a:spcPts val="0"/>
              </a:spcBef>
              <a:spcAft>
                <a:spcPts val="0"/>
              </a:spcAft>
              <a:buNone/>
            </a:pPr>
            <a:r>
              <a:rPr lang="en-GB" sz="1200">
                <a:latin typeface="Hanken Grotesk"/>
                <a:ea typeface="Hanken Grotesk"/>
                <a:cs typeface="Hanken Grotesk"/>
                <a:sym typeface="Hanken Grotesk"/>
              </a:rPr>
              <a:t>Best regards,</a:t>
            </a:r>
            <a:endParaRPr sz="1200">
              <a:latin typeface="Hanken Grotesk"/>
              <a:ea typeface="Hanken Grotesk"/>
              <a:cs typeface="Hanken Grotesk"/>
              <a:sym typeface="Hanken Grotesk"/>
            </a:endParaRPr>
          </a:p>
        </p:txBody>
      </p:sp>
      <p:sp>
        <p:nvSpPr>
          <p:cNvPr id="438" name="Google Shape;438;p41"/>
          <p:cNvSpPr txBox="1"/>
          <p:nvPr/>
        </p:nvSpPr>
        <p:spPr>
          <a:xfrm>
            <a:off x="720000" y="894250"/>
            <a:ext cx="6794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this is taken from a real run of the program</a:t>
            </a:r>
            <a:endParaRPr sz="1200">
              <a:solidFill>
                <a:schemeClr val="dk1"/>
              </a:solidFill>
              <a:latin typeface="Hanken Grotesk"/>
              <a:ea typeface="Hanken Grotesk"/>
              <a:cs typeface="Hanken Grotesk"/>
              <a:sym typeface="Hanken Grotesk"/>
            </a:endParaRPr>
          </a:p>
        </p:txBody>
      </p:sp>
      <p:sp>
        <p:nvSpPr>
          <p:cNvPr id="439" name="Google Shape;439;p41"/>
          <p:cNvSpPr txBox="1"/>
          <p:nvPr/>
        </p:nvSpPr>
        <p:spPr>
          <a:xfrm>
            <a:off x="881950" y="2681100"/>
            <a:ext cx="917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a:solidFill>
                  <a:schemeClr val="dk1"/>
                </a:solidFill>
                <a:latin typeface="Hanken Grotesk"/>
                <a:ea typeface="Hanken Grotesk"/>
                <a:cs typeface="Hanken Grotesk"/>
                <a:sym typeface="Hanken Grotesk"/>
              </a:rPr>
              <a:t>Input</a:t>
            </a:r>
            <a:endParaRPr b="1">
              <a:solidFill>
                <a:schemeClr val="dk1"/>
              </a:solidFill>
              <a:latin typeface="Hanken Grotesk"/>
              <a:ea typeface="Hanken Grotesk"/>
              <a:cs typeface="Hanken Grotesk"/>
              <a:sym typeface="Hanken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p:txBody>
      </p:sp>
      <p:sp>
        <p:nvSpPr>
          <p:cNvPr id="445" name="Google Shape;445;p42"/>
          <p:cNvSpPr/>
          <p:nvPr/>
        </p:nvSpPr>
        <p:spPr>
          <a:xfrm>
            <a:off x="790513" y="2572700"/>
            <a:ext cx="1875300" cy="505800"/>
          </a:xfrm>
          <a:prstGeom prst="roundRect">
            <a:avLst>
              <a:gd fmla="val 16667" name="adj"/>
            </a:avLst>
          </a:prstGeom>
          <a:solidFill>
            <a:srgbClr val="E6B8A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latin typeface="Hanken Grotesk"/>
                <a:ea typeface="Hanken Grotesk"/>
                <a:cs typeface="Hanken Grotesk"/>
                <a:sym typeface="Hanken Grotesk"/>
              </a:rPr>
              <a:t>PayPaI Customer Care</a:t>
            </a:r>
            <a:endParaRPr sz="1000">
              <a:latin typeface="Hanken Grotesk"/>
              <a:ea typeface="Hanken Grotesk"/>
              <a:cs typeface="Hanken Grotesk"/>
              <a:sym typeface="Hanken Grotesk"/>
            </a:endParaRPr>
          </a:p>
          <a:p>
            <a:pPr indent="0" lvl="0" marL="0" rtl="0" algn="ctr">
              <a:spcBef>
                <a:spcPts val="0"/>
              </a:spcBef>
              <a:spcAft>
                <a:spcPts val="0"/>
              </a:spcAft>
              <a:buNone/>
            </a:pPr>
            <a:r>
              <a:rPr lang="en-GB" sz="1000">
                <a:latin typeface="Hanken Grotesk"/>
                <a:ea typeface="Hanken Grotesk"/>
                <a:cs typeface="Hanken Grotesk"/>
                <a:sym typeface="Hanken Grotesk"/>
              </a:rPr>
              <a:t>…</a:t>
            </a:r>
            <a:endParaRPr sz="1000">
              <a:latin typeface="Hanken Grotesk"/>
              <a:ea typeface="Hanken Grotesk"/>
              <a:cs typeface="Hanken Grotesk"/>
              <a:sym typeface="Hanken Grotesk"/>
            </a:endParaRPr>
          </a:p>
        </p:txBody>
      </p:sp>
      <p:sp>
        <p:nvSpPr>
          <p:cNvPr id="446" name="Google Shape;446;p42"/>
          <p:cNvSpPr/>
          <p:nvPr/>
        </p:nvSpPr>
        <p:spPr>
          <a:xfrm>
            <a:off x="3398388" y="1575750"/>
            <a:ext cx="4955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['Sender', 'is', 'PayPal Customer Care']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[Verifiable]</a:t>
            </a:r>
            <a:endParaRPr sz="800">
              <a:latin typeface="Hanken Grotesk"/>
              <a:ea typeface="Hanken Grotesk"/>
              <a:cs typeface="Hanken Grotesk"/>
              <a:sym typeface="Hanken Grotesk"/>
            </a:endParaRPr>
          </a:p>
        </p:txBody>
      </p:sp>
      <p:sp>
        <p:nvSpPr>
          <p:cNvPr id="447" name="Google Shape;447;p42"/>
          <p:cNvSpPr/>
          <p:nvPr/>
        </p:nvSpPr>
        <p:spPr>
          <a:xfrm>
            <a:off x="3398388" y="2218075"/>
            <a:ext cx="4955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['An unauthorized Coinbase transaction', 'has been detected on', "the recipient's PayPal account"]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[Verifiable]</a:t>
            </a:r>
            <a:endParaRPr sz="800">
              <a:latin typeface="Hanken Grotesk"/>
              <a:ea typeface="Hanken Grotesk"/>
              <a:cs typeface="Hanken Grotesk"/>
              <a:sym typeface="Hanken Grotesk"/>
            </a:endParaRPr>
          </a:p>
        </p:txBody>
      </p:sp>
      <p:sp>
        <p:nvSpPr>
          <p:cNvPr id="448" name="Google Shape;448;p42"/>
          <p:cNvSpPr/>
          <p:nvPr/>
        </p:nvSpPr>
        <p:spPr>
          <a:xfrm>
            <a:off x="3398388" y="2860400"/>
            <a:ext cx="4955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['The Customer Support team', 'is available', '24/7']</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[Verifiable]</a:t>
            </a:r>
            <a:endParaRPr sz="800">
              <a:latin typeface="Hanken Grotesk"/>
              <a:ea typeface="Hanken Grotesk"/>
              <a:cs typeface="Hanken Grotesk"/>
              <a:sym typeface="Hanken Grotesk"/>
            </a:endParaRPr>
          </a:p>
        </p:txBody>
      </p:sp>
      <p:sp>
        <p:nvSpPr>
          <p:cNvPr id="449" name="Google Shape;449;p42"/>
          <p:cNvSpPr/>
          <p:nvPr/>
        </p:nvSpPr>
        <p:spPr>
          <a:xfrm>
            <a:off x="3398388" y="3502725"/>
            <a:ext cx="4955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['Customer support team', 'can assist and prevent further unauthorized activity', "on recipient's account"]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[Unverifiable]</a:t>
            </a:r>
            <a:endParaRPr sz="800">
              <a:latin typeface="Hanken Grotesk"/>
              <a:ea typeface="Hanken Grotesk"/>
              <a:cs typeface="Hanken Grotesk"/>
              <a:sym typeface="Hanken Grotesk"/>
            </a:endParaRPr>
          </a:p>
        </p:txBody>
      </p:sp>
      <p:cxnSp>
        <p:nvCxnSpPr>
          <p:cNvPr id="450" name="Google Shape;450;p42"/>
          <p:cNvCxnSpPr>
            <a:stCxn id="445" idx="3"/>
            <a:endCxn id="446" idx="1"/>
          </p:cNvCxnSpPr>
          <p:nvPr/>
        </p:nvCxnSpPr>
        <p:spPr>
          <a:xfrm flipH="1" rot="10800000">
            <a:off x="2665813" y="1862000"/>
            <a:ext cx="732600" cy="963600"/>
          </a:xfrm>
          <a:prstGeom prst="bentConnector3">
            <a:avLst>
              <a:gd fmla="val 49998" name="adj1"/>
            </a:avLst>
          </a:prstGeom>
          <a:noFill/>
          <a:ln cap="flat" cmpd="sng" w="9525">
            <a:solidFill>
              <a:schemeClr val="dk1"/>
            </a:solidFill>
            <a:prstDash val="solid"/>
            <a:round/>
            <a:headEnd len="med" w="med" type="none"/>
            <a:tailEnd len="med" w="med" type="none"/>
          </a:ln>
        </p:spPr>
      </p:cxnSp>
      <p:cxnSp>
        <p:nvCxnSpPr>
          <p:cNvPr id="451" name="Google Shape;451;p42"/>
          <p:cNvCxnSpPr>
            <a:stCxn id="445" idx="3"/>
            <a:endCxn id="447" idx="1"/>
          </p:cNvCxnSpPr>
          <p:nvPr/>
        </p:nvCxnSpPr>
        <p:spPr>
          <a:xfrm flipH="1" rot="10800000">
            <a:off x="2665813" y="2504300"/>
            <a:ext cx="732600" cy="321300"/>
          </a:xfrm>
          <a:prstGeom prst="bentConnector3">
            <a:avLst>
              <a:gd fmla="val 49998" name="adj1"/>
            </a:avLst>
          </a:prstGeom>
          <a:noFill/>
          <a:ln cap="flat" cmpd="sng" w="9525">
            <a:solidFill>
              <a:schemeClr val="dk1"/>
            </a:solidFill>
            <a:prstDash val="solid"/>
            <a:round/>
            <a:headEnd len="med" w="med" type="none"/>
            <a:tailEnd len="med" w="med" type="none"/>
          </a:ln>
        </p:spPr>
      </p:cxnSp>
      <p:cxnSp>
        <p:nvCxnSpPr>
          <p:cNvPr id="452" name="Google Shape;452;p42"/>
          <p:cNvCxnSpPr>
            <a:stCxn id="445" idx="3"/>
            <a:endCxn id="448" idx="1"/>
          </p:cNvCxnSpPr>
          <p:nvPr/>
        </p:nvCxnSpPr>
        <p:spPr>
          <a:xfrm>
            <a:off x="2665813" y="2825600"/>
            <a:ext cx="732600" cy="321300"/>
          </a:xfrm>
          <a:prstGeom prst="bentConnector3">
            <a:avLst>
              <a:gd fmla="val 49998" name="adj1"/>
            </a:avLst>
          </a:prstGeom>
          <a:noFill/>
          <a:ln cap="flat" cmpd="sng" w="9525">
            <a:solidFill>
              <a:schemeClr val="dk1"/>
            </a:solidFill>
            <a:prstDash val="solid"/>
            <a:round/>
            <a:headEnd len="med" w="med" type="none"/>
            <a:tailEnd len="med" w="med" type="none"/>
          </a:ln>
        </p:spPr>
      </p:cxnSp>
      <p:cxnSp>
        <p:nvCxnSpPr>
          <p:cNvPr id="453" name="Google Shape;453;p42"/>
          <p:cNvCxnSpPr>
            <a:stCxn id="445" idx="3"/>
            <a:endCxn id="449" idx="1"/>
          </p:cNvCxnSpPr>
          <p:nvPr/>
        </p:nvCxnSpPr>
        <p:spPr>
          <a:xfrm>
            <a:off x="2665813" y="2825600"/>
            <a:ext cx="732600" cy="963600"/>
          </a:xfrm>
          <a:prstGeom prst="bentConnector3">
            <a:avLst>
              <a:gd fmla="val 49998" name="adj1"/>
            </a:avLst>
          </a:prstGeom>
          <a:noFill/>
          <a:ln cap="flat" cmpd="sng" w="9525">
            <a:solidFill>
              <a:schemeClr val="dk1"/>
            </a:solidFill>
            <a:prstDash val="solid"/>
            <a:round/>
            <a:headEnd len="med" w="med" type="none"/>
            <a:tailEnd len="med" w="med" type="none"/>
          </a:ln>
        </p:spPr>
      </p:cxnSp>
      <p:sp>
        <p:nvSpPr>
          <p:cNvPr id="454" name="Google Shape;454;p42"/>
          <p:cNvSpPr txBox="1"/>
          <p:nvPr/>
        </p:nvSpPr>
        <p:spPr>
          <a:xfrm>
            <a:off x="656100" y="4513550"/>
            <a:ext cx="7831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GB" sz="1000">
                <a:solidFill>
                  <a:schemeClr val="dk1"/>
                </a:solidFill>
                <a:latin typeface="Hanken Grotesk"/>
                <a:ea typeface="Hanken Grotesk"/>
                <a:cs typeface="Hanken Grotesk"/>
                <a:sym typeface="Hanken Grotesk"/>
              </a:rPr>
              <a:t>*For example's sake, I have only displayed 4 of the 8 claims that were made by the agent</a:t>
            </a:r>
            <a:endParaRPr i="1" sz="1000">
              <a:solidFill>
                <a:schemeClr val="dk1"/>
              </a:solidFill>
              <a:latin typeface="Hanken Grotesk"/>
              <a:ea typeface="Hanken Grotesk"/>
              <a:cs typeface="Hanken Grotesk"/>
              <a:sym typeface="Hanken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p:txBody>
      </p:sp>
      <p:sp>
        <p:nvSpPr>
          <p:cNvPr id="460" name="Google Shape;460;p43"/>
          <p:cNvSpPr/>
          <p:nvPr/>
        </p:nvSpPr>
        <p:spPr>
          <a:xfrm>
            <a:off x="552600" y="1502588"/>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61" name="Google Shape;461;p43"/>
          <p:cNvSpPr/>
          <p:nvPr/>
        </p:nvSpPr>
        <p:spPr>
          <a:xfrm>
            <a:off x="552600" y="2787238"/>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62" name="Google Shape;462;p43"/>
          <p:cNvSpPr/>
          <p:nvPr/>
        </p:nvSpPr>
        <p:spPr>
          <a:xfrm>
            <a:off x="552475" y="2144913"/>
            <a:ext cx="26577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['An unauthorized Coinbase transaction', 'has been detected on', "the recipient's PayPal account"]</a:t>
            </a:r>
            <a:endParaRPr sz="800">
              <a:latin typeface="Hanken Grotesk"/>
              <a:ea typeface="Hanken Grotesk"/>
              <a:cs typeface="Hanken Grotesk"/>
              <a:sym typeface="Hanken Grotesk"/>
            </a:endParaRPr>
          </a:p>
        </p:txBody>
      </p:sp>
      <p:sp>
        <p:nvSpPr>
          <p:cNvPr id="463" name="Google Shape;463;p43"/>
          <p:cNvSpPr/>
          <p:nvPr/>
        </p:nvSpPr>
        <p:spPr>
          <a:xfrm>
            <a:off x="3778975" y="1403075"/>
            <a:ext cx="4780200" cy="20541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latin typeface="Hanken Grotesk"/>
                <a:ea typeface="Hanken Grotesk"/>
                <a:cs typeface="Hanken Grotesk"/>
                <a:sym typeface="Hanken Grotesk"/>
              </a:rPr>
              <a:t>"Source": "Internal Evidence",</a:t>
            </a:r>
            <a:endParaRPr sz="1000">
              <a:latin typeface="Hanken Grotesk"/>
              <a:ea typeface="Hanken Grotesk"/>
              <a:cs typeface="Hanken Grotesk"/>
              <a:sym typeface="Hanken Grotesk"/>
            </a:endParaRPr>
          </a:p>
          <a:p>
            <a:pPr indent="0" lvl="0" marL="0" rtl="0" algn="ctr">
              <a:spcBef>
                <a:spcPts val="0"/>
              </a:spcBef>
              <a:spcAft>
                <a:spcPts val="0"/>
              </a:spcAft>
              <a:buNone/>
            </a:pPr>
            <a:r>
              <a:rPr lang="en-GB" sz="1000">
                <a:latin typeface="Hanken Grotesk"/>
                <a:ea typeface="Hanken Grotesk"/>
                <a:cs typeface="Hanken Grotesk"/>
                <a:sym typeface="Hanken Grotesk"/>
              </a:rPr>
              <a:t>            "Evidence": "The provided message text is a generic security alert-style email stating that an unauthorized Coinbase transaction of $459.19 with Transaction ID PC-4829371560 was detected, and urges the recipient to call a phone number. This shows the *claim is being made* in the message, but does not by itself verify that an actual unauthorized Coinbase transaction occurred on the real PayPal account; it is only the content of the email.",</a:t>
            </a:r>
            <a:endParaRPr sz="1000">
              <a:latin typeface="Hanken Grotesk"/>
              <a:ea typeface="Hanken Grotesk"/>
              <a:cs typeface="Hanken Grotesk"/>
              <a:sym typeface="Hanken Grotesk"/>
            </a:endParaRPr>
          </a:p>
          <a:p>
            <a:pPr indent="0" lvl="0" marL="0" rtl="0" algn="ctr">
              <a:spcBef>
                <a:spcPts val="0"/>
              </a:spcBef>
              <a:spcAft>
                <a:spcPts val="0"/>
              </a:spcAft>
              <a:buNone/>
            </a:pPr>
            <a:r>
              <a:rPr lang="en-GB" sz="1000">
                <a:latin typeface="Hanken Grotesk"/>
                <a:ea typeface="Hanken Grotesk"/>
                <a:cs typeface="Hanken Grotesk"/>
                <a:sym typeface="Hanken Grotesk"/>
              </a:rPr>
              <a:t>            "Reliability Score": 0.9,"Relevance Score": 1.0</a:t>
            </a:r>
            <a:endParaRPr sz="1000">
              <a:latin typeface="Hanken Grotesk"/>
              <a:ea typeface="Hanken Grotesk"/>
              <a:cs typeface="Hanken Grotesk"/>
              <a:sym typeface="Hanken Grotesk"/>
            </a:endParaRPr>
          </a:p>
        </p:txBody>
      </p:sp>
      <p:cxnSp>
        <p:nvCxnSpPr>
          <p:cNvPr id="464" name="Google Shape;464;p43"/>
          <p:cNvCxnSpPr>
            <a:stCxn id="462" idx="3"/>
            <a:endCxn id="463" idx="1"/>
          </p:cNvCxnSpPr>
          <p:nvPr/>
        </p:nvCxnSpPr>
        <p:spPr>
          <a:xfrm flipH="1" rot="10800000">
            <a:off x="3210175" y="2430063"/>
            <a:ext cx="568800" cy="1200"/>
          </a:xfrm>
          <a:prstGeom prst="bentConnector3">
            <a:avLst>
              <a:gd fmla="val 50000" name="adj1"/>
            </a:avLst>
          </a:prstGeom>
          <a:noFill/>
          <a:ln cap="flat" cmpd="sng" w="9525">
            <a:solidFill>
              <a:schemeClr val="dk1"/>
            </a:solidFill>
            <a:prstDash val="solid"/>
            <a:round/>
            <a:headEnd len="med" w="med" type="none"/>
            <a:tailEnd len="med" w="med" type="none"/>
          </a:ln>
        </p:spPr>
      </p:cxnSp>
      <p:sp>
        <p:nvSpPr>
          <p:cNvPr id="465" name="Google Shape;465;p43"/>
          <p:cNvSpPr/>
          <p:nvPr/>
        </p:nvSpPr>
        <p:spPr>
          <a:xfrm>
            <a:off x="552600" y="3429550"/>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66" name="Google Shape;466;p43"/>
          <p:cNvSpPr txBox="1"/>
          <p:nvPr/>
        </p:nvSpPr>
        <p:spPr>
          <a:xfrm>
            <a:off x="3958075" y="3598300"/>
            <a:ext cx="4422000" cy="6156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Hanken Grotesk"/>
                <a:ea typeface="Hanken Grotesk"/>
                <a:cs typeface="Hanken Grotesk"/>
                <a:sym typeface="Hanken Grotesk"/>
              </a:rPr>
              <a:t>The agent did not perform any</a:t>
            </a:r>
            <a:r>
              <a:rPr lang="en-GB">
                <a:solidFill>
                  <a:schemeClr val="dk1"/>
                </a:solidFill>
                <a:latin typeface="Hanken Grotesk"/>
                <a:ea typeface="Hanken Grotesk"/>
                <a:cs typeface="Hanken Grotesk"/>
                <a:sym typeface="Hanken Grotesk"/>
              </a:rPr>
              <a:t> further tool calls (e.g. internet searches) despite being able to do so</a:t>
            </a:r>
            <a:endParaRPr>
              <a:solidFill>
                <a:schemeClr val="dk1"/>
              </a:solidFill>
              <a:latin typeface="Hanken Grotesk"/>
              <a:ea typeface="Hanken Grotesk"/>
              <a:cs typeface="Hanken Grotesk"/>
              <a:sym typeface="Hanken Grotesk"/>
            </a:endParaRPr>
          </a:p>
        </p:txBody>
      </p:sp>
      <p:sp>
        <p:nvSpPr>
          <p:cNvPr id="467" name="Google Shape;467;p43"/>
          <p:cNvSpPr txBox="1"/>
          <p:nvPr/>
        </p:nvSpPr>
        <p:spPr>
          <a:xfrm>
            <a:off x="720000" y="897775"/>
            <a:ext cx="753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Categorised as 'Verifiable' but did not have adequate tools for obtaining required information</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a:p>
            <a:pPr indent="0" lvl="0" marL="0" rtl="0" algn="l">
              <a:spcBef>
                <a:spcPts val="0"/>
              </a:spcBef>
              <a:spcAft>
                <a:spcPts val="0"/>
              </a:spcAft>
              <a:buNone/>
            </a:pPr>
            <a:r>
              <a:t/>
            </a:r>
            <a:endParaRPr/>
          </a:p>
        </p:txBody>
      </p:sp>
      <p:sp>
        <p:nvSpPr>
          <p:cNvPr id="473" name="Google Shape;473;p44"/>
          <p:cNvSpPr/>
          <p:nvPr/>
        </p:nvSpPr>
        <p:spPr>
          <a:xfrm>
            <a:off x="720072" y="1667850"/>
            <a:ext cx="15366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74" name="Google Shape;474;p44"/>
          <p:cNvSpPr/>
          <p:nvPr/>
        </p:nvSpPr>
        <p:spPr>
          <a:xfrm>
            <a:off x="720072" y="2952500"/>
            <a:ext cx="15366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75" name="Google Shape;475;p44"/>
          <p:cNvSpPr/>
          <p:nvPr/>
        </p:nvSpPr>
        <p:spPr>
          <a:xfrm>
            <a:off x="720000" y="2310175"/>
            <a:ext cx="15366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['An unauthorized Coinbase transaction', 'has been detected on', "the recipient's PayPal account"]</a:t>
            </a:r>
            <a:endParaRPr sz="800">
              <a:latin typeface="Hanken Grotesk"/>
              <a:ea typeface="Hanken Grotesk"/>
              <a:cs typeface="Hanken Grotesk"/>
              <a:sym typeface="Hanken Grotesk"/>
            </a:endParaRPr>
          </a:p>
        </p:txBody>
      </p:sp>
      <p:sp>
        <p:nvSpPr>
          <p:cNvPr id="476" name="Google Shape;476;p44"/>
          <p:cNvSpPr/>
          <p:nvPr/>
        </p:nvSpPr>
        <p:spPr>
          <a:xfrm>
            <a:off x="2730900" y="1290588"/>
            <a:ext cx="2898600" cy="26577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Hanken Grotesk"/>
                <a:ea typeface="Hanken Grotesk"/>
                <a:cs typeface="Hanken Grotesk"/>
                <a:sym typeface="Hanken Grotesk"/>
              </a:rPr>
              <a:t>"Source": "Internal Evidence",</a:t>
            </a:r>
            <a:endParaRPr sz="900">
              <a:latin typeface="Hanken Grotesk"/>
              <a:ea typeface="Hanken Grotesk"/>
              <a:cs typeface="Hanken Grotesk"/>
              <a:sym typeface="Hanken Grotesk"/>
            </a:endParaRPr>
          </a:p>
          <a:p>
            <a:pPr indent="0" lvl="0" marL="0" rtl="0" algn="ctr">
              <a:spcBef>
                <a:spcPts val="0"/>
              </a:spcBef>
              <a:spcAft>
                <a:spcPts val="0"/>
              </a:spcAft>
              <a:buNone/>
            </a:pPr>
            <a:r>
              <a:rPr lang="en-GB" sz="900">
                <a:latin typeface="Hanken Grotesk"/>
                <a:ea typeface="Hanken Grotesk"/>
                <a:cs typeface="Hanken Grotesk"/>
                <a:sym typeface="Hanken Grotesk"/>
              </a:rPr>
              <a:t>"Evidence": "The provided message text is a generic security alert-style email stating that an unauthorized Coinbase transaction of $459.19 with Transaction ID PC-4829371560 was detected, and urges the recipient to call a phone number. This shows the *claim is being made* in the message, but does not by itself verify that an actual unauthorized Coinbase transaction occurred on the real PayPal account; it is only the content of the email.",</a:t>
            </a:r>
            <a:endParaRPr sz="900">
              <a:latin typeface="Hanken Grotesk"/>
              <a:ea typeface="Hanken Grotesk"/>
              <a:cs typeface="Hanken Grotesk"/>
              <a:sym typeface="Hanken Grotesk"/>
            </a:endParaRPr>
          </a:p>
          <a:p>
            <a:pPr indent="0" lvl="0" marL="0" rtl="0" algn="ctr">
              <a:spcBef>
                <a:spcPts val="0"/>
              </a:spcBef>
              <a:spcAft>
                <a:spcPts val="0"/>
              </a:spcAft>
              <a:buNone/>
            </a:pPr>
            <a:r>
              <a:rPr lang="en-GB" sz="900">
                <a:latin typeface="Hanken Grotesk"/>
                <a:ea typeface="Hanken Grotesk"/>
                <a:cs typeface="Hanken Grotesk"/>
                <a:sym typeface="Hanken Grotesk"/>
              </a:rPr>
              <a:t> "Reliability Score": 0.9,</a:t>
            </a:r>
            <a:endParaRPr sz="900">
              <a:latin typeface="Hanken Grotesk"/>
              <a:ea typeface="Hanken Grotesk"/>
              <a:cs typeface="Hanken Grotesk"/>
              <a:sym typeface="Hanken Grotesk"/>
            </a:endParaRPr>
          </a:p>
          <a:p>
            <a:pPr indent="0" lvl="0" marL="0" rtl="0" algn="ctr">
              <a:spcBef>
                <a:spcPts val="0"/>
              </a:spcBef>
              <a:spcAft>
                <a:spcPts val="0"/>
              </a:spcAft>
              <a:buNone/>
            </a:pPr>
            <a:r>
              <a:rPr lang="en-GB" sz="900">
                <a:latin typeface="Hanken Grotesk"/>
                <a:ea typeface="Hanken Grotesk"/>
                <a:cs typeface="Hanken Grotesk"/>
                <a:sym typeface="Hanken Grotesk"/>
              </a:rPr>
              <a:t>"Relevance Score": 1.0</a:t>
            </a:r>
            <a:endParaRPr sz="900">
              <a:latin typeface="Hanken Grotesk"/>
              <a:ea typeface="Hanken Grotesk"/>
              <a:cs typeface="Hanken Grotesk"/>
              <a:sym typeface="Hanken Grotesk"/>
            </a:endParaRPr>
          </a:p>
        </p:txBody>
      </p:sp>
      <p:sp>
        <p:nvSpPr>
          <p:cNvPr id="477" name="Google Shape;477;p44"/>
          <p:cNvSpPr/>
          <p:nvPr/>
        </p:nvSpPr>
        <p:spPr>
          <a:xfrm>
            <a:off x="720072" y="3594813"/>
            <a:ext cx="15366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78" name="Google Shape;478;p44"/>
          <p:cNvSpPr/>
          <p:nvPr/>
        </p:nvSpPr>
        <p:spPr>
          <a:xfrm>
            <a:off x="6059125" y="1479688"/>
            <a:ext cx="2502000" cy="30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79" name="Google Shape;479;p44"/>
          <p:cNvSpPr/>
          <p:nvPr/>
        </p:nvSpPr>
        <p:spPr>
          <a:xfrm>
            <a:off x="6059125" y="3412888"/>
            <a:ext cx="2502000" cy="30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80" name="Google Shape;480;p44"/>
          <p:cNvSpPr/>
          <p:nvPr/>
        </p:nvSpPr>
        <p:spPr>
          <a:xfrm>
            <a:off x="6053700" y="1897663"/>
            <a:ext cx="2502000" cy="1447500"/>
          </a:xfrm>
          <a:prstGeom prst="roundRect">
            <a:avLst>
              <a:gd fmla="val 16667" name="adj"/>
            </a:avLst>
          </a:prstGeom>
          <a:solidFill>
            <a:srgbClr val="D9D2E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"Extra Evidence Needed": "Recipient must log in directly to their official PayPal account (not via any email links) and check recent activity for a Coinbase transaction of the stated amount and transaction ID; alternatively, confirmation from PayPal support or official account records is needed to verify whether such an unauthorized transaction actually exists.",</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"Verdict": "Extra Evidence Needed"</a:t>
            </a:r>
            <a:endParaRPr sz="800">
              <a:latin typeface="Hanken Grotesk"/>
              <a:ea typeface="Hanken Grotesk"/>
              <a:cs typeface="Hanken Grotesk"/>
              <a:sym typeface="Hanken Grotesk"/>
            </a:endParaRPr>
          </a:p>
        </p:txBody>
      </p:sp>
      <p:sp>
        <p:nvSpPr>
          <p:cNvPr id="481" name="Google Shape;481;p44"/>
          <p:cNvSpPr/>
          <p:nvPr/>
        </p:nvSpPr>
        <p:spPr>
          <a:xfrm>
            <a:off x="6053700" y="3790220"/>
            <a:ext cx="2502000" cy="30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cxnSp>
        <p:nvCxnSpPr>
          <p:cNvPr id="482" name="Google Shape;482;p44"/>
          <p:cNvCxnSpPr>
            <a:stCxn id="476" idx="3"/>
            <a:endCxn id="480" idx="1"/>
          </p:cNvCxnSpPr>
          <p:nvPr/>
        </p:nvCxnSpPr>
        <p:spPr>
          <a:xfrm>
            <a:off x="5629500" y="2619438"/>
            <a:ext cx="424200" cy="2100"/>
          </a:xfrm>
          <a:prstGeom prst="bentConnector3">
            <a:avLst>
              <a:gd fmla="val 50000" name="adj1"/>
            </a:avLst>
          </a:prstGeom>
          <a:noFill/>
          <a:ln cap="flat" cmpd="sng" w="9525">
            <a:solidFill>
              <a:schemeClr val="dk1"/>
            </a:solidFill>
            <a:prstDash val="solid"/>
            <a:round/>
            <a:headEnd len="med" w="med" type="none"/>
            <a:tailEnd len="med" w="med" type="none"/>
          </a:ln>
        </p:spPr>
      </p:cxnSp>
      <p:sp>
        <p:nvSpPr>
          <p:cNvPr id="483" name="Google Shape;483;p44"/>
          <p:cNvSpPr txBox="1"/>
          <p:nvPr/>
        </p:nvSpPr>
        <p:spPr>
          <a:xfrm>
            <a:off x="2492400" y="4167550"/>
            <a:ext cx="3993000" cy="646500"/>
          </a:xfrm>
          <a:prstGeom prst="rect">
            <a:avLst/>
          </a:prstGeom>
          <a:solidFill>
            <a:srgbClr val="F3F3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GB" sz="1000">
                <a:solidFill>
                  <a:schemeClr val="dk1"/>
                </a:solidFill>
                <a:latin typeface="Hanken Grotesk"/>
                <a:ea typeface="Hanken Grotesk"/>
                <a:cs typeface="Hanken Grotesk"/>
                <a:sym typeface="Hanken Grotesk"/>
              </a:rPr>
              <a:t>I</a:t>
            </a:r>
            <a:r>
              <a:rPr i="1" lang="en-GB" sz="1000">
                <a:solidFill>
                  <a:schemeClr val="dk1"/>
                </a:solidFill>
                <a:latin typeface="Hanken Grotesk"/>
                <a:ea typeface="Hanken Grotesk"/>
                <a:cs typeface="Hanken Grotesk"/>
                <a:sym typeface="Hanken Grotesk"/>
              </a:rPr>
              <a:t>nitially classified as verifiable, but was 'self-corrected' for the verdict as no tools existed to provide evidence that could properly verify the claim, final decision "Extra Evidence Needed"</a:t>
            </a:r>
            <a:endParaRPr i="1" sz="1000">
              <a:solidFill>
                <a:schemeClr val="dk1"/>
              </a:solidFill>
              <a:latin typeface="Hanken Grotesk"/>
              <a:ea typeface="Hanken Grotesk"/>
              <a:cs typeface="Hanken Grotesk"/>
              <a:sym typeface="Hanken Grotesk"/>
            </a:endParaRPr>
          </a:p>
        </p:txBody>
      </p:sp>
      <p:cxnSp>
        <p:nvCxnSpPr>
          <p:cNvPr id="484" name="Google Shape;484;p44"/>
          <p:cNvCxnSpPr>
            <a:stCxn id="475" idx="3"/>
            <a:endCxn id="476" idx="1"/>
          </p:cNvCxnSpPr>
          <p:nvPr/>
        </p:nvCxnSpPr>
        <p:spPr>
          <a:xfrm>
            <a:off x="2256600" y="2596525"/>
            <a:ext cx="474300" cy="22800"/>
          </a:xfrm>
          <a:prstGeom prst="straightConnector1">
            <a:avLst/>
          </a:prstGeom>
          <a:noFill/>
          <a:ln cap="flat" cmpd="sng" w="9525">
            <a:solidFill>
              <a:schemeClr val="dk1"/>
            </a:solidFill>
            <a:prstDash val="solid"/>
            <a:round/>
            <a:headEnd len="med" w="med" type="none"/>
            <a:tailEnd len="med" w="med" type="none"/>
          </a:ln>
        </p:spPr>
      </p:cxnSp>
      <p:sp>
        <p:nvSpPr>
          <p:cNvPr id="485" name="Google Shape;485;p44"/>
          <p:cNvSpPr txBox="1"/>
          <p:nvPr/>
        </p:nvSpPr>
        <p:spPr>
          <a:xfrm>
            <a:off x="720000" y="897775"/>
            <a:ext cx="753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Categorised as 'Verifiable' but did not have adequate tools for obtaining required information</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a:p>
            <a:pPr indent="0" lvl="0" marL="0" rtl="0" algn="l">
              <a:spcBef>
                <a:spcPts val="0"/>
              </a:spcBef>
              <a:spcAft>
                <a:spcPts val="0"/>
              </a:spcAft>
              <a:buNone/>
            </a:pPr>
            <a:r>
              <a:t/>
            </a:r>
            <a:endParaRPr/>
          </a:p>
        </p:txBody>
      </p:sp>
      <p:sp>
        <p:nvSpPr>
          <p:cNvPr id="491" name="Google Shape;491;p45"/>
          <p:cNvSpPr/>
          <p:nvPr/>
        </p:nvSpPr>
        <p:spPr>
          <a:xfrm>
            <a:off x="528950" y="1612150"/>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92" name="Google Shape;492;p45"/>
          <p:cNvSpPr/>
          <p:nvPr/>
        </p:nvSpPr>
        <p:spPr>
          <a:xfrm>
            <a:off x="528950" y="2254475"/>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93" name="Google Shape;493;p45"/>
          <p:cNvSpPr/>
          <p:nvPr/>
        </p:nvSpPr>
        <p:spPr>
          <a:xfrm>
            <a:off x="529075" y="2896800"/>
            <a:ext cx="26577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['The Customer Support team', 'is available', '24/7']</a:t>
            </a:r>
            <a:endParaRPr sz="800">
              <a:latin typeface="Hanken Grotesk"/>
              <a:ea typeface="Hanken Grotesk"/>
              <a:cs typeface="Hanken Grotesk"/>
              <a:sym typeface="Hanken Grotesk"/>
            </a:endParaRPr>
          </a:p>
        </p:txBody>
      </p:sp>
      <p:sp>
        <p:nvSpPr>
          <p:cNvPr id="494" name="Google Shape;494;p45"/>
          <p:cNvSpPr/>
          <p:nvPr/>
        </p:nvSpPr>
        <p:spPr>
          <a:xfrm>
            <a:off x="529075" y="3539125"/>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495" name="Google Shape;495;p45"/>
          <p:cNvSpPr/>
          <p:nvPr/>
        </p:nvSpPr>
        <p:spPr>
          <a:xfrm>
            <a:off x="3778925" y="1219200"/>
            <a:ext cx="4780200" cy="7140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 "Source": "Internal Evidence",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"Evidence": "The scam context states: \"Our team is available 24/7 to assist you and prevent any further unauthorized activity on your account.\" This repeats the claim but is part of the suspicious message itself and cannot be treated as independent supporting evidence.",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"Reliability Score": 0.2, "Relevance Score": 1.0</a:t>
            </a:r>
            <a:endParaRPr sz="800">
              <a:latin typeface="Hanken Grotesk"/>
              <a:ea typeface="Hanken Grotesk"/>
              <a:cs typeface="Hanken Grotesk"/>
              <a:sym typeface="Hanken Grotesk"/>
            </a:endParaRPr>
          </a:p>
        </p:txBody>
      </p:sp>
      <p:sp>
        <p:nvSpPr>
          <p:cNvPr id="496" name="Google Shape;496;p45"/>
          <p:cNvSpPr/>
          <p:nvPr/>
        </p:nvSpPr>
        <p:spPr>
          <a:xfrm>
            <a:off x="3778925" y="2023000"/>
            <a:ext cx="4780200" cy="7140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"Source": "https://www.paypal.com/us/cshelp/article/…",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"Evidence": "PayPal\u2019s official help page explains how to contact customer service (phone, message center, etc.) and notes that availability and hours can vary by issue and region. It does not clearly state that live phone support is available 24/7 in all cases.",</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"Reliability Score": 0.95, "Relevance Score": 0.8</a:t>
            </a:r>
            <a:endParaRPr sz="800">
              <a:latin typeface="Hanken Grotesk"/>
              <a:ea typeface="Hanken Grotesk"/>
              <a:cs typeface="Hanken Grotesk"/>
              <a:sym typeface="Hanken Grotesk"/>
            </a:endParaRPr>
          </a:p>
        </p:txBody>
      </p:sp>
      <p:sp>
        <p:nvSpPr>
          <p:cNvPr id="497" name="Google Shape;497;p45"/>
          <p:cNvSpPr/>
          <p:nvPr/>
        </p:nvSpPr>
        <p:spPr>
          <a:xfrm>
            <a:off x="3778925" y="3630600"/>
            <a:ext cx="4780200" cy="8205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"Source": "https://www.businessinsider.com/reference/how-to-contact-paypal",</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"Evidence": "Business Insider\u2019s article describes how to contact PayPal via phone and online, including a phone number, and notes that customer service is not always immediately available and that hours can depend on when you call; it does not characterize PayPal phone support as universally 24/7.",</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"Reliability Score": 0.85, Relevance Score": 0.7</a:t>
            </a:r>
            <a:endParaRPr sz="800">
              <a:latin typeface="Hanken Grotesk"/>
              <a:ea typeface="Hanken Grotesk"/>
              <a:cs typeface="Hanken Grotesk"/>
              <a:sym typeface="Hanken Grotesk"/>
            </a:endParaRPr>
          </a:p>
        </p:txBody>
      </p:sp>
      <p:sp>
        <p:nvSpPr>
          <p:cNvPr id="498" name="Google Shape;498;p45"/>
          <p:cNvSpPr/>
          <p:nvPr/>
        </p:nvSpPr>
        <p:spPr>
          <a:xfrm>
            <a:off x="3778925" y="2826801"/>
            <a:ext cx="4780200" cy="7140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"Source": "https://www.paypal.com/us/cshelp/contact-us",</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"Evidence": "The contact page provides methods to reach PayPal (phone, message assistant, resolution center). It lists options and sometimes hours by region/issue but does not generically state that the phone-based customer support team is available 24/7.",</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"Reliability Score": 0.95, "Relevance Score": 0.7</a:t>
            </a:r>
            <a:endParaRPr sz="800">
              <a:latin typeface="Hanken Grotesk"/>
              <a:ea typeface="Hanken Grotesk"/>
              <a:cs typeface="Hanken Grotesk"/>
              <a:sym typeface="Hanken Grotesk"/>
            </a:endParaRPr>
          </a:p>
        </p:txBody>
      </p:sp>
      <p:cxnSp>
        <p:nvCxnSpPr>
          <p:cNvPr id="499" name="Google Shape;499;p45"/>
          <p:cNvCxnSpPr>
            <a:stCxn id="493" idx="3"/>
            <a:endCxn id="495" idx="1"/>
          </p:cNvCxnSpPr>
          <p:nvPr/>
        </p:nvCxnSpPr>
        <p:spPr>
          <a:xfrm flipH="1" rot="10800000">
            <a:off x="3186775" y="1576050"/>
            <a:ext cx="592200" cy="1607100"/>
          </a:xfrm>
          <a:prstGeom prst="bentConnector3">
            <a:avLst>
              <a:gd fmla="val 49996" name="adj1"/>
            </a:avLst>
          </a:prstGeom>
          <a:noFill/>
          <a:ln cap="flat" cmpd="sng" w="9525">
            <a:solidFill>
              <a:schemeClr val="dk1"/>
            </a:solidFill>
            <a:prstDash val="solid"/>
            <a:round/>
            <a:headEnd len="med" w="med" type="none"/>
            <a:tailEnd len="med" w="med" type="none"/>
          </a:ln>
        </p:spPr>
      </p:cxnSp>
      <p:cxnSp>
        <p:nvCxnSpPr>
          <p:cNvPr id="500" name="Google Shape;500;p45"/>
          <p:cNvCxnSpPr>
            <a:stCxn id="493" idx="3"/>
            <a:endCxn id="496" idx="1"/>
          </p:cNvCxnSpPr>
          <p:nvPr/>
        </p:nvCxnSpPr>
        <p:spPr>
          <a:xfrm flipH="1" rot="10800000">
            <a:off x="3186775" y="2380050"/>
            <a:ext cx="592200" cy="803100"/>
          </a:xfrm>
          <a:prstGeom prst="bentConnector3">
            <a:avLst>
              <a:gd fmla="val 49996" name="adj1"/>
            </a:avLst>
          </a:prstGeom>
          <a:noFill/>
          <a:ln cap="flat" cmpd="sng" w="9525">
            <a:solidFill>
              <a:schemeClr val="dk1"/>
            </a:solidFill>
            <a:prstDash val="solid"/>
            <a:round/>
            <a:headEnd len="med" w="med" type="none"/>
            <a:tailEnd len="med" w="med" type="none"/>
          </a:ln>
        </p:spPr>
      </p:cxnSp>
      <p:cxnSp>
        <p:nvCxnSpPr>
          <p:cNvPr id="501" name="Google Shape;501;p45"/>
          <p:cNvCxnSpPr>
            <a:stCxn id="493" idx="3"/>
            <a:endCxn id="498" idx="1"/>
          </p:cNvCxnSpPr>
          <p:nvPr/>
        </p:nvCxnSpPr>
        <p:spPr>
          <a:xfrm>
            <a:off x="3186775" y="3183150"/>
            <a:ext cx="592200" cy="600"/>
          </a:xfrm>
          <a:prstGeom prst="bentConnector3">
            <a:avLst>
              <a:gd fmla="val 49996" name="adj1"/>
            </a:avLst>
          </a:prstGeom>
          <a:noFill/>
          <a:ln cap="flat" cmpd="sng" w="9525">
            <a:solidFill>
              <a:schemeClr val="dk1"/>
            </a:solidFill>
            <a:prstDash val="solid"/>
            <a:round/>
            <a:headEnd len="med" w="med" type="none"/>
            <a:tailEnd len="med" w="med" type="none"/>
          </a:ln>
        </p:spPr>
      </p:cxnSp>
      <p:cxnSp>
        <p:nvCxnSpPr>
          <p:cNvPr id="502" name="Google Shape;502;p45"/>
          <p:cNvCxnSpPr>
            <a:stCxn id="493" idx="3"/>
            <a:endCxn id="497" idx="1"/>
          </p:cNvCxnSpPr>
          <p:nvPr/>
        </p:nvCxnSpPr>
        <p:spPr>
          <a:xfrm>
            <a:off x="3186775" y="3183150"/>
            <a:ext cx="592200" cy="857700"/>
          </a:xfrm>
          <a:prstGeom prst="bentConnector3">
            <a:avLst>
              <a:gd fmla="val 49996" name="adj1"/>
            </a:avLst>
          </a:prstGeom>
          <a:noFill/>
          <a:ln cap="flat" cmpd="sng" w="9525">
            <a:solidFill>
              <a:schemeClr val="dk1"/>
            </a:solidFill>
            <a:prstDash val="solid"/>
            <a:round/>
            <a:headEnd len="med" w="med" type="none"/>
            <a:tailEnd len="med" w="med" type="none"/>
          </a:ln>
        </p:spPr>
      </p:cxnSp>
      <p:sp>
        <p:nvSpPr>
          <p:cNvPr id="503" name="Google Shape;503;p45"/>
          <p:cNvSpPr txBox="1"/>
          <p:nvPr/>
        </p:nvSpPr>
        <p:spPr>
          <a:xfrm>
            <a:off x="720000" y="897775"/>
            <a:ext cx="753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Categorised as 'Verifiable' and had the appropriate tools to obtain evidence</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a:p>
            <a:pPr indent="0" lvl="0" marL="0" rtl="0" algn="l">
              <a:spcBef>
                <a:spcPts val="0"/>
              </a:spcBef>
              <a:spcAft>
                <a:spcPts val="0"/>
              </a:spcAft>
              <a:buNone/>
            </a:pPr>
            <a:r>
              <a:t/>
            </a:r>
            <a:endParaRPr/>
          </a:p>
        </p:txBody>
      </p:sp>
      <p:sp>
        <p:nvSpPr>
          <p:cNvPr id="509" name="Google Shape;509;p46"/>
          <p:cNvSpPr/>
          <p:nvPr/>
        </p:nvSpPr>
        <p:spPr>
          <a:xfrm>
            <a:off x="665050" y="1608075"/>
            <a:ext cx="14523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10" name="Google Shape;510;p46"/>
          <p:cNvSpPr/>
          <p:nvPr/>
        </p:nvSpPr>
        <p:spPr>
          <a:xfrm>
            <a:off x="665050" y="2243050"/>
            <a:ext cx="14523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11" name="Google Shape;511;p46"/>
          <p:cNvSpPr/>
          <p:nvPr/>
        </p:nvSpPr>
        <p:spPr>
          <a:xfrm>
            <a:off x="665050" y="2885375"/>
            <a:ext cx="14523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['The Customer Support team', 'is available', '24/7']</a:t>
            </a:r>
            <a:endParaRPr sz="800">
              <a:latin typeface="Hanken Grotesk"/>
              <a:ea typeface="Hanken Grotesk"/>
              <a:cs typeface="Hanken Grotesk"/>
              <a:sym typeface="Hanken Grotesk"/>
            </a:endParaRPr>
          </a:p>
        </p:txBody>
      </p:sp>
      <p:sp>
        <p:nvSpPr>
          <p:cNvPr id="512" name="Google Shape;512;p46"/>
          <p:cNvSpPr/>
          <p:nvPr/>
        </p:nvSpPr>
        <p:spPr>
          <a:xfrm>
            <a:off x="665050" y="3527700"/>
            <a:ext cx="14523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13" name="Google Shape;513;p46"/>
          <p:cNvSpPr/>
          <p:nvPr/>
        </p:nvSpPr>
        <p:spPr>
          <a:xfrm>
            <a:off x="2480547" y="1201550"/>
            <a:ext cx="3993600" cy="7140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700">
                <a:latin typeface="Hanken Grotesk"/>
                <a:ea typeface="Hanken Grotesk"/>
                <a:cs typeface="Hanken Grotesk"/>
                <a:sym typeface="Hanken Grotesk"/>
              </a:rPr>
              <a:t> "Source": "Internal Evidence",</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            "Evidence": "The scam context states: \"Our team is available 24/7 to assist you and prevent any further unauthorized activity on your account.\" This repeats the claim but is part of the suspicious message itself and cannot be treated as independent supporting evidence.",</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            "Reliability Score": 0.2, "Relevance Score": 1.0</a:t>
            </a:r>
            <a:endParaRPr sz="700">
              <a:latin typeface="Hanken Grotesk"/>
              <a:ea typeface="Hanken Grotesk"/>
              <a:cs typeface="Hanken Grotesk"/>
              <a:sym typeface="Hanken Grotesk"/>
            </a:endParaRPr>
          </a:p>
        </p:txBody>
      </p:sp>
      <p:sp>
        <p:nvSpPr>
          <p:cNvPr id="514" name="Google Shape;514;p46"/>
          <p:cNvSpPr/>
          <p:nvPr/>
        </p:nvSpPr>
        <p:spPr>
          <a:xfrm>
            <a:off x="2480547" y="2005350"/>
            <a:ext cx="3993600" cy="7140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700">
                <a:latin typeface="Hanken Grotesk"/>
                <a:ea typeface="Hanken Grotesk"/>
                <a:cs typeface="Hanken Grotesk"/>
                <a:sym typeface="Hanken Grotesk"/>
              </a:rPr>
              <a:t>"Source": "https://www.paypal.com/us/cshelp/article/…",</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"Evidence": "PayPal\u2019s official help page explains how to contact customer service (phone, message center, etc.) and notes that availability and hours can vary by issue and region. It does not clearly state that live phone support is available 24/7 in all cases.",</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"Reliability Score": 0.95, "Relevance Score": 0.8</a:t>
            </a:r>
            <a:endParaRPr sz="700">
              <a:latin typeface="Hanken Grotesk"/>
              <a:ea typeface="Hanken Grotesk"/>
              <a:cs typeface="Hanken Grotesk"/>
              <a:sym typeface="Hanken Grotesk"/>
            </a:endParaRPr>
          </a:p>
        </p:txBody>
      </p:sp>
      <p:sp>
        <p:nvSpPr>
          <p:cNvPr id="515" name="Google Shape;515;p46"/>
          <p:cNvSpPr/>
          <p:nvPr/>
        </p:nvSpPr>
        <p:spPr>
          <a:xfrm>
            <a:off x="2480547" y="3612950"/>
            <a:ext cx="3993600" cy="8205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700">
                <a:latin typeface="Hanken Grotesk"/>
                <a:ea typeface="Hanken Grotesk"/>
                <a:cs typeface="Hanken Grotesk"/>
                <a:sym typeface="Hanken Grotesk"/>
              </a:rPr>
              <a:t>"Source": "https://www.businessinsider.com/reference/how-to-contact-paypal",</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"Evidence": "Business Insider\u2019s article describes how to contact PayPal via phone and online, including a phone number, and notes that customer service is not always immediately available and that hours can depend on when you call; it does not characterize PayPal phone support as universally 24/7.",</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"Reliability Score": 0.85, Relevance Score": 0.7</a:t>
            </a:r>
            <a:endParaRPr sz="700">
              <a:latin typeface="Hanken Grotesk"/>
              <a:ea typeface="Hanken Grotesk"/>
              <a:cs typeface="Hanken Grotesk"/>
              <a:sym typeface="Hanken Grotesk"/>
            </a:endParaRPr>
          </a:p>
        </p:txBody>
      </p:sp>
      <p:sp>
        <p:nvSpPr>
          <p:cNvPr id="516" name="Google Shape;516;p46"/>
          <p:cNvSpPr/>
          <p:nvPr/>
        </p:nvSpPr>
        <p:spPr>
          <a:xfrm>
            <a:off x="2480547" y="2809151"/>
            <a:ext cx="3993600" cy="714000"/>
          </a:xfrm>
          <a:prstGeom prst="roundRect">
            <a:avLst>
              <a:gd fmla="val 16667" name="adj"/>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700">
                <a:latin typeface="Hanken Grotesk"/>
                <a:ea typeface="Hanken Grotesk"/>
                <a:cs typeface="Hanken Grotesk"/>
                <a:sym typeface="Hanken Grotesk"/>
              </a:rPr>
              <a:t>"Source": "https://www.paypal.com/us/cshelp/contact-us",</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"Evidence": "The contact page provides methods to reach PayPal (phone, message assistant, resolution center). It lists options and sometimes hours by region/issue but does not generically state that the phone-based customer support team is available 24/7.",</a:t>
            </a:r>
            <a:endParaRPr sz="700">
              <a:latin typeface="Hanken Grotesk"/>
              <a:ea typeface="Hanken Grotesk"/>
              <a:cs typeface="Hanken Grotesk"/>
              <a:sym typeface="Hanken Grotesk"/>
            </a:endParaRPr>
          </a:p>
          <a:p>
            <a:pPr indent="0" lvl="0" marL="0" rtl="0" algn="ctr">
              <a:spcBef>
                <a:spcPts val="0"/>
              </a:spcBef>
              <a:spcAft>
                <a:spcPts val="0"/>
              </a:spcAft>
              <a:buNone/>
            </a:pPr>
            <a:r>
              <a:rPr lang="en-GB" sz="700">
                <a:latin typeface="Hanken Grotesk"/>
                <a:ea typeface="Hanken Grotesk"/>
                <a:cs typeface="Hanken Grotesk"/>
                <a:sym typeface="Hanken Grotesk"/>
              </a:rPr>
              <a:t> "Reliability Score": 0.95, "Relevance Score": 0.7</a:t>
            </a:r>
            <a:endParaRPr sz="700">
              <a:latin typeface="Hanken Grotesk"/>
              <a:ea typeface="Hanken Grotesk"/>
              <a:cs typeface="Hanken Grotesk"/>
              <a:sym typeface="Hanken Grotesk"/>
            </a:endParaRPr>
          </a:p>
        </p:txBody>
      </p:sp>
      <p:cxnSp>
        <p:nvCxnSpPr>
          <p:cNvPr id="517" name="Google Shape;517;p46"/>
          <p:cNvCxnSpPr>
            <a:stCxn id="511" idx="3"/>
            <a:endCxn id="513" idx="1"/>
          </p:cNvCxnSpPr>
          <p:nvPr/>
        </p:nvCxnSpPr>
        <p:spPr>
          <a:xfrm flipH="1" rot="10800000">
            <a:off x="2117350" y="1558625"/>
            <a:ext cx="363300" cy="1613100"/>
          </a:xfrm>
          <a:prstGeom prst="bentConnector3">
            <a:avLst>
              <a:gd fmla="val 49986" name="adj1"/>
            </a:avLst>
          </a:prstGeom>
          <a:noFill/>
          <a:ln cap="flat" cmpd="sng" w="9525">
            <a:solidFill>
              <a:schemeClr val="dk1"/>
            </a:solidFill>
            <a:prstDash val="solid"/>
            <a:round/>
            <a:headEnd len="med" w="med" type="none"/>
            <a:tailEnd len="med" w="med" type="none"/>
          </a:ln>
        </p:spPr>
      </p:cxnSp>
      <p:cxnSp>
        <p:nvCxnSpPr>
          <p:cNvPr id="518" name="Google Shape;518;p46"/>
          <p:cNvCxnSpPr>
            <a:stCxn id="511" idx="3"/>
            <a:endCxn id="514" idx="1"/>
          </p:cNvCxnSpPr>
          <p:nvPr/>
        </p:nvCxnSpPr>
        <p:spPr>
          <a:xfrm flipH="1" rot="10800000">
            <a:off x="2117350" y="2362325"/>
            <a:ext cx="363300" cy="809400"/>
          </a:xfrm>
          <a:prstGeom prst="bentConnector3">
            <a:avLst>
              <a:gd fmla="val 49986" name="adj1"/>
            </a:avLst>
          </a:prstGeom>
          <a:noFill/>
          <a:ln cap="flat" cmpd="sng" w="9525">
            <a:solidFill>
              <a:schemeClr val="dk1"/>
            </a:solidFill>
            <a:prstDash val="solid"/>
            <a:round/>
            <a:headEnd len="med" w="med" type="none"/>
            <a:tailEnd len="med" w="med" type="none"/>
          </a:ln>
        </p:spPr>
      </p:cxnSp>
      <p:cxnSp>
        <p:nvCxnSpPr>
          <p:cNvPr id="519" name="Google Shape;519;p46"/>
          <p:cNvCxnSpPr>
            <a:stCxn id="511" idx="3"/>
            <a:endCxn id="516" idx="1"/>
          </p:cNvCxnSpPr>
          <p:nvPr/>
        </p:nvCxnSpPr>
        <p:spPr>
          <a:xfrm flipH="1" rot="10800000">
            <a:off x="2117350" y="3166025"/>
            <a:ext cx="363300" cy="5700"/>
          </a:xfrm>
          <a:prstGeom prst="bentConnector3">
            <a:avLst>
              <a:gd fmla="val 49986" name="adj1"/>
            </a:avLst>
          </a:prstGeom>
          <a:noFill/>
          <a:ln cap="flat" cmpd="sng" w="9525">
            <a:solidFill>
              <a:schemeClr val="dk1"/>
            </a:solidFill>
            <a:prstDash val="solid"/>
            <a:round/>
            <a:headEnd len="med" w="med" type="none"/>
            <a:tailEnd len="med" w="med" type="none"/>
          </a:ln>
        </p:spPr>
      </p:cxnSp>
      <p:cxnSp>
        <p:nvCxnSpPr>
          <p:cNvPr id="520" name="Google Shape;520;p46"/>
          <p:cNvCxnSpPr>
            <a:stCxn id="511" idx="3"/>
            <a:endCxn id="515" idx="1"/>
          </p:cNvCxnSpPr>
          <p:nvPr/>
        </p:nvCxnSpPr>
        <p:spPr>
          <a:xfrm>
            <a:off x="2117350" y="3171725"/>
            <a:ext cx="363300" cy="851400"/>
          </a:xfrm>
          <a:prstGeom prst="bentConnector3">
            <a:avLst>
              <a:gd fmla="val 49986" name="adj1"/>
            </a:avLst>
          </a:prstGeom>
          <a:noFill/>
          <a:ln cap="flat" cmpd="sng" w="9525">
            <a:solidFill>
              <a:schemeClr val="dk1"/>
            </a:solidFill>
            <a:prstDash val="solid"/>
            <a:round/>
            <a:headEnd len="med" w="med" type="none"/>
            <a:tailEnd len="med" w="med" type="none"/>
          </a:ln>
        </p:spPr>
      </p:cxnSp>
      <p:sp>
        <p:nvSpPr>
          <p:cNvPr id="521" name="Google Shape;521;p46"/>
          <p:cNvSpPr/>
          <p:nvPr/>
        </p:nvSpPr>
        <p:spPr>
          <a:xfrm>
            <a:off x="6837350" y="1600725"/>
            <a:ext cx="16416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22" name="Google Shape;522;p46"/>
          <p:cNvSpPr/>
          <p:nvPr/>
        </p:nvSpPr>
        <p:spPr>
          <a:xfrm>
            <a:off x="6837350" y="2243050"/>
            <a:ext cx="16416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23" name="Google Shape;523;p46"/>
          <p:cNvSpPr/>
          <p:nvPr/>
        </p:nvSpPr>
        <p:spPr>
          <a:xfrm>
            <a:off x="6837350" y="2885375"/>
            <a:ext cx="1641600" cy="572700"/>
          </a:xfrm>
          <a:prstGeom prst="roundRect">
            <a:avLst>
              <a:gd fmla="val 16667" name="adj"/>
            </a:avLst>
          </a:prstGeom>
          <a:solidFill>
            <a:srgbClr val="D9D2E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"Extra Evidence Needed": null</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"Verdict": "False"</a:t>
            </a:r>
            <a:endParaRPr sz="800">
              <a:latin typeface="Hanken Grotesk"/>
              <a:ea typeface="Hanken Grotesk"/>
              <a:cs typeface="Hanken Grotesk"/>
              <a:sym typeface="Hanken Grotesk"/>
            </a:endParaRPr>
          </a:p>
        </p:txBody>
      </p:sp>
      <p:sp>
        <p:nvSpPr>
          <p:cNvPr id="524" name="Google Shape;524;p46"/>
          <p:cNvSpPr/>
          <p:nvPr/>
        </p:nvSpPr>
        <p:spPr>
          <a:xfrm>
            <a:off x="6837350" y="3527700"/>
            <a:ext cx="16416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cxnSp>
        <p:nvCxnSpPr>
          <p:cNvPr id="525" name="Google Shape;525;p46"/>
          <p:cNvCxnSpPr>
            <a:stCxn id="513" idx="3"/>
            <a:endCxn id="523" idx="1"/>
          </p:cNvCxnSpPr>
          <p:nvPr/>
        </p:nvCxnSpPr>
        <p:spPr>
          <a:xfrm>
            <a:off x="6474147" y="1558550"/>
            <a:ext cx="363300" cy="1613100"/>
          </a:xfrm>
          <a:prstGeom prst="bentConnector3">
            <a:avLst>
              <a:gd fmla="val 49987" name="adj1"/>
            </a:avLst>
          </a:prstGeom>
          <a:noFill/>
          <a:ln cap="flat" cmpd="sng" w="9525">
            <a:solidFill>
              <a:schemeClr val="dk1"/>
            </a:solidFill>
            <a:prstDash val="solid"/>
            <a:round/>
            <a:headEnd len="med" w="med" type="none"/>
            <a:tailEnd len="med" w="med" type="none"/>
          </a:ln>
        </p:spPr>
      </p:cxnSp>
      <p:cxnSp>
        <p:nvCxnSpPr>
          <p:cNvPr id="526" name="Google Shape;526;p46"/>
          <p:cNvCxnSpPr>
            <a:stCxn id="514" idx="3"/>
            <a:endCxn id="523" idx="1"/>
          </p:cNvCxnSpPr>
          <p:nvPr/>
        </p:nvCxnSpPr>
        <p:spPr>
          <a:xfrm>
            <a:off x="6474147" y="2362350"/>
            <a:ext cx="363300" cy="809400"/>
          </a:xfrm>
          <a:prstGeom prst="bentConnector3">
            <a:avLst>
              <a:gd fmla="val 49987" name="adj1"/>
            </a:avLst>
          </a:prstGeom>
          <a:noFill/>
          <a:ln cap="flat" cmpd="sng" w="9525">
            <a:solidFill>
              <a:schemeClr val="dk1"/>
            </a:solidFill>
            <a:prstDash val="solid"/>
            <a:round/>
            <a:headEnd len="med" w="med" type="none"/>
            <a:tailEnd len="med" w="med" type="none"/>
          </a:ln>
        </p:spPr>
      </p:cxnSp>
      <p:cxnSp>
        <p:nvCxnSpPr>
          <p:cNvPr id="527" name="Google Shape;527;p46"/>
          <p:cNvCxnSpPr>
            <a:stCxn id="516" idx="3"/>
            <a:endCxn id="523" idx="1"/>
          </p:cNvCxnSpPr>
          <p:nvPr/>
        </p:nvCxnSpPr>
        <p:spPr>
          <a:xfrm>
            <a:off x="6474147" y="3166151"/>
            <a:ext cx="363300" cy="5700"/>
          </a:xfrm>
          <a:prstGeom prst="bentConnector3">
            <a:avLst>
              <a:gd fmla="val 49987" name="adj1"/>
            </a:avLst>
          </a:prstGeom>
          <a:noFill/>
          <a:ln cap="flat" cmpd="sng" w="9525">
            <a:solidFill>
              <a:schemeClr val="dk1"/>
            </a:solidFill>
            <a:prstDash val="solid"/>
            <a:round/>
            <a:headEnd len="med" w="med" type="none"/>
            <a:tailEnd len="med" w="med" type="none"/>
          </a:ln>
        </p:spPr>
      </p:cxnSp>
      <p:cxnSp>
        <p:nvCxnSpPr>
          <p:cNvPr id="528" name="Google Shape;528;p46"/>
          <p:cNvCxnSpPr>
            <a:stCxn id="515" idx="3"/>
            <a:endCxn id="523" idx="1"/>
          </p:cNvCxnSpPr>
          <p:nvPr/>
        </p:nvCxnSpPr>
        <p:spPr>
          <a:xfrm flipH="1" rot="10800000">
            <a:off x="6474147" y="3171800"/>
            <a:ext cx="363300" cy="851400"/>
          </a:xfrm>
          <a:prstGeom prst="bentConnector3">
            <a:avLst>
              <a:gd fmla="val 49987" name="adj1"/>
            </a:avLst>
          </a:prstGeom>
          <a:noFill/>
          <a:ln cap="flat" cmpd="sng" w="9525">
            <a:solidFill>
              <a:schemeClr val="dk1"/>
            </a:solidFill>
            <a:prstDash val="solid"/>
            <a:round/>
            <a:headEnd len="med" w="med" type="none"/>
            <a:tailEnd len="med" w="med" type="none"/>
          </a:ln>
        </p:spPr>
      </p:cxnSp>
      <p:sp>
        <p:nvSpPr>
          <p:cNvPr id="529" name="Google Shape;529;p46"/>
          <p:cNvSpPr txBox="1"/>
          <p:nvPr/>
        </p:nvSpPr>
        <p:spPr>
          <a:xfrm>
            <a:off x="720000" y="897775"/>
            <a:ext cx="753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Categorised as 'Verifiable' and had the appropriate tools to obtain evidence</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a:p>
            <a:pPr indent="0" lvl="0" marL="0" rtl="0" algn="l">
              <a:spcBef>
                <a:spcPts val="0"/>
              </a:spcBef>
              <a:spcAft>
                <a:spcPts val="0"/>
              </a:spcAft>
              <a:buNone/>
            </a:pPr>
            <a:r>
              <a:t/>
            </a:r>
            <a:endParaRPr/>
          </a:p>
        </p:txBody>
      </p:sp>
      <p:sp>
        <p:nvSpPr>
          <p:cNvPr id="535" name="Google Shape;535;p47"/>
          <p:cNvSpPr/>
          <p:nvPr/>
        </p:nvSpPr>
        <p:spPr>
          <a:xfrm>
            <a:off x="528950" y="1612150"/>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36" name="Google Shape;536;p47"/>
          <p:cNvSpPr/>
          <p:nvPr/>
        </p:nvSpPr>
        <p:spPr>
          <a:xfrm>
            <a:off x="528950" y="2254475"/>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37" name="Google Shape;537;p47"/>
          <p:cNvSpPr/>
          <p:nvPr/>
        </p:nvSpPr>
        <p:spPr>
          <a:xfrm>
            <a:off x="528950" y="3540800"/>
            <a:ext cx="2657700" cy="6297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['Customer support team', 'can assist and prevent further unauthorized activity', "on recipient's account"]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[Unverifiable]</a:t>
            </a:r>
            <a:endParaRPr sz="800">
              <a:latin typeface="Hanken Grotesk"/>
              <a:ea typeface="Hanken Grotesk"/>
              <a:cs typeface="Hanken Grotesk"/>
              <a:sym typeface="Hanken Grotesk"/>
            </a:endParaRPr>
          </a:p>
        </p:txBody>
      </p:sp>
      <p:sp>
        <p:nvSpPr>
          <p:cNvPr id="538" name="Google Shape;538;p47"/>
          <p:cNvSpPr/>
          <p:nvPr/>
        </p:nvSpPr>
        <p:spPr>
          <a:xfrm>
            <a:off x="528950" y="2896800"/>
            <a:ext cx="26577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39" name="Google Shape;539;p47"/>
          <p:cNvSpPr/>
          <p:nvPr/>
        </p:nvSpPr>
        <p:spPr>
          <a:xfrm>
            <a:off x="3778925" y="1219200"/>
            <a:ext cx="4780200" cy="13527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"Source": "Internal Evidence",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"Evidence": "The message claims that a 'dedicated Customer Support team' is available at a given phone number and can prevent further unauthorized activity, but provides no verifiable details (e.g., official domain, company-verified contact, or proof of capability). The sender address and formatting (e.g., 'PayPaI' with capital I, generic Gmail address) suggest a likely scam, so the claimed ability of this support team to protect the account is dubious and cannot be independently checked from the context.",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"Reliability Score": 0.8,</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"Relevance Score": 0.95</a:t>
            </a:r>
            <a:endParaRPr sz="800">
              <a:latin typeface="Hanken Grotesk"/>
              <a:ea typeface="Hanken Grotesk"/>
              <a:cs typeface="Hanken Grotesk"/>
              <a:sym typeface="Hanken Grotesk"/>
            </a:endParaRPr>
          </a:p>
        </p:txBody>
      </p:sp>
      <p:cxnSp>
        <p:nvCxnSpPr>
          <p:cNvPr id="540" name="Google Shape;540;p47"/>
          <p:cNvCxnSpPr>
            <a:stCxn id="537" idx="3"/>
            <a:endCxn id="539" idx="1"/>
          </p:cNvCxnSpPr>
          <p:nvPr/>
        </p:nvCxnSpPr>
        <p:spPr>
          <a:xfrm flipH="1" rot="10800000">
            <a:off x="3186650" y="1895450"/>
            <a:ext cx="592200" cy="1960200"/>
          </a:xfrm>
          <a:prstGeom prst="bentConnector3">
            <a:avLst>
              <a:gd fmla="val 50006" name="adj1"/>
            </a:avLst>
          </a:prstGeom>
          <a:noFill/>
          <a:ln cap="flat" cmpd="sng" w="9525">
            <a:solidFill>
              <a:schemeClr val="dk1"/>
            </a:solidFill>
            <a:prstDash val="solid"/>
            <a:round/>
            <a:headEnd len="med" w="med" type="none"/>
            <a:tailEnd len="med" w="med" type="none"/>
          </a:ln>
        </p:spPr>
      </p:cxnSp>
      <p:sp>
        <p:nvSpPr>
          <p:cNvPr id="541" name="Google Shape;541;p47"/>
          <p:cNvSpPr txBox="1"/>
          <p:nvPr/>
        </p:nvSpPr>
        <p:spPr>
          <a:xfrm>
            <a:off x="4015775" y="3127950"/>
            <a:ext cx="4090800" cy="554100"/>
          </a:xfrm>
          <a:prstGeom prst="rect">
            <a:avLst/>
          </a:prstGeom>
          <a:solidFill>
            <a:srgbClr val="F3F3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dk1"/>
                </a:solidFill>
                <a:latin typeface="Hanken Grotesk"/>
                <a:ea typeface="Hanken Grotesk"/>
                <a:cs typeface="Hanken Grotesk"/>
                <a:sym typeface="Hanken Grotesk"/>
              </a:rPr>
              <a:t>Claim is unverifiable, hence no internet searching tools are called</a:t>
            </a:r>
            <a:endParaRPr sz="1200">
              <a:solidFill>
                <a:schemeClr val="dk1"/>
              </a:solidFill>
              <a:latin typeface="Hanken Grotesk"/>
              <a:ea typeface="Hanken Grotesk"/>
              <a:cs typeface="Hanken Grotesk"/>
              <a:sym typeface="Hanken Grotesk"/>
            </a:endParaRPr>
          </a:p>
        </p:txBody>
      </p:sp>
      <p:sp>
        <p:nvSpPr>
          <p:cNvPr id="542" name="Google Shape;542;p47"/>
          <p:cNvSpPr txBox="1"/>
          <p:nvPr/>
        </p:nvSpPr>
        <p:spPr>
          <a:xfrm>
            <a:off x="720000" y="897775"/>
            <a:ext cx="753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Categorised as 'Unverifiable'</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Runthrough</a:t>
            </a:r>
            <a:endParaRPr/>
          </a:p>
          <a:p>
            <a:pPr indent="0" lvl="0" marL="0" rtl="0" algn="l">
              <a:spcBef>
                <a:spcPts val="0"/>
              </a:spcBef>
              <a:spcAft>
                <a:spcPts val="0"/>
              </a:spcAft>
              <a:buNone/>
            </a:pPr>
            <a:r>
              <a:t/>
            </a:r>
            <a:endParaRPr/>
          </a:p>
        </p:txBody>
      </p:sp>
      <p:sp>
        <p:nvSpPr>
          <p:cNvPr id="548" name="Google Shape;548;p48"/>
          <p:cNvSpPr/>
          <p:nvPr/>
        </p:nvSpPr>
        <p:spPr>
          <a:xfrm>
            <a:off x="518050" y="1595863"/>
            <a:ext cx="14523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49" name="Google Shape;549;p48"/>
          <p:cNvSpPr/>
          <p:nvPr/>
        </p:nvSpPr>
        <p:spPr>
          <a:xfrm>
            <a:off x="518050" y="2230838"/>
            <a:ext cx="14523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50" name="Google Shape;550;p48"/>
          <p:cNvSpPr/>
          <p:nvPr/>
        </p:nvSpPr>
        <p:spPr>
          <a:xfrm>
            <a:off x="518050" y="3527988"/>
            <a:ext cx="1452300" cy="966000"/>
          </a:xfrm>
          <a:prstGeom prst="roundRect">
            <a:avLst>
              <a:gd fmla="val 16667" name="adj"/>
            </a:avLst>
          </a:prstGeom>
          <a:solidFill>
            <a:srgbClr val="D9EAD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['Customer support team', 'can assist and prevent further unauthorized activity', "on recipient's account"]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[Unverifiable]</a:t>
            </a:r>
            <a:endParaRPr sz="800">
              <a:latin typeface="Hanken Grotesk"/>
              <a:ea typeface="Hanken Grotesk"/>
              <a:cs typeface="Hanken Grotesk"/>
              <a:sym typeface="Hanken Grotesk"/>
            </a:endParaRPr>
          </a:p>
        </p:txBody>
      </p:sp>
      <p:sp>
        <p:nvSpPr>
          <p:cNvPr id="551" name="Google Shape;551;p48"/>
          <p:cNvSpPr/>
          <p:nvPr/>
        </p:nvSpPr>
        <p:spPr>
          <a:xfrm>
            <a:off x="2351350" y="1501100"/>
            <a:ext cx="2605200" cy="20322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"Source": "Internal Evidence",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"Evidence": "The message claims that a 'dedicated Customer Support team' is available at a given phone number and can prevent further unauthorized activity, but provides no verifiable details (e.g., official domain, company-verified contact, or proof of capability). The sender address and formatting (e.g., 'PayPaI' with capital I, generic Gmail address) suggest a likely scam, so the claimed ability of this support team to protect the account is dubious and cannot be independently checked from the context.",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"Reliability Score": 0.8,</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"Relevance Score": 0.95</a:t>
            </a:r>
            <a:endParaRPr sz="800">
              <a:latin typeface="Hanken Grotesk"/>
              <a:ea typeface="Hanken Grotesk"/>
              <a:cs typeface="Hanken Grotesk"/>
              <a:sym typeface="Hanken Grotesk"/>
            </a:endParaRPr>
          </a:p>
        </p:txBody>
      </p:sp>
      <p:cxnSp>
        <p:nvCxnSpPr>
          <p:cNvPr id="552" name="Google Shape;552;p48"/>
          <p:cNvCxnSpPr>
            <a:stCxn id="550" idx="3"/>
            <a:endCxn id="551" idx="1"/>
          </p:cNvCxnSpPr>
          <p:nvPr/>
        </p:nvCxnSpPr>
        <p:spPr>
          <a:xfrm flipH="1" rot="10800000">
            <a:off x="1970350" y="2517288"/>
            <a:ext cx="381000" cy="1493700"/>
          </a:xfrm>
          <a:prstGeom prst="bentConnector3">
            <a:avLst>
              <a:gd fmla="val 50000" name="adj1"/>
            </a:avLst>
          </a:prstGeom>
          <a:noFill/>
          <a:ln cap="flat" cmpd="sng" w="9525">
            <a:solidFill>
              <a:schemeClr val="dk1"/>
            </a:solidFill>
            <a:prstDash val="solid"/>
            <a:round/>
            <a:headEnd len="med" w="med" type="none"/>
            <a:tailEnd len="med" w="med" type="none"/>
          </a:ln>
        </p:spPr>
      </p:cxnSp>
      <p:sp>
        <p:nvSpPr>
          <p:cNvPr id="553" name="Google Shape;553;p48"/>
          <p:cNvSpPr/>
          <p:nvPr/>
        </p:nvSpPr>
        <p:spPr>
          <a:xfrm>
            <a:off x="5548975" y="1084800"/>
            <a:ext cx="3123600" cy="3288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54" name="Google Shape;554;p48"/>
          <p:cNvSpPr/>
          <p:nvPr/>
        </p:nvSpPr>
        <p:spPr>
          <a:xfrm>
            <a:off x="5548975" y="2304800"/>
            <a:ext cx="3123600" cy="2321400"/>
          </a:xfrm>
          <a:prstGeom prst="roundRect">
            <a:avLst>
              <a:gd fmla="val 16667" name="adj"/>
            </a:avLst>
          </a:prstGeom>
          <a:solidFill>
            <a:srgbClr val="D9D2E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"Extra Evidence Needed":"</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1) Identify the actual service provider (e.g., the real company managing the recipient's account).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2) Verify through that provider's official website or app that the phone number/email given for 'Customer Support' is an official, authorized support channel.</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3) Confirm from the provider's published policies or documentation that this support team has the technical ability and authorization to intervene on accounts to stop or prevent unauthorized activity.</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4) Optionally, the recipient would need to contact verified official support (using contact details from the official site/app, not from the message) to confirm that such assistance is available for their specific account.",</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"Verdict": "Extra Evidence Needed"</a:t>
            </a:r>
            <a:endParaRPr sz="800">
              <a:latin typeface="Hanken Grotesk"/>
              <a:ea typeface="Hanken Grotesk"/>
              <a:cs typeface="Hanken Grotesk"/>
              <a:sym typeface="Hanken Grotesk"/>
            </a:endParaRPr>
          </a:p>
        </p:txBody>
      </p:sp>
      <p:cxnSp>
        <p:nvCxnSpPr>
          <p:cNvPr id="555" name="Google Shape;555;p48"/>
          <p:cNvCxnSpPr>
            <a:stCxn id="551" idx="3"/>
            <a:endCxn id="554" idx="1"/>
          </p:cNvCxnSpPr>
          <p:nvPr/>
        </p:nvCxnSpPr>
        <p:spPr>
          <a:xfrm>
            <a:off x="4956550" y="2517200"/>
            <a:ext cx="592500" cy="948300"/>
          </a:xfrm>
          <a:prstGeom prst="bentConnector3">
            <a:avLst>
              <a:gd fmla="val 49994" name="adj1"/>
            </a:avLst>
          </a:prstGeom>
          <a:noFill/>
          <a:ln cap="flat" cmpd="sng" w="9525">
            <a:solidFill>
              <a:schemeClr val="dk1"/>
            </a:solidFill>
            <a:prstDash val="solid"/>
            <a:round/>
            <a:headEnd len="med" w="med" type="none"/>
            <a:tailEnd len="med" w="med" type="none"/>
          </a:ln>
        </p:spPr>
      </p:cxnSp>
      <p:sp>
        <p:nvSpPr>
          <p:cNvPr id="556" name="Google Shape;556;p48"/>
          <p:cNvSpPr txBox="1"/>
          <p:nvPr/>
        </p:nvSpPr>
        <p:spPr>
          <a:xfrm>
            <a:off x="720000" y="897775"/>
            <a:ext cx="4618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Hanken Grotesk"/>
                <a:ea typeface="Hanken Grotesk"/>
                <a:cs typeface="Hanken Grotesk"/>
                <a:sym typeface="Hanken Grotesk"/>
              </a:rPr>
              <a:t>Categorised as 'Unverifiable'</a:t>
            </a:r>
            <a:endParaRPr sz="1200">
              <a:solidFill>
                <a:schemeClr val="dk1"/>
              </a:solidFill>
              <a:latin typeface="Hanken Grotesk"/>
              <a:ea typeface="Hanken Grotesk"/>
              <a:cs typeface="Hanken Grotesk"/>
              <a:sym typeface="Hanken Grotesk"/>
            </a:endParaRPr>
          </a:p>
        </p:txBody>
      </p:sp>
      <p:sp>
        <p:nvSpPr>
          <p:cNvPr id="557" name="Google Shape;557;p48"/>
          <p:cNvSpPr/>
          <p:nvPr/>
        </p:nvSpPr>
        <p:spPr>
          <a:xfrm>
            <a:off x="518050" y="2841863"/>
            <a:ext cx="1452300" cy="5727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58" name="Google Shape;558;p48"/>
          <p:cNvSpPr/>
          <p:nvPr/>
        </p:nvSpPr>
        <p:spPr>
          <a:xfrm>
            <a:off x="5548975" y="1478725"/>
            <a:ext cx="3123600" cy="3288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59" name="Google Shape;559;p48"/>
          <p:cNvSpPr/>
          <p:nvPr/>
        </p:nvSpPr>
        <p:spPr>
          <a:xfrm>
            <a:off x="5548975" y="1872650"/>
            <a:ext cx="3123600" cy="3288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a:t>
            </a:r>
            <a:endParaRPr sz="800">
              <a:latin typeface="Hanken Grotesk"/>
              <a:ea typeface="Hanken Grotesk"/>
              <a:cs typeface="Hanken Grotesk"/>
              <a:sym typeface="Hanken Grotesk"/>
            </a:endParaRPr>
          </a:p>
        </p:txBody>
      </p:sp>
      <p:sp>
        <p:nvSpPr>
          <p:cNvPr id="560" name="Google Shape;560;p48"/>
          <p:cNvSpPr txBox="1"/>
          <p:nvPr/>
        </p:nvSpPr>
        <p:spPr>
          <a:xfrm>
            <a:off x="2421900" y="3867675"/>
            <a:ext cx="2916900" cy="492600"/>
          </a:xfrm>
          <a:prstGeom prst="rect">
            <a:avLst/>
          </a:prstGeom>
          <a:solidFill>
            <a:srgbClr val="F3F3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GB" sz="1000">
                <a:solidFill>
                  <a:schemeClr val="dk1"/>
                </a:solidFill>
                <a:latin typeface="Hanken Grotesk"/>
                <a:ea typeface="Hanken Grotesk"/>
                <a:cs typeface="Hanken Grotesk"/>
                <a:sym typeface="Hanken Grotesk"/>
              </a:rPr>
              <a:t>Agent provided the list of extra evidence needed in order for the claim to be verified</a:t>
            </a:r>
            <a:endParaRPr i="1" sz="1000">
              <a:solidFill>
                <a:schemeClr val="dk1"/>
              </a:solidFill>
              <a:latin typeface="Hanken Grotesk"/>
              <a:ea typeface="Hanken Grotesk"/>
              <a:cs typeface="Hanken Grotesk"/>
              <a:sym typeface="Hanken Grotes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Limitations + Improvements</a:t>
            </a:r>
            <a:endParaRPr/>
          </a:p>
          <a:p>
            <a:pPr indent="0" lvl="0" marL="0" rtl="0" algn="l">
              <a:spcBef>
                <a:spcPts val="0"/>
              </a:spcBef>
              <a:spcAft>
                <a:spcPts val="0"/>
              </a:spcAft>
              <a:buNone/>
            </a:pPr>
            <a:r>
              <a:t/>
            </a:r>
            <a:endParaRPr/>
          </a:p>
        </p:txBody>
      </p:sp>
      <p:sp>
        <p:nvSpPr>
          <p:cNvPr id="566" name="Google Shape;566;p49"/>
          <p:cNvSpPr txBox="1"/>
          <p:nvPr>
            <p:ph idx="2" type="subTitle"/>
          </p:nvPr>
        </p:nvSpPr>
        <p:spPr>
          <a:xfrm>
            <a:off x="720000" y="1736550"/>
            <a:ext cx="7704000" cy="273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Independent agents do not know what tools will be available in the future — there may exist a tool that provides the information but is not provided to the agent — which may lead to initial wrong classification by Agent1</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Potential Fixes: </a:t>
            </a:r>
            <a:endParaRPr/>
          </a:p>
          <a:p>
            <a:pPr indent="-317500" lvl="0" marL="457200" rtl="0" algn="l">
              <a:spcBef>
                <a:spcPts val="0"/>
              </a:spcBef>
              <a:spcAft>
                <a:spcPts val="0"/>
              </a:spcAft>
              <a:buSzPts val="1400"/>
              <a:buChar char="-"/>
            </a:pPr>
            <a:r>
              <a:rPr lang="en-GB"/>
              <a:t>Provide Agent1 with the list of all tools available to Agent2</a:t>
            </a:r>
            <a:endParaRPr/>
          </a:p>
          <a:p>
            <a:pPr indent="-317500" lvl="1" marL="914400" rtl="0" algn="l">
              <a:spcBef>
                <a:spcPts val="0"/>
              </a:spcBef>
              <a:spcAft>
                <a:spcPts val="0"/>
              </a:spcAft>
              <a:buSzPts val="1400"/>
              <a:buChar char="-"/>
            </a:pPr>
            <a:r>
              <a:rPr lang="en-GB" sz="1400"/>
              <a:t>Limitation: This reduces flexibility / scalability of tools in the future</a:t>
            </a:r>
            <a:endParaRPr sz="1400"/>
          </a:p>
        </p:txBody>
      </p:sp>
      <p:sp>
        <p:nvSpPr>
          <p:cNvPr id="567" name="Google Shape;567;p49"/>
          <p:cNvSpPr txBox="1"/>
          <p:nvPr>
            <p:ph idx="3" type="subTitle"/>
          </p:nvPr>
        </p:nvSpPr>
        <p:spPr>
          <a:xfrm>
            <a:off x="720000" y="1451250"/>
            <a:ext cx="6453300" cy="36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Ambiguous definitions of verifiable / unverifiable</a:t>
            </a:r>
            <a:endParaRPr/>
          </a:p>
        </p:txBody>
      </p:sp>
      <p:sp>
        <p:nvSpPr>
          <p:cNvPr id="568" name="Google Shape;568;p49"/>
          <p:cNvSpPr txBox="1"/>
          <p:nvPr/>
        </p:nvSpPr>
        <p:spPr>
          <a:xfrm>
            <a:off x="4720800" y="3885325"/>
            <a:ext cx="3993000" cy="800400"/>
          </a:xfrm>
          <a:prstGeom prst="rect">
            <a:avLst/>
          </a:prstGeom>
          <a:solidFill>
            <a:srgbClr val="F3F3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GB" sz="1000">
                <a:solidFill>
                  <a:schemeClr val="dk1"/>
                </a:solidFill>
                <a:latin typeface="Hanken Grotesk"/>
                <a:ea typeface="Hanken Grotesk"/>
                <a:cs typeface="Hanken Grotesk"/>
                <a:sym typeface="Hanken Grotesk"/>
              </a:rPr>
              <a:t>[From previous examples]</a:t>
            </a:r>
            <a:endParaRPr i="1" sz="1000">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i="1" lang="en-GB" sz="1000">
                <a:solidFill>
                  <a:schemeClr val="dk1"/>
                </a:solidFill>
                <a:latin typeface="Hanken Grotesk"/>
                <a:ea typeface="Hanken Grotesk"/>
                <a:cs typeface="Hanken Grotesk"/>
                <a:sym typeface="Hanken Grotesk"/>
              </a:rPr>
              <a:t>Initially classified as verifiable, but was 'self-corrected' for the verdict as no tools existed to provide evidence that could properly verify the claim, final decision "Extra Evidence Needed"</a:t>
            </a:r>
            <a:endParaRPr i="1" sz="1000">
              <a:solidFill>
                <a:schemeClr val="dk1"/>
              </a:solidFill>
              <a:latin typeface="Hanken Grotesk"/>
              <a:ea typeface="Hanken Grotesk"/>
              <a:cs typeface="Hanken Grotesk"/>
              <a:sym typeface="Hanken Grotes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Limitations + Improvements</a:t>
            </a:r>
            <a:endParaRPr/>
          </a:p>
          <a:p>
            <a:pPr indent="0" lvl="0" marL="0" rtl="0" algn="l">
              <a:spcBef>
                <a:spcPts val="0"/>
              </a:spcBef>
              <a:spcAft>
                <a:spcPts val="0"/>
              </a:spcAft>
              <a:buNone/>
            </a:pPr>
            <a:r>
              <a:t/>
            </a:r>
            <a:endParaRPr/>
          </a:p>
        </p:txBody>
      </p:sp>
      <p:sp>
        <p:nvSpPr>
          <p:cNvPr id="574" name="Google Shape;574;p50"/>
          <p:cNvSpPr txBox="1"/>
          <p:nvPr>
            <p:ph idx="2" type="subTitle"/>
          </p:nvPr>
        </p:nvSpPr>
        <p:spPr>
          <a:xfrm>
            <a:off x="720000" y="1736550"/>
            <a:ext cx="5183100" cy="28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Despite governing with strict rules: </a:t>
            </a:r>
            <a:endParaRPr/>
          </a:p>
          <a:p>
            <a:pPr indent="-304800" lvl="0" marL="457200" rtl="0" algn="l">
              <a:spcBef>
                <a:spcPts val="0"/>
              </a:spcBef>
              <a:spcAft>
                <a:spcPts val="0"/>
              </a:spcAft>
              <a:buSzPts val="1200"/>
              <a:buChar char="-"/>
            </a:pPr>
            <a:r>
              <a:rPr lang="en-GB"/>
              <a:t>"Do not use internal evidence if the context is consistent with the claim."</a:t>
            </a:r>
            <a:endParaRPr/>
          </a:p>
          <a:p>
            <a:pPr indent="-304800" lvl="0" marL="457200" rtl="0" algn="l">
              <a:spcBef>
                <a:spcPts val="0"/>
              </a:spcBef>
              <a:spcAft>
                <a:spcPts val="0"/>
              </a:spcAft>
              <a:buSzPts val="1200"/>
              <a:buChar char="-"/>
            </a:pPr>
            <a:r>
              <a:rPr lang="en-GB"/>
              <a:t>" Context is not a reliable source of information, and must NOT be treated as supporting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Agent2 occasionally uses internal evidence to support a claim</a:t>
            </a:r>
            <a:endParaRPr/>
          </a:p>
          <a:p>
            <a:pPr indent="-304800" lvl="0" marL="457200" rtl="0" algn="l">
              <a:spcBef>
                <a:spcPts val="0"/>
              </a:spcBef>
              <a:spcAft>
                <a:spcPts val="0"/>
              </a:spcAft>
              <a:buSzPts val="1200"/>
              <a:buChar char="-"/>
            </a:pPr>
            <a:r>
              <a:rPr lang="en-GB"/>
              <a:t>while it seems to be aware of the lack of reliability (i.e. low reliability score), ideally the agent should not treat this as evidence at all</a:t>
            </a:r>
            <a:endParaRPr/>
          </a:p>
        </p:txBody>
      </p:sp>
      <p:sp>
        <p:nvSpPr>
          <p:cNvPr id="575" name="Google Shape;575;p50"/>
          <p:cNvSpPr txBox="1"/>
          <p:nvPr>
            <p:ph idx="3" type="subTitle"/>
          </p:nvPr>
        </p:nvSpPr>
        <p:spPr>
          <a:xfrm>
            <a:off x="720000" y="1451250"/>
            <a:ext cx="6453300" cy="36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Context often forms false support for a claim</a:t>
            </a:r>
            <a:endParaRPr/>
          </a:p>
        </p:txBody>
      </p:sp>
      <p:sp>
        <p:nvSpPr>
          <p:cNvPr id="576" name="Google Shape;576;p50"/>
          <p:cNvSpPr/>
          <p:nvPr/>
        </p:nvSpPr>
        <p:spPr>
          <a:xfrm>
            <a:off x="6144225" y="1848550"/>
            <a:ext cx="2450400" cy="2257800"/>
          </a:xfrm>
          <a:prstGeom prst="roundRect">
            <a:avLst>
              <a:gd fmla="val 16667" name="adj"/>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latin typeface="Hanken Grotesk"/>
                <a:ea typeface="Hanken Grotesk"/>
                <a:cs typeface="Hanken Grotesk"/>
                <a:sym typeface="Hanken Grotesk"/>
              </a:rPr>
              <a:t> "Source": "Internal Evidence",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"Evidence": "The scam context states: \"Our team is available 24/7 to assist you and prevent any further unauthorized activity on your account.\" This repeats the claim but is part of the suspicious message itself and cannot be treated as independent supporting evidence.",</a:t>
            </a:r>
            <a:endParaRPr sz="800">
              <a:latin typeface="Hanken Grotesk"/>
              <a:ea typeface="Hanken Grotesk"/>
              <a:cs typeface="Hanken Grotesk"/>
              <a:sym typeface="Hanken Grotesk"/>
            </a:endParaRPr>
          </a:p>
          <a:p>
            <a:pPr indent="0" lvl="0" marL="0" rtl="0" algn="ctr">
              <a:spcBef>
                <a:spcPts val="0"/>
              </a:spcBef>
              <a:spcAft>
                <a:spcPts val="0"/>
              </a:spcAft>
              <a:buNone/>
            </a:pPr>
            <a:r>
              <a:rPr lang="en-GB" sz="800">
                <a:latin typeface="Hanken Grotesk"/>
                <a:ea typeface="Hanken Grotesk"/>
                <a:cs typeface="Hanken Grotesk"/>
                <a:sym typeface="Hanken Grotesk"/>
              </a:rPr>
              <a:t>            "Reliability Score": 0.2, "Relevance Score": 1.0</a:t>
            </a:r>
            <a:endParaRPr sz="800">
              <a:latin typeface="Hanken Grotesk"/>
              <a:ea typeface="Hanken Grotesk"/>
              <a:cs typeface="Hanken Grotesk"/>
              <a:sym typeface="Hanken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Limitations + Improvements</a:t>
            </a:r>
            <a:endParaRPr/>
          </a:p>
          <a:p>
            <a:pPr indent="0" lvl="0" marL="0" rtl="0" algn="l">
              <a:spcBef>
                <a:spcPts val="0"/>
              </a:spcBef>
              <a:spcAft>
                <a:spcPts val="0"/>
              </a:spcAft>
              <a:buNone/>
            </a:pPr>
            <a:r>
              <a:t/>
            </a:r>
            <a:endParaRPr/>
          </a:p>
        </p:txBody>
      </p:sp>
      <p:sp>
        <p:nvSpPr>
          <p:cNvPr id="582" name="Google Shape;582;p51"/>
          <p:cNvSpPr txBox="1"/>
          <p:nvPr>
            <p:ph idx="2" type="subTitle"/>
          </p:nvPr>
        </p:nvSpPr>
        <p:spPr>
          <a:xfrm>
            <a:off x="720000" y="1736550"/>
            <a:ext cx="7623300" cy="25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Given that the agents base are on non-deterministic models, repeated executions may produce different results (e.g. varying initial verifiability categorisations).</a:t>
            </a:r>
            <a:endParaRPr/>
          </a:p>
          <a:p>
            <a:pPr indent="-304800" lvl="0" marL="457200" rtl="0" algn="l">
              <a:spcBef>
                <a:spcPts val="0"/>
              </a:spcBef>
              <a:spcAft>
                <a:spcPts val="0"/>
              </a:spcAft>
              <a:buSzPts val="1200"/>
              <a:buChar char="-"/>
            </a:pPr>
            <a:r>
              <a:rPr lang="en-GB"/>
              <a:t>Even though the program tends to 'self-correct' for a wrong initial verifiability </a:t>
            </a:r>
            <a:r>
              <a:rPr lang="en-GB"/>
              <a:t>category</a:t>
            </a:r>
            <a:r>
              <a:rPr lang="en-GB"/>
              <a:t> (as shown in examples), this inconsistency reduces reliability.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Potential Fixes:</a:t>
            </a:r>
            <a:endParaRPr/>
          </a:p>
          <a:p>
            <a:pPr indent="-304800" lvl="0" marL="457200" rtl="0" algn="l">
              <a:spcBef>
                <a:spcPts val="0"/>
              </a:spcBef>
              <a:spcAft>
                <a:spcPts val="0"/>
              </a:spcAft>
              <a:buSzPts val="1200"/>
              <a:buChar char="-"/>
            </a:pPr>
            <a:r>
              <a:rPr lang="en-GB"/>
              <a:t>Tightening system prompts</a:t>
            </a:r>
            <a:endParaRPr/>
          </a:p>
          <a:p>
            <a:pPr indent="-304800" lvl="0" marL="457200" rtl="0" algn="l">
              <a:spcBef>
                <a:spcPts val="0"/>
              </a:spcBef>
              <a:spcAft>
                <a:spcPts val="0"/>
              </a:spcAft>
              <a:buSzPts val="1200"/>
              <a:buChar char="-"/>
            </a:pPr>
            <a:r>
              <a:rPr lang="en-GB"/>
              <a:t>Clarifying keyword definitions</a:t>
            </a:r>
            <a:endParaRPr/>
          </a:p>
        </p:txBody>
      </p:sp>
      <p:sp>
        <p:nvSpPr>
          <p:cNvPr id="583" name="Google Shape;583;p51"/>
          <p:cNvSpPr txBox="1"/>
          <p:nvPr>
            <p:ph idx="3" type="subTitle"/>
          </p:nvPr>
        </p:nvSpPr>
        <p:spPr>
          <a:xfrm>
            <a:off x="720000" y="1287650"/>
            <a:ext cx="7623300" cy="52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Agents are non-deterministic</a:t>
            </a:r>
            <a:endParaRPr/>
          </a:p>
        </p:txBody>
      </p:sp>
      <p:pic>
        <p:nvPicPr>
          <p:cNvPr id="584" name="Google Shape;584;p51"/>
          <p:cNvPicPr preferRelativeResize="0"/>
          <p:nvPr/>
        </p:nvPicPr>
        <p:blipFill>
          <a:blip r:embed="rId3">
            <a:alphaModFix/>
          </a:blip>
          <a:stretch>
            <a:fillRect/>
          </a:stretch>
        </p:blipFill>
        <p:spPr>
          <a:xfrm>
            <a:off x="6521700" y="2933925"/>
            <a:ext cx="1676399" cy="16763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Limitations + Improvements</a:t>
            </a:r>
            <a:endParaRPr/>
          </a:p>
        </p:txBody>
      </p:sp>
      <p:sp>
        <p:nvSpPr>
          <p:cNvPr id="590" name="Google Shape;590;p52"/>
          <p:cNvSpPr txBox="1"/>
          <p:nvPr>
            <p:ph idx="2" type="subTitle"/>
          </p:nvPr>
        </p:nvSpPr>
        <p:spPr>
          <a:xfrm>
            <a:off x="720000" y="1736550"/>
            <a:ext cx="7623300" cy="282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Claim-detecting agent needs to be balanced in order to prevent generating low-value claims</a:t>
            </a:r>
            <a:endParaRPr/>
          </a:p>
          <a:p>
            <a:pPr indent="-317500" lvl="0" marL="457200" rtl="0" algn="l">
              <a:spcBef>
                <a:spcPts val="0"/>
              </a:spcBef>
              <a:spcAft>
                <a:spcPts val="0"/>
              </a:spcAft>
              <a:buSzPts val="1400"/>
              <a:buChar char="-"/>
            </a:pPr>
            <a:r>
              <a:rPr lang="en-GB"/>
              <a:t>Useful implicit claim: "sender claims to be from PayPal"</a:t>
            </a:r>
            <a:endParaRPr/>
          </a:p>
          <a:p>
            <a:pPr indent="-304800" lvl="0" marL="457200" rtl="0" algn="l">
              <a:spcBef>
                <a:spcPts val="0"/>
              </a:spcBef>
              <a:spcAft>
                <a:spcPts val="0"/>
              </a:spcAft>
              <a:buSzPts val="1200"/>
              <a:buChar char="-"/>
            </a:pPr>
            <a:r>
              <a:rPr lang="en-GB"/>
              <a:t>Low-value claim: "sender uses email address </a:t>
            </a:r>
            <a:r>
              <a:rPr lang="en-GB"/>
              <a:t>ppcase29392.8.0@gmail.com"</a:t>
            </a:r>
            <a:endParaRPr/>
          </a:p>
          <a:p>
            <a:pPr indent="-317500" lvl="1" marL="914400" rtl="0" algn="l">
              <a:spcBef>
                <a:spcPts val="0"/>
              </a:spcBef>
              <a:spcAft>
                <a:spcPts val="0"/>
              </a:spcAft>
              <a:buSzPts val="1400"/>
              <a:buChar char="-"/>
            </a:pPr>
            <a:r>
              <a:rPr lang="en-GB" sz="1400"/>
              <a:t>instantly supported/refuted by the context, provides no useful information</a:t>
            </a:r>
            <a:endParaRPr sz="1400"/>
          </a:p>
          <a:p>
            <a:pPr indent="0" lvl="0" marL="0" rtl="0" algn="l">
              <a:spcBef>
                <a:spcPts val="0"/>
              </a:spcBef>
              <a:spcAft>
                <a:spcPts val="0"/>
              </a:spcAft>
              <a:buNone/>
            </a:pPr>
            <a:r>
              <a:rPr lang="en-GB"/>
              <a:t>High-value claims should thus be prioritised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Potential Fixes:</a:t>
            </a:r>
            <a:endParaRPr/>
          </a:p>
          <a:p>
            <a:pPr indent="-304800" lvl="0" marL="457200" rtl="0" algn="l">
              <a:spcBef>
                <a:spcPts val="0"/>
              </a:spcBef>
              <a:spcAft>
                <a:spcPts val="0"/>
              </a:spcAft>
              <a:buSzPts val="1200"/>
              <a:buChar char="-"/>
            </a:pPr>
            <a:r>
              <a:rPr lang="en-GB"/>
              <a:t>Introduce a claim-ranking agent that evaluates all the claims and filters out the low-value ones before any further processing</a:t>
            </a:r>
            <a:endParaRPr/>
          </a:p>
        </p:txBody>
      </p:sp>
      <p:sp>
        <p:nvSpPr>
          <p:cNvPr id="591" name="Google Shape;591;p52"/>
          <p:cNvSpPr txBox="1"/>
          <p:nvPr>
            <p:ph idx="3" type="subTitle"/>
          </p:nvPr>
        </p:nvSpPr>
        <p:spPr>
          <a:xfrm>
            <a:off x="720000" y="1287650"/>
            <a:ext cx="7623300" cy="52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Balance between precision and over-extraction</a:t>
            </a:r>
            <a:endParaRPr/>
          </a:p>
        </p:txBody>
      </p:sp>
      <p:pic>
        <p:nvPicPr>
          <p:cNvPr id="592" name="Google Shape;592;p52"/>
          <p:cNvPicPr preferRelativeResize="0"/>
          <p:nvPr/>
        </p:nvPicPr>
        <p:blipFill>
          <a:blip r:embed="rId3">
            <a:alphaModFix amt="30000"/>
          </a:blip>
          <a:stretch>
            <a:fillRect/>
          </a:stretch>
        </p:blipFill>
        <p:spPr>
          <a:xfrm>
            <a:off x="7471275" y="341200"/>
            <a:ext cx="1283625" cy="1283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Limitations + Improvements</a:t>
            </a:r>
            <a:endParaRPr/>
          </a:p>
          <a:p>
            <a:pPr indent="0" lvl="0" marL="0" rtl="0" algn="l">
              <a:spcBef>
                <a:spcPts val="0"/>
              </a:spcBef>
              <a:spcAft>
                <a:spcPts val="0"/>
              </a:spcAft>
              <a:buNone/>
            </a:pPr>
            <a:r>
              <a:t/>
            </a:r>
            <a:endParaRPr/>
          </a:p>
        </p:txBody>
      </p:sp>
      <p:sp>
        <p:nvSpPr>
          <p:cNvPr id="598" name="Google Shape;598;p53"/>
          <p:cNvSpPr txBox="1"/>
          <p:nvPr>
            <p:ph idx="2" type="subTitle"/>
          </p:nvPr>
        </p:nvSpPr>
        <p:spPr>
          <a:xfrm>
            <a:off x="720000" y="1736550"/>
            <a:ext cx="7704000" cy="25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Currently, all 3 agents use </a:t>
            </a:r>
            <a:r>
              <a:rPr lang="en-GB" sz="1200">
                <a:highlight>
                  <a:srgbClr val="F3F3F3"/>
                </a:highlight>
                <a:latin typeface="JetBrains Mono"/>
                <a:ea typeface="JetBrains Mono"/>
                <a:cs typeface="JetBrains Mono"/>
                <a:sym typeface="JetBrains Mono"/>
              </a:rPr>
              <a:t>openai-gpt5</a:t>
            </a:r>
            <a:r>
              <a:rPr lang="en-GB"/>
              <a:t>. I think it is possible for certain agents that do not have 'as difficult of a task' to use a smaller model (e.g. </a:t>
            </a:r>
            <a:r>
              <a:rPr lang="en-GB" sz="1200">
                <a:highlight>
                  <a:srgbClr val="F3F3F3"/>
                </a:highlight>
                <a:latin typeface="JetBrains Mono"/>
                <a:ea typeface="JetBrains Mono"/>
                <a:cs typeface="JetBrains Mono"/>
                <a:sym typeface="JetBrains Mono"/>
              </a:rPr>
              <a:t>openai-gpt5-mini</a:t>
            </a:r>
            <a:r>
              <a:rPr lang="en-GB"/>
              <a:t>), which will be less resource-intensive (API / computational costs)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particular, Agent3 is mainly a classification model (to determine the final verdict) with minor text generation abilities (provide additional information required), so it is a prime candidate for this</a:t>
            </a:r>
            <a:endParaRPr/>
          </a:p>
          <a:p>
            <a:pPr indent="-304800" lvl="0" marL="457200" rtl="0" algn="l">
              <a:spcBef>
                <a:spcPts val="0"/>
              </a:spcBef>
              <a:spcAft>
                <a:spcPts val="0"/>
              </a:spcAft>
              <a:buSzPts val="1200"/>
              <a:buChar char="-"/>
            </a:pPr>
            <a:r>
              <a:rPr lang="en-GB"/>
              <a:t>In my testing of using </a:t>
            </a:r>
            <a:r>
              <a:rPr lang="en-GB" sz="1200">
                <a:highlight>
                  <a:srgbClr val="F3F3F3"/>
                </a:highlight>
                <a:latin typeface="JetBrains Mono"/>
                <a:ea typeface="JetBrains Mono"/>
                <a:cs typeface="JetBrains Mono"/>
                <a:sym typeface="JetBrains Mono"/>
              </a:rPr>
              <a:t>gpt5-mini</a:t>
            </a:r>
            <a:r>
              <a:rPr lang="en-GB"/>
              <a:t> on Agent3</a:t>
            </a:r>
            <a:r>
              <a:rPr lang="en-GB"/>
              <a:t>, I did not see any major differences in output.</a:t>
            </a:r>
            <a:endParaRPr/>
          </a:p>
          <a:p>
            <a:pPr indent="-304800" lvl="0" marL="457200" rtl="0" algn="l">
              <a:spcBef>
                <a:spcPts val="0"/>
              </a:spcBef>
              <a:spcAft>
                <a:spcPts val="0"/>
              </a:spcAft>
              <a:buSzPts val="1200"/>
              <a:buChar char="-"/>
            </a:pPr>
            <a:r>
              <a:rPr lang="en-GB"/>
              <a:t>However, for my program runthrough, I kept it on openai-gpt5 to reduce any inconsistencies</a:t>
            </a:r>
            <a:endParaRPr/>
          </a:p>
        </p:txBody>
      </p:sp>
      <p:sp>
        <p:nvSpPr>
          <p:cNvPr id="599" name="Google Shape;599;p53"/>
          <p:cNvSpPr txBox="1"/>
          <p:nvPr>
            <p:ph idx="3" type="subTitle"/>
          </p:nvPr>
        </p:nvSpPr>
        <p:spPr>
          <a:xfrm>
            <a:off x="720000" y="1287650"/>
            <a:ext cx="7623300" cy="52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Resource Usage</a:t>
            </a:r>
            <a:endParaRPr/>
          </a:p>
        </p:txBody>
      </p:sp>
      <p:pic>
        <p:nvPicPr>
          <p:cNvPr id="600" name="Google Shape;600;p53"/>
          <p:cNvPicPr preferRelativeResize="0"/>
          <p:nvPr/>
        </p:nvPicPr>
        <p:blipFill>
          <a:blip r:embed="rId3">
            <a:alphaModFix amt="30000"/>
          </a:blip>
          <a:stretch>
            <a:fillRect/>
          </a:stretch>
        </p:blipFill>
        <p:spPr>
          <a:xfrm>
            <a:off x="7590600" y="545600"/>
            <a:ext cx="889725" cy="889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